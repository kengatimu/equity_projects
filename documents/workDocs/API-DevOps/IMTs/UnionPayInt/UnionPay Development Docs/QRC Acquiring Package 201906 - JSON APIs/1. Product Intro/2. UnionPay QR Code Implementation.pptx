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7"/>
  </p:notesMasterIdLst>
  <p:handoutMasterIdLst>
    <p:handoutMasterId r:id="rId28"/>
  </p:handoutMasterIdLst>
  <p:sldIdLst>
    <p:sldId id="280" r:id="rId2"/>
    <p:sldId id="351" r:id="rId3"/>
    <p:sldId id="323" r:id="rId4"/>
    <p:sldId id="345" r:id="rId5"/>
    <p:sldId id="552" r:id="rId6"/>
    <p:sldId id="553" r:id="rId7"/>
    <p:sldId id="579" r:id="rId8"/>
    <p:sldId id="578" r:id="rId9"/>
    <p:sldId id="554" r:id="rId10"/>
    <p:sldId id="555" r:id="rId11"/>
    <p:sldId id="556" r:id="rId12"/>
    <p:sldId id="560" r:id="rId13"/>
    <p:sldId id="564" r:id="rId14"/>
    <p:sldId id="574" r:id="rId15"/>
    <p:sldId id="557" r:id="rId16"/>
    <p:sldId id="561" r:id="rId17"/>
    <p:sldId id="562" r:id="rId18"/>
    <p:sldId id="360" r:id="rId19"/>
    <p:sldId id="565" r:id="rId20"/>
    <p:sldId id="566" r:id="rId21"/>
    <p:sldId id="567" r:id="rId22"/>
    <p:sldId id="573" r:id="rId23"/>
    <p:sldId id="576" r:id="rId24"/>
    <p:sldId id="577" r:id="rId25"/>
    <p:sldId id="575" r:id="rId26"/>
  </p:sldIdLst>
  <p:sldSz cx="9144000" cy="5143500" type="screen16x9"/>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Qin" initials="Dan" lastIdx="8" clrIdx="0"/>
  <p:cmAuthor id="1" name="Charlie Tu (涂俊辉)" initials="CT"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2E33"/>
    <a:srgbClr val="ED171F"/>
    <a:srgbClr val="FB5441"/>
    <a:srgbClr val="FF7E79"/>
    <a:srgbClr val="EF856D"/>
    <a:srgbClr val="5B98D2"/>
    <a:srgbClr val="1E5199"/>
    <a:srgbClr val="3333FF"/>
    <a:srgbClr val="FF99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9" autoAdjust="0"/>
    <p:restoredTop sz="79850" autoAdjust="0"/>
  </p:normalViewPr>
  <p:slideViewPr>
    <p:cSldViewPr showGuides="1">
      <p:cViewPr varScale="1">
        <p:scale>
          <a:sx n="97" d="100"/>
          <a:sy n="97" d="100"/>
        </p:scale>
        <p:origin x="-102" y="-216"/>
      </p:cViewPr>
      <p:guideLst>
        <p:guide orient="horz" pos="1620"/>
        <p:guide pos="2880"/>
      </p:guideLst>
    </p:cSldViewPr>
  </p:slideViewPr>
  <p:outlineViewPr>
    <p:cViewPr>
      <p:scale>
        <a:sx n="33" d="100"/>
        <a:sy n="33" d="100"/>
      </p:scale>
      <p:origin x="0" y="1944"/>
    </p:cViewPr>
  </p:outlineViewPr>
  <p:notesTextViewPr>
    <p:cViewPr>
      <p:scale>
        <a:sx n="75" d="100"/>
        <a:sy n="75" d="100"/>
      </p:scale>
      <p:origin x="0" y="0"/>
    </p:cViewPr>
  </p:notesTextViewPr>
  <p:sorterViewPr>
    <p:cViewPr>
      <p:scale>
        <a:sx n="75" d="100"/>
        <a:sy n="75" d="100"/>
      </p:scale>
      <p:origin x="0" y="0"/>
    </p:cViewPr>
  </p:sorterViewPr>
  <p:notesViewPr>
    <p:cSldViewPr>
      <p:cViewPr>
        <p:scale>
          <a:sx n="150" d="100"/>
          <a:sy n="150" d="100"/>
        </p:scale>
        <p:origin x="1668" y="-18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66"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833AF375-74D4-468D-AFF6-4AA7A7F838C4}" type="datetimeFigureOut">
              <a:rPr lang="zh-CN" altLang="en-US" smtClean="0"/>
              <a:pPr/>
              <a:t>2018/7/26</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4679DEA2-35CA-4315-AB30-B2132428E090}" type="slidenum">
              <a:rPr lang="zh-CN" altLang="en-US" smtClean="0"/>
              <a:pPr/>
              <a:t>‹#›</a:t>
            </a:fld>
            <a:endParaRPr lang="zh-CN" altLang="en-US"/>
          </a:p>
        </p:txBody>
      </p:sp>
    </p:spTree>
    <p:extLst>
      <p:ext uri="{BB962C8B-B14F-4D97-AF65-F5344CB8AC3E}">
        <p14:creationId xmlns:p14="http://schemas.microsoft.com/office/powerpoint/2010/main" val="31947808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DD27B84-A629-4DD8-B3B6-CADBEDD71AD5}" type="datetimeFigureOut">
              <a:rPr lang="zh-CN" altLang="en-US" smtClean="0"/>
              <a:pPr/>
              <a:t>2018/7/26</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27CA19F-5AFE-43D5-BA70-17F47713D0DA}" type="slidenum">
              <a:rPr lang="zh-CN" altLang="en-US" smtClean="0"/>
              <a:pPr/>
              <a:t>‹#›</a:t>
            </a:fld>
            <a:endParaRPr lang="zh-CN" altLang="en-US"/>
          </a:p>
        </p:txBody>
      </p:sp>
    </p:spTree>
    <p:extLst>
      <p:ext uri="{BB962C8B-B14F-4D97-AF65-F5344CB8AC3E}">
        <p14:creationId xmlns:p14="http://schemas.microsoft.com/office/powerpoint/2010/main" val="2830192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a:t>
            </a:fld>
            <a:endParaRPr lang="zh-CN" altLang="en-US"/>
          </a:p>
        </p:txBody>
      </p:sp>
    </p:spTree>
    <p:extLst>
      <p:ext uri="{BB962C8B-B14F-4D97-AF65-F5344CB8AC3E}">
        <p14:creationId xmlns:p14="http://schemas.microsoft.com/office/powerpoint/2010/main" val="959160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a:t>
            </a:fld>
            <a:endParaRPr lang="zh-CN" altLang="en-US"/>
          </a:p>
        </p:txBody>
      </p:sp>
    </p:spTree>
    <p:extLst>
      <p:ext uri="{BB962C8B-B14F-4D97-AF65-F5344CB8AC3E}">
        <p14:creationId xmlns:p14="http://schemas.microsoft.com/office/powerpoint/2010/main" val="341683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presentation will consist</a:t>
            </a:r>
            <a:r>
              <a:rPr lang="zh-CN" altLang="en-US" baseline="0" dirty="0"/>
              <a:t> </a:t>
            </a:r>
            <a:r>
              <a:rPr lang="en-US" altLang="zh-CN" baseline="0" dirty="0"/>
              <a:t>of</a:t>
            </a:r>
            <a:r>
              <a:rPr lang="zh-CN" altLang="en-US" baseline="0" dirty="0"/>
              <a:t> </a:t>
            </a:r>
            <a:r>
              <a:rPr lang="en-US" altLang="zh-CN" baseline="0" dirty="0"/>
              <a:t>5 parts,</a:t>
            </a:r>
            <a:r>
              <a:rPr lang="zh-CN" altLang="en-US" baseline="0" dirty="0"/>
              <a:t> </a:t>
            </a:r>
            <a:r>
              <a:rPr lang="en-US" altLang="zh-CN" baseline="0" dirty="0"/>
              <a:t>and</a:t>
            </a:r>
            <a:r>
              <a:rPr lang="zh-CN" altLang="en-US" baseline="0" dirty="0"/>
              <a:t> </a:t>
            </a:r>
            <a:r>
              <a:rPr lang="en-US" altLang="zh-CN" baseline="0" dirty="0"/>
              <a:t>this</a:t>
            </a:r>
            <a:r>
              <a:rPr lang="zh-CN" altLang="en-US" baseline="0" dirty="0"/>
              <a:t> </a:t>
            </a:r>
            <a:r>
              <a:rPr lang="en-US" altLang="zh-CN" baseline="0" dirty="0"/>
              <a:t>is</a:t>
            </a:r>
            <a:r>
              <a:rPr lang="zh-CN" altLang="en-US" baseline="0" dirty="0"/>
              <a:t> </a:t>
            </a:r>
            <a:r>
              <a:rPr lang="en-US" altLang="zh-CN" baseline="0" dirty="0"/>
              <a:t>the</a:t>
            </a:r>
            <a:r>
              <a:rPr lang="zh-CN" altLang="en-US" baseline="0" dirty="0"/>
              <a:t> </a:t>
            </a:r>
            <a:r>
              <a:rPr lang="en-US" altLang="zh-CN" baseline="0" dirty="0"/>
              <a:t>agenda</a:t>
            </a:r>
            <a:r>
              <a:rPr lang="zh-CN" altLang="en-US" baseline="0" dirty="0"/>
              <a:t> </a:t>
            </a:r>
            <a:r>
              <a:rPr lang="en-US" altLang="zh-CN" baseline="0" dirty="0"/>
              <a:t>that</a:t>
            </a:r>
            <a:r>
              <a:rPr lang="zh-CN" altLang="en-US" baseline="0" dirty="0"/>
              <a:t> </a:t>
            </a:r>
            <a:r>
              <a:rPr lang="en-US" altLang="zh-CN" baseline="0" dirty="0"/>
              <a:t>we</a:t>
            </a:r>
            <a:r>
              <a:rPr lang="zh-CN" altLang="en-US" baseline="0" dirty="0"/>
              <a:t> </a:t>
            </a:r>
            <a:r>
              <a:rPr lang="en-US" altLang="zh-CN" baseline="0" dirty="0"/>
              <a:t>are</a:t>
            </a:r>
            <a:r>
              <a:rPr lang="zh-CN" altLang="en-US" baseline="0" dirty="0"/>
              <a:t> </a:t>
            </a:r>
            <a:r>
              <a:rPr lang="en-US" altLang="zh-CN" baseline="0" dirty="0"/>
              <a:t>going</a:t>
            </a:r>
            <a:r>
              <a:rPr lang="zh-CN" altLang="en-US" baseline="0" dirty="0"/>
              <a:t> </a:t>
            </a:r>
            <a:r>
              <a:rPr lang="en-US" altLang="zh-CN" baseline="0" dirty="0"/>
              <a:t>to</a:t>
            </a:r>
            <a:r>
              <a:rPr lang="zh-CN" altLang="en-US" baseline="0" dirty="0"/>
              <a:t> </a:t>
            </a:r>
            <a:r>
              <a:rPr lang="en-US" altLang="zh-CN" baseline="0" dirty="0"/>
              <a:t>base</a:t>
            </a:r>
            <a:r>
              <a:rPr lang="zh-CN" altLang="en-US" baseline="0" dirty="0"/>
              <a:t> </a:t>
            </a:r>
            <a:r>
              <a:rPr lang="en-US" altLang="zh-CN" baseline="0" dirty="0"/>
              <a:t>on</a:t>
            </a:r>
            <a:r>
              <a:rPr lang="zh-CN" altLang="en-US" baseline="0" dirty="0"/>
              <a:t> </a:t>
            </a:r>
            <a:r>
              <a:rPr lang="en-US" altLang="zh-CN" baseline="0" dirty="0"/>
              <a:t>today.</a:t>
            </a:r>
          </a:p>
          <a:p>
            <a:endParaRPr lang="en-US" altLang="zh-CN" baseline="0" dirty="0"/>
          </a:p>
          <a:p>
            <a:r>
              <a:rPr lang="en-US" altLang="zh-CN" baseline="0" dirty="0"/>
              <a:t>The first and second section is the general introduction of QR</a:t>
            </a:r>
            <a:r>
              <a:rPr lang="zh-CN" altLang="en-US" baseline="0" dirty="0"/>
              <a:t> </a:t>
            </a:r>
            <a:r>
              <a:rPr lang="en-US" altLang="zh-CN" baseline="0" dirty="0"/>
              <a:t>Code</a:t>
            </a:r>
            <a:r>
              <a:rPr lang="zh-CN" altLang="en-US" baseline="0" dirty="0"/>
              <a:t> </a:t>
            </a:r>
            <a:r>
              <a:rPr lang="en-US" altLang="zh-CN" baseline="0" dirty="0"/>
              <a:t>payment and UPI Solution. In this section, a</a:t>
            </a:r>
            <a:r>
              <a:rPr lang="zh-CN" altLang="en-US" baseline="0" dirty="0"/>
              <a:t> </a:t>
            </a:r>
            <a:r>
              <a:rPr lang="en-US" altLang="zh-CN" baseline="0" dirty="0"/>
              <a:t>brief</a:t>
            </a:r>
            <a:r>
              <a:rPr lang="zh-CN" altLang="en-US" baseline="0" dirty="0"/>
              <a:t> </a:t>
            </a:r>
            <a:r>
              <a:rPr lang="en-US" altLang="zh-CN" baseline="0" dirty="0"/>
              <a:t>summary</a:t>
            </a:r>
            <a:r>
              <a:rPr lang="zh-CN" altLang="en-US" baseline="0" dirty="0"/>
              <a:t> </a:t>
            </a:r>
            <a:r>
              <a:rPr lang="en-US" altLang="zh-CN" baseline="0" dirty="0"/>
              <a:t>will</a:t>
            </a:r>
            <a:r>
              <a:rPr lang="zh-CN" altLang="en-US" baseline="0" dirty="0"/>
              <a:t> </a:t>
            </a:r>
            <a:r>
              <a:rPr lang="en-US" altLang="zh-CN" baseline="0" dirty="0"/>
              <a:t>be</a:t>
            </a:r>
            <a:r>
              <a:rPr lang="zh-CN" altLang="en-US" baseline="0" dirty="0"/>
              <a:t> </a:t>
            </a:r>
            <a:r>
              <a:rPr lang="en-US" altLang="zh-CN" baseline="0" dirty="0"/>
              <a:t>given of why people</a:t>
            </a:r>
            <a:r>
              <a:rPr lang="zh-CN" altLang="en-US" baseline="0" dirty="0"/>
              <a:t> </a:t>
            </a:r>
            <a:r>
              <a:rPr lang="en-US" altLang="zh-CN" baseline="0" dirty="0"/>
              <a:t>or</a:t>
            </a:r>
            <a:r>
              <a:rPr lang="zh-CN" altLang="en-US" baseline="0" dirty="0"/>
              <a:t> </a:t>
            </a:r>
            <a:r>
              <a:rPr lang="en-US" altLang="zh-CN" baseline="0" dirty="0"/>
              <a:t>consumer</a:t>
            </a:r>
            <a:r>
              <a:rPr lang="zh-CN" altLang="en-US" baseline="0" dirty="0"/>
              <a:t> </a:t>
            </a:r>
            <a:r>
              <a:rPr lang="en-US" altLang="zh-CN" baseline="0" dirty="0"/>
              <a:t>and</a:t>
            </a:r>
            <a:r>
              <a:rPr lang="zh-CN" altLang="en-US" baseline="0" dirty="0"/>
              <a:t> </a:t>
            </a:r>
            <a:r>
              <a:rPr lang="en-US" altLang="zh-CN" baseline="0" dirty="0"/>
              <a:t>merchants would like to use QR</a:t>
            </a:r>
            <a:r>
              <a:rPr lang="zh-CN" altLang="en-US" baseline="0" dirty="0"/>
              <a:t> </a:t>
            </a:r>
            <a:r>
              <a:rPr lang="en-US" altLang="zh-CN" baseline="0" dirty="0"/>
              <a:t>Code payment</a:t>
            </a:r>
          </a:p>
          <a:p>
            <a:endParaRPr lang="en-US" altLang="zh-CN" baseline="0" dirty="0"/>
          </a:p>
          <a:p>
            <a:r>
              <a:rPr lang="en-US" altLang="zh-CN" baseline="0" dirty="0"/>
              <a:t>Following we will explain why UPI QR</a:t>
            </a:r>
            <a:r>
              <a:rPr lang="zh-CN" altLang="en-US" baseline="0" dirty="0"/>
              <a:t> </a:t>
            </a:r>
            <a:r>
              <a:rPr lang="en-US" altLang="zh-CN" baseline="0" dirty="0"/>
              <a:t>Code payment</a:t>
            </a:r>
            <a:r>
              <a:rPr lang="zh-CN" altLang="en-US" baseline="0" dirty="0"/>
              <a:t> </a:t>
            </a:r>
            <a:r>
              <a:rPr lang="en-US" altLang="zh-CN" baseline="0" dirty="0"/>
              <a:t>should</a:t>
            </a:r>
            <a:r>
              <a:rPr lang="zh-CN" altLang="en-US" baseline="0" dirty="0"/>
              <a:t> </a:t>
            </a:r>
            <a:r>
              <a:rPr lang="en-US" altLang="zh-CN" baseline="0" dirty="0"/>
              <a:t>be</a:t>
            </a:r>
            <a:r>
              <a:rPr lang="zh-CN" altLang="en-US" baseline="0" dirty="0"/>
              <a:t> </a:t>
            </a:r>
            <a:r>
              <a:rPr lang="en-US" altLang="zh-CN" baseline="0" dirty="0"/>
              <a:t>adopted. You</a:t>
            </a:r>
            <a:r>
              <a:rPr lang="zh-CN" altLang="en-US" baseline="0" dirty="0"/>
              <a:t> </a:t>
            </a:r>
            <a:r>
              <a:rPr lang="en-US" altLang="zh-CN" baseline="0" dirty="0"/>
              <a:t>will</a:t>
            </a:r>
            <a:r>
              <a:rPr lang="zh-CN" altLang="en-US" baseline="0" dirty="0"/>
              <a:t> </a:t>
            </a:r>
            <a:r>
              <a:rPr lang="en-US" altLang="zh-CN" baseline="0" dirty="0"/>
              <a:t>be</a:t>
            </a:r>
            <a:r>
              <a:rPr lang="zh-CN" altLang="en-US" baseline="0" dirty="0"/>
              <a:t> </a:t>
            </a:r>
            <a:r>
              <a:rPr lang="en-US" altLang="zh-CN" baseline="0" dirty="0"/>
              <a:t>presented</a:t>
            </a:r>
            <a:r>
              <a:rPr lang="zh-CN" altLang="en-US" baseline="0" dirty="0"/>
              <a:t> </a:t>
            </a:r>
            <a:r>
              <a:rPr lang="en-US" altLang="zh-CN" baseline="0" dirty="0"/>
              <a:t>the benefits and </a:t>
            </a:r>
            <a:r>
              <a:rPr lang="en-US" altLang="zh-CN" baseline="0" dirty="0" err="1"/>
              <a:t>valus</a:t>
            </a:r>
            <a:r>
              <a:rPr lang="en-US" altLang="zh-CN" baseline="0" dirty="0"/>
              <a:t> of our</a:t>
            </a:r>
            <a:r>
              <a:rPr lang="zh-CN" altLang="en-US" baseline="0" dirty="0"/>
              <a:t> </a:t>
            </a:r>
            <a:r>
              <a:rPr lang="en-US" altLang="zh-CN" baseline="0" dirty="0"/>
              <a:t>QR</a:t>
            </a:r>
            <a:r>
              <a:rPr lang="zh-CN" altLang="en-US" baseline="0" dirty="0"/>
              <a:t> </a:t>
            </a:r>
            <a:r>
              <a:rPr lang="en-US" altLang="zh-CN" baseline="0" dirty="0"/>
              <a:t>Code product</a:t>
            </a:r>
          </a:p>
          <a:p>
            <a:endParaRPr lang="en-US" altLang="zh-CN" baseline="0" dirty="0"/>
          </a:p>
          <a:p>
            <a:r>
              <a:rPr lang="en-US" altLang="zh-CN" baseline="0" dirty="0"/>
              <a:t>Then a</a:t>
            </a:r>
            <a:r>
              <a:rPr lang="zh-CN" altLang="en-US" baseline="0" dirty="0"/>
              <a:t> </a:t>
            </a:r>
            <a:r>
              <a:rPr lang="en-US" altLang="zh-CN" baseline="0" dirty="0"/>
              <a:t>short</a:t>
            </a:r>
            <a:r>
              <a:rPr lang="zh-CN" altLang="en-US" baseline="0" dirty="0"/>
              <a:t> </a:t>
            </a:r>
            <a:r>
              <a:rPr lang="en-US" altLang="zh-CN" baseline="0" dirty="0"/>
              <a:t>view</a:t>
            </a:r>
            <a:r>
              <a:rPr lang="zh-CN" altLang="en-US" baseline="0" dirty="0"/>
              <a:t> </a:t>
            </a:r>
            <a:r>
              <a:rPr lang="en-US" altLang="zh-CN" baseline="0" dirty="0"/>
              <a:t>of</a:t>
            </a:r>
            <a:r>
              <a:rPr lang="zh-CN" altLang="en-US" baseline="0" dirty="0"/>
              <a:t> </a:t>
            </a:r>
            <a:r>
              <a:rPr lang="en-US" altLang="zh-CN" baseline="0" dirty="0"/>
              <a:t>development cycle to</a:t>
            </a:r>
            <a:r>
              <a:rPr lang="zh-CN" altLang="en-US" baseline="0" dirty="0"/>
              <a:t> </a:t>
            </a:r>
            <a:r>
              <a:rPr lang="en-US" altLang="zh-CN" baseline="0" dirty="0"/>
              <a:t>implement</a:t>
            </a:r>
            <a:r>
              <a:rPr lang="zh-CN" altLang="en-US" baseline="0" dirty="0"/>
              <a:t> </a:t>
            </a:r>
            <a:r>
              <a:rPr lang="en-US" altLang="zh-CN" baseline="0" dirty="0"/>
              <a:t>UPI</a:t>
            </a:r>
            <a:r>
              <a:rPr lang="zh-CN" altLang="en-US" baseline="0" dirty="0"/>
              <a:t> </a:t>
            </a:r>
            <a:r>
              <a:rPr lang="en-US" altLang="zh-CN" baseline="0" dirty="0"/>
              <a:t>QR</a:t>
            </a:r>
            <a:r>
              <a:rPr lang="zh-CN" altLang="en-US" baseline="0" dirty="0"/>
              <a:t> </a:t>
            </a:r>
            <a:r>
              <a:rPr lang="en-US" altLang="zh-CN" baseline="0" dirty="0"/>
              <a:t>Code</a:t>
            </a:r>
            <a:r>
              <a:rPr lang="zh-CN" altLang="en-US" baseline="0" dirty="0"/>
              <a:t> </a:t>
            </a:r>
            <a:r>
              <a:rPr lang="en-US" altLang="zh-CN" baseline="0" dirty="0"/>
              <a:t>for</a:t>
            </a:r>
            <a:r>
              <a:rPr lang="zh-CN" altLang="en-US" baseline="0" dirty="0"/>
              <a:t> </a:t>
            </a:r>
            <a:r>
              <a:rPr lang="en-US" altLang="zh-CN" baseline="0" dirty="0"/>
              <a:t>our</a:t>
            </a:r>
            <a:r>
              <a:rPr lang="zh-CN" altLang="en-US" baseline="0" dirty="0"/>
              <a:t> </a:t>
            </a:r>
            <a:r>
              <a:rPr lang="en-US" altLang="zh-CN" baseline="0" dirty="0"/>
              <a:t>partners</a:t>
            </a:r>
          </a:p>
          <a:p>
            <a:endParaRPr lang="en-US" altLang="zh-CN" baseline="0" dirty="0"/>
          </a:p>
          <a:p>
            <a:r>
              <a:rPr lang="en-US" altLang="zh-CN" baseline="0" dirty="0"/>
              <a:t>In the very</a:t>
            </a:r>
            <a:r>
              <a:rPr lang="zh-CN" altLang="en-US" baseline="0" dirty="0"/>
              <a:t> </a:t>
            </a:r>
            <a:r>
              <a:rPr lang="en-US" altLang="zh-CN" baseline="0" dirty="0"/>
              <a:t>end</a:t>
            </a:r>
            <a:r>
              <a:rPr lang="zh-CN" altLang="en-US" baseline="0" dirty="0"/>
              <a:t> </a:t>
            </a:r>
            <a:r>
              <a:rPr lang="en-US" altLang="zh-CN" baseline="0" dirty="0"/>
              <a:t>we will have a case study on UnionPay QR Code in mainland China and international market.</a:t>
            </a:r>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3</a:t>
            </a:fld>
            <a:endParaRPr lang="zh-CN" altLang="en-US"/>
          </a:p>
        </p:txBody>
      </p:sp>
    </p:spTree>
    <p:extLst>
      <p:ext uri="{BB962C8B-B14F-4D97-AF65-F5344CB8AC3E}">
        <p14:creationId xmlns:p14="http://schemas.microsoft.com/office/powerpoint/2010/main" val="3836494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4</a:t>
            </a:fld>
            <a:endParaRPr lang="zh-CN" altLang="en-US"/>
          </a:p>
        </p:txBody>
      </p:sp>
    </p:spTree>
    <p:extLst>
      <p:ext uri="{BB962C8B-B14F-4D97-AF65-F5344CB8AC3E}">
        <p14:creationId xmlns:p14="http://schemas.microsoft.com/office/powerpoint/2010/main" val="1542219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5</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6</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7</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8</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9</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10</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eaLnBrk="0" fontAlgn="base" hangingPunct="0">
              <a:spcBef>
                <a:spcPct val="0"/>
              </a:spcBef>
              <a:spcAft>
                <a:spcPct val="0"/>
              </a:spcAft>
              <a:defRPr/>
            </a:pPr>
            <a:endParaRPr lang="en-US" altLang="zh-CN" sz="1200" kern="0" dirty="0">
              <a:solidFill>
                <a:srgbClr val="F5846C"/>
              </a:solidFill>
              <a:latin typeface="Georgia" pitchFamily="18" charset="0"/>
            </a:endParaRPr>
          </a:p>
          <a:p>
            <a:pPr marL="171450" indent="-171450">
              <a:buFont typeface="Arial" pitchFamily="34" charset="0"/>
              <a:buChar char="•"/>
              <a:tabLst>
                <a:tab pos="2873375" algn="l"/>
              </a:tabLst>
            </a:pPr>
            <a:r>
              <a:rPr lang="en-US" altLang="zh-CN" sz="1200" kern="0" dirty="0">
                <a:solidFill>
                  <a:srgbClr val="F5846C"/>
                </a:solidFill>
                <a:latin typeface="Georgia" pitchFamily="18" charset="0"/>
                <a:sym typeface="+mn-lt"/>
              </a:rPr>
              <a:t>Acquirer register merchant information at  UPI Merchant  Enrollment Platform</a:t>
            </a:r>
          </a:p>
          <a:p>
            <a:pPr marL="171450" indent="-171450">
              <a:buFont typeface="Arial" pitchFamily="34" charset="0"/>
              <a:buChar char="•"/>
              <a:tabLst>
                <a:tab pos="2873375" algn="l"/>
              </a:tabLst>
            </a:pPr>
            <a:endParaRPr lang="en-US" altLang="zh-CN" sz="1200" kern="0" dirty="0">
              <a:solidFill>
                <a:srgbClr val="F5846C"/>
              </a:solidFill>
              <a:latin typeface="Georgia" pitchFamily="18" charset="0"/>
            </a:endParaRPr>
          </a:p>
          <a:p>
            <a:pPr marL="171450" indent="-171450">
              <a:buFont typeface="Arial" pitchFamily="34" charset="0"/>
              <a:buChar char="•"/>
              <a:tabLst>
                <a:tab pos="2873375" algn="l"/>
              </a:tabLst>
            </a:pPr>
            <a:r>
              <a:rPr lang="en-US" altLang="zh-CN" sz="1200" kern="0" dirty="0">
                <a:solidFill>
                  <a:srgbClr val="F5846C"/>
                </a:solidFill>
                <a:latin typeface="Georgia" pitchFamily="18" charset="0"/>
              </a:rPr>
              <a:t>Let merchant  sign in UPI merchant APP for  receiving transaction notification</a:t>
            </a:r>
          </a:p>
          <a:p>
            <a:pPr marL="171450" indent="-171450">
              <a:buFont typeface="Arial" pitchFamily="34" charset="0"/>
              <a:buChar char="•"/>
              <a:tabLst>
                <a:tab pos="2873375" algn="l"/>
              </a:tabLst>
            </a:pPr>
            <a:endParaRPr lang="en-US" altLang="zh-CN" sz="1200" kern="0" dirty="0">
              <a:solidFill>
                <a:srgbClr val="F5846C"/>
              </a:solidFill>
              <a:latin typeface="Georgia" pitchFamily="18" charset="0"/>
            </a:endParaRPr>
          </a:p>
          <a:p>
            <a:pPr marL="171450" indent="-171450">
              <a:buFont typeface="Arial" pitchFamily="34" charset="0"/>
              <a:buChar char="•"/>
              <a:tabLst>
                <a:tab pos="2873375" algn="l"/>
              </a:tabLst>
            </a:pPr>
            <a:r>
              <a:rPr lang="en-US" altLang="zh-CN" sz="1200" kern="0" dirty="0">
                <a:solidFill>
                  <a:srgbClr val="F5846C"/>
                </a:solidFill>
                <a:latin typeface="Georgia" pitchFamily="18" charset="0"/>
              </a:rPr>
              <a:t>The acquirer  does settlement with the merchant</a:t>
            </a:r>
            <a:endParaRPr kumimoji="0" lang="en-US" altLang="zh-CN" sz="1200" b="1" i="0" u="none" strike="noStrike" kern="0" cap="none" spc="0" normalizeH="0" baseline="0" noProof="0" dirty="0">
              <a:ln>
                <a:noFill/>
              </a:ln>
              <a:solidFill>
                <a:srgbClr val="000000"/>
              </a:solidFill>
              <a:effectLst/>
              <a:uLnTx/>
              <a:uFillTx/>
              <a:latin typeface="Georgia" pitchFamily="18" charset="0"/>
              <a:ea typeface="微软雅黑"/>
            </a:endParaRPr>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11</a:t>
            </a:fld>
            <a:endParaRPr lang="zh-CN" altLang="en-US"/>
          </a:p>
        </p:txBody>
      </p:sp>
    </p:spTree>
    <p:extLst>
      <p:ext uri="{BB962C8B-B14F-4D97-AF65-F5344CB8AC3E}">
        <p14:creationId xmlns:p14="http://schemas.microsoft.com/office/powerpoint/2010/main" val="3947549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modification includes</a:t>
            </a:r>
            <a:r>
              <a:rPr lang="en-US" baseline="0" dirty="0" smtClean="0"/>
              <a:t> </a:t>
            </a:r>
            <a:r>
              <a:rPr lang="en-US" altLang="zh-CN" baseline="0" dirty="0" smtClean="0"/>
              <a:t>system side and App side.</a:t>
            </a:r>
            <a:endParaRPr lang="zh-CN" altLang="en-US" dirty="0" smtClean="0"/>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13</a:t>
            </a:fld>
            <a:endParaRPr lang="zh-CN" altLang="en-US"/>
          </a:p>
        </p:txBody>
      </p:sp>
    </p:spTree>
    <p:extLst>
      <p:ext uri="{BB962C8B-B14F-4D97-AF65-F5344CB8AC3E}">
        <p14:creationId xmlns:p14="http://schemas.microsoft.com/office/powerpoint/2010/main" val="4069007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14</a:t>
            </a:fld>
            <a:endParaRPr lang="zh-CN" altLang="en-US"/>
          </a:p>
        </p:txBody>
      </p:sp>
    </p:spTree>
    <p:extLst>
      <p:ext uri="{BB962C8B-B14F-4D97-AF65-F5344CB8AC3E}">
        <p14:creationId xmlns:p14="http://schemas.microsoft.com/office/powerpoint/2010/main" val="2996856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15</a:t>
            </a:fld>
            <a:endParaRPr lang="zh-CN" altLang="en-US"/>
          </a:p>
        </p:txBody>
      </p:sp>
    </p:spTree>
    <p:extLst>
      <p:ext uri="{BB962C8B-B14F-4D97-AF65-F5344CB8AC3E}">
        <p14:creationId xmlns:p14="http://schemas.microsoft.com/office/powerpoint/2010/main" val="1315631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16</a:t>
            </a:fld>
            <a:endParaRPr lang="zh-CN" altLang="en-US"/>
          </a:p>
        </p:txBody>
      </p:sp>
    </p:spTree>
    <p:extLst>
      <p:ext uri="{BB962C8B-B14F-4D97-AF65-F5344CB8AC3E}">
        <p14:creationId xmlns:p14="http://schemas.microsoft.com/office/powerpoint/2010/main" val="1315631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17</a:t>
            </a:fld>
            <a:endParaRPr lang="zh-CN" altLang="en-US"/>
          </a:p>
        </p:txBody>
      </p:sp>
    </p:spTree>
    <p:extLst>
      <p:ext uri="{BB962C8B-B14F-4D97-AF65-F5344CB8AC3E}">
        <p14:creationId xmlns:p14="http://schemas.microsoft.com/office/powerpoint/2010/main" val="1315631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18</a:t>
            </a:fld>
            <a:endParaRPr lang="zh-CN" altLang="en-US"/>
          </a:p>
        </p:txBody>
      </p:sp>
    </p:spTree>
    <p:extLst>
      <p:ext uri="{BB962C8B-B14F-4D97-AF65-F5344CB8AC3E}">
        <p14:creationId xmlns:p14="http://schemas.microsoft.com/office/powerpoint/2010/main" val="7386321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The online message</a:t>
            </a:r>
            <a:r>
              <a:rPr lang="en-US" altLang="zh-CN" baseline="0" dirty="0" smtClean="0"/>
              <a:t>’s modification can be referred to these slides.</a:t>
            </a:r>
          </a:p>
          <a:p>
            <a:r>
              <a:rPr lang="en-US" altLang="zh-CN" baseline="0" dirty="0" smtClean="0"/>
              <a:t>This slide is the message from UPI to issuer. Request message. </a:t>
            </a:r>
          </a:p>
          <a:p>
            <a:r>
              <a:rPr lang="en-US" altLang="zh-CN" baseline="0" dirty="0" smtClean="0"/>
              <a:t>Generally speaking, the modification is based on traditional 8583 message. Only modify some value of certain field or add special field to indicate that it’s a QRC transaction.</a:t>
            </a:r>
          </a:p>
          <a:p>
            <a:r>
              <a:rPr lang="en-US" altLang="zh-CN" baseline="0" dirty="0" smtClean="0"/>
              <a:t>You need to pay attention to fields like: F22, F125, F60.2.5, F60.3.6.</a:t>
            </a:r>
          </a:p>
          <a:p>
            <a:r>
              <a:rPr lang="en-US" altLang="zh-CN" baseline="0" dirty="0" smtClean="0"/>
              <a:t>For example, F22, it’s an existing field, which means the </a:t>
            </a:r>
            <a:r>
              <a:rPr lang="en-US" altLang="zh-CN" baseline="0" dirty="0" err="1" smtClean="0"/>
              <a:t>pos</a:t>
            </a:r>
            <a:r>
              <a:rPr lang="en-US" altLang="zh-CN" baseline="0" dirty="0" smtClean="0"/>
              <a:t> entry mode.it needs to support new values. for consumer presented QRC payment, F22 shall be 04.and for merchant presented mode, F22 shall be 94.</a:t>
            </a:r>
          </a:p>
          <a:p>
            <a:r>
              <a:rPr lang="en-US" altLang="zh-CN" baseline="0" dirty="0" smtClean="0"/>
              <a:t>For F125, it’s a new field, which is used to </a:t>
            </a:r>
            <a:r>
              <a:rPr lang="en-US" altLang="zh-CN" sz="1200" b="0" i="0" u="none" strike="noStrike" dirty="0" smtClean="0">
                <a:solidFill>
                  <a:srgbClr val="000000"/>
                </a:solidFill>
                <a:effectLst/>
                <a:latin typeface="Calibri" panose="020F0502020204030204" pitchFamily="34" charset="0"/>
              </a:rPr>
              <a:t>transfer  additional info of QRC transaction. QRC voucher number is in this field. QRC voucher number is a unique number to locate a</a:t>
            </a:r>
            <a:r>
              <a:rPr lang="en-US" altLang="zh-CN" sz="1200" b="0" i="0" u="none" strike="noStrike" baseline="0" dirty="0" smtClean="0">
                <a:solidFill>
                  <a:srgbClr val="000000"/>
                </a:solidFill>
                <a:effectLst/>
                <a:latin typeface="Calibri" panose="020F0502020204030204" pitchFamily="34" charset="0"/>
              </a:rPr>
              <a:t> certain QRC transaction</a:t>
            </a:r>
            <a:endParaRPr lang="en-US" altLang="zh-CN" sz="1200" b="0" i="0" u="none" strike="noStrike" dirty="0" smtClean="0">
              <a:solidFill>
                <a:srgbClr val="000000"/>
              </a:solidFill>
              <a:effectLst/>
              <a:latin typeface="Calibri" panose="020F0502020204030204" pitchFamily="34" charset="0"/>
            </a:endParaRPr>
          </a:p>
          <a:p>
            <a:r>
              <a:rPr lang="en-US" altLang="zh-CN" sz="1200" b="0" i="0" u="none" strike="noStrike" dirty="0" smtClean="0">
                <a:solidFill>
                  <a:srgbClr val="000000"/>
                </a:solidFill>
                <a:effectLst/>
                <a:latin typeface="Calibri" panose="020F0502020204030204" pitchFamily="34" charset="0"/>
              </a:rPr>
              <a:t>We have</a:t>
            </a:r>
            <a:r>
              <a:rPr lang="en-US" altLang="zh-CN" sz="1200" b="0" i="0" u="none" strike="noStrike" baseline="0" dirty="0" smtClean="0">
                <a:solidFill>
                  <a:srgbClr val="000000"/>
                </a:solidFill>
                <a:effectLst/>
                <a:latin typeface="Calibri" panose="020F0502020204030204" pitchFamily="34" charset="0"/>
              </a:rPr>
              <a:t> an implementation guide to introduce the detail modification. I will skip the other fields.</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19</a:t>
            </a:fld>
            <a:endParaRPr lang="zh-CN" altLang="en-US"/>
          </a:p>
        </p:txBody>
      </p:sp>
    </p:spTree>
    <p:extLst>
      <p:ext uri="{BB962C8B-B14F-4D97-AF65-F5344CB8AC3E}">
        <p14:creationId xmlns:p14="http://schemas.microsoft.com/office/powerpoint/2010/main" val="3098283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a:t>
            </a:r>
            <a:r>
              <a:rPr lang="en-US" altLang="zh-CN" baseline="0" dirty="0" smtClean="0"/>
              <a:t> page is the message from issuer to UPI. Follow traditional transaction format, the elements of response message are the  same as request message. </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20</a:t>
            </a:fld>
            <a:endParaRPr lang="zh-CN" altLang="en-US"/>
          </a:p>
        </p:txBody>
      </p:sp>
    </p:spTree>
    <p:extLst>
      <p:ext uri="{BB962C8B-B14F-4D97-AF65-F5344CB8AC3E}">
        <p14:creationId xmlns:p14="http://schemas.microsoft.com/office/powerpoint/2010/main" val="3154291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For settlement</a:t>
            </a:r>
            <a:r>
              <a:rPr lang="en-US" altLang="zh-CN" baseline="0" dirty="0" smtClean="0"/>
              <a:t> file and file refund</a:t>
            </a:r>
            <a:r>
              <a:rPr lang="en-US" altLang="zh-CN" dirty="0" smtClean="0"/>
              <a:t>, nearly the same</a:t>
            </a:r>
            <a:r>
              <a:rPr lang="en-US" altLang="zh-CN" baseline="0" dirty="0" smtClean="0"/>
              <a:t> as </a:t>
            </a:r>
            <a:r>
              <a:rPr lang="en-US" altLang="zh-CN" baseline="0" dirty="0" err="1" smtClean="0"/>
              <a:t>pos</a:t>
            </a:r>
            <a:r>
              <a:rPr lang="en-US" altLang="zh-CN" baseline="0" dirty="0" smtClean="0"/>
              <a:t> transaction.</a:t>
            </a:r>
          </a:p>
          <a:p>
            <a:r>
              <a:rPr lang="en-US" altLang="zh-CN" baseline="0" dirty="0" smtClean="0"/>
              <a:t>Only need to pay attention to field.22.</a:t>
            </a:r>
            <a:endParaRPr lang="en-US" altLang="zh-CN" dirty="0" smtClean="0"/>
          </a:p>
          <a:p>
            <a:r>
              <a:rPr lang="en-US" altLang="zh-CN" dirty="0" smtClean="0"/>
              <a:t>F22 shall be marked as 04 or 94 to indicate it’s QRC transaction.</a:t>
            </a:r>
          </a:p>
          <a:p>
            <a:endParaRPr lang="en-US" altLang="zh-CN" dirty="0" smtClean="0"/>
          </a:p>
          <a:p>
            <a:r>
              <a:rPr lang="en-US" altLang="zh-CN" dirty="0" smtClean="0"/>
              <a:t>And</a:t>
            </a:r>
            <a:r>
              <a:rPr lang="en-US" altLang="zh-CN" baseline="0" dirty="0" smtClean="0"/>
              <a:t> </a:t>
            </a:r>
            <a:r>
              <a:rPr lang="en-US" altLang="zh-CN" dirty="0" smtClean="0"/>
              <a:t>if issuer supports QRC voucher number, </a:t>
            </a:r>
            <a:r>
              <a:rPr lang="en-US" altLang="zh-CN" baseline="0" dirty="0" smtClean="0"/>
              <a:t> it shall be filled in block 1 position 91-110.</a:t>
            </a:r>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21</a:t>
            </a:fld>
            <a:endParaRPr lang="zh-CN" altLang="en-US"/>
          </a:p>
        </p:txBody>
      </p:sp>
    </p:spTree>
    <p:extLst>
      <p:ext uri="{BB962C8B-B14F-4D97-AF65-F5344CB8AC3E}">
        <p14:creationId xmlns:p14="http://schemas.microsoft.com/office/powerpoint/2010/main" val="3451909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24</a:t>
            </a:fld>
            <a:endParaRPr lang="zh-CN" altLang="en-US"/>
          </a:p>
        </p:txBody>
      </p:sp>
    </p:spTree>
    <p:extLst>
      <p:ext uri="{BB962C8B-B14F-4D97-AF65-F5344CB8AC3E}">
        <p14:creationId xmlns:p14="http://schemas.microsoft.com/office/powerpoint/2010/main" val="9350769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中英文封面-蓝">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16" name="图片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2" name="标题 1"/>
          <p:cNvSpPr>
            <a:spLocks noGrp="1"/>
          </p:cNvSpPr>
          <p:nvPr>
            <p:ph type="title" hasCustomPrompt="1"/>
          </p:nvPr>
        </p:nvSpPr>
        <p:spPr>
          <a:xfrm>
            <a:off x="251520" y="2859782"/>
            <a:ext cx="7283152" cy="684296"/>
          </a:xfrm>
          <a:prstGeom prst="rect">
            <a:avLst/>
          </a:prstGeom>
        </p:spPr>
        <p:txBody>
          <a:bodyPr>
            <a:noAutofit/>
          </a:bodyPr>
          <a:lstStyle>
            <a:lvl1pPr algn="l">
              <a:defRPr sz="4500" baseline="0">
                <a:solidFill>
                  <a:schemeClr val="bg1"/>
                </a:solidFill>
                <a:latin typeface="Georgia" pitchFamily="18" charset="0"/>
              </a:defRPr>
            </a:lvl1pPr>
          </a:lstStyle>
          <a:p>
            <a:r>
              <a:rPr lang="en-US" altLang="zh-CN" sz="4500" dirty="0">
                <a:solidFill>
                  <a:schemeClr val="bg1"/>
                </a:solidFill>
                <a:latin typeface="黑体" pitchFamily="49" charset="-122"/>
                <a:ea typeface="黑体" pitchFamily="49" charset="-122"/>
              </a:rPr>
              <a:t>Title</a:t>
            </a:r>
            <a:endParaRPr lang="zh-CN" altLang="en-US" sz="4500" dirty="0">
              <a:solidFill>
                <a:schemeClr val="bg1"/>
              </a:solidFill>
              <a:latin typeface="黑体" pitchFamily="49" charset="-122"/>
              <a:ea typeface="黑体" pitchFamily="49" charset="-122"/>
            </a:endParaRPr>
          </a:p>
        </p:txBody>
      </p:sp>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pic>
        <p:nvPicPr>
          <p:cNvPr id="14" name="Picture 1" descr="image.pdf"/>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73179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扉页-文字版本">
    <p:spTree>
      <p:nvGrpSpPr>
        <p:cNvPr id="1" name=""/>
        <p:cNvGrpSpPr/>
        <p:nvPr/>
      </p:nvGrpSpPr>
      <p:grpSpPr>
        <a:xfrm>
          <a:off x="0" y="0"/>
          <a:ext cx="0" cy="0"/>
          <a:chOff x="0" y="0"/>
          <a:chExt cx="0" cy="0"/>
        </a:xfrm>
      </p:grpSpPr>
      <p:pic>
        <p:nvPicPr>
          <p:cNvPr id="15" name="Picture 1" descr="image.pdf"/>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6" name="矩形 15"/>
          <p:cNvSpPr/>
          <p:nvPr userDrawn="1"/>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0" y="1361549"/>
            <a:ext cx="1691680" cy="2218313"/>
            <a:chOff x="0" y="1563638"/>
            <a:chExt cx="1691680" cy="2218313"/>
          </a:xfrm>
        </p:grpSpPr>
        <p:sp>
          <p:nvSpPr>
            <p:cNvPr id="18" name="矩形 17"/>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19"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22" name="文本占位符 2"/>
          <p:cNvSpPr>
            <a:spLocks noGrp="1"/>
          </p:cNvSpPr>
          <p:nvPr>
            <p:ph type="body" idx="1" hasCustomPrompt="1"/>
          </p:nvPr>
        </p:nvSpPr>
        <p:spPr>
          <a:xfrm>
            <a:off x="1691680" y="3147814"/>
            <a:ext cx="5400600" cy="360040"/>
          </a:xfrm>
          <a:prstGeom prst="rect">
            <a:avLst/>
          </a:prstGeom>
        </p:spPr>
        <p:txBody>
          <a:bodyPr anchor="b">
            <a:normAutofit/>
          </a:bodyPr>
          <a:lstStyle>
            <a:lvl1pPr marL="0" indent="0">
              <a:buNone/>
              <a:defRPr sz="1800" b="0" baseline="0">
                <a:solidFill>
                  <a:srgbClr val="2E5C9E"/>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nSpc>
                <a:spcPts val="1800"/>
              </a:lnSpc>
            </a:pPr>
            <a:r>
              <a:rPr lang="sv-SE" altLang="zh-CN">
                <a:solidFill>
                  <a:srgbClr val="2E5C9E"/>
                </a:solidFill>
                <a:latin typeface="Georgia" pitchFamily="18" charset="0"/>
                <a:ea typeface="微软雅黑" panose="020B0503020204020204" pitchFamily="34" charset="-122"/>
                <a:cs typeface="Arial" pitchFamily="34" charset="0"/>
              </a:rPr>
              <a:t>Click Add Font Georgia 18pt</a:t>
            </a:r>
            <a:endParaRPr lang="sv-SE" altLang="zh-CN" dirty="0">
              <a:solidFill>
                <a:srgbClr val="2E5C9E"/>
              </a:solidFill>
              <a:latin typeface="Georgia" pitchFamily="18" charset="0"/>
              <a:ea typeface="微软雅黑" panose="020B0503020204020204" pitchFamily="34" charset="-122"/>
              <a:cs typeface="Arial" pitchFamily="34" charset="0"/>
            </a:endParaRPr>
          </a:p>
        </p:txBody>
      </p:sp>
      <p:sp>
        <p:nvSpPr>
          <p:cNvPr id="23" name="标题 1"/>
          <p:cNvSpPr>
            <a:spLocks noGrp="1"/>
          </p:cNvSpPr>
          <p:nvPr>
            <p:ph type="title" hasCustomPrompt="1"/>
          </p:nvPr>
        </p:nvSpPr>
        <p:spPr>
          <a:xfrm>
            <a:off x="1691680" y="2643758"/>
            <a:ext cx="5400600"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sz="2800">
                <a:solidFill>
                  <a:srgbClr val="2E5C9E"/>
                </a:solidFill>
                <a:latin typeface="黑体" pitchFamily="49" charset="-122"/>
                <a:ea typeface="黑体" pitchFamily="49" charset="-122"/>
              </a:rPr>
              <a:t>单击添加字体黑体 </a:t>
            </a:r>
            <a:r>
              <a:rPr lang="en-US" altLang="zh-CN" sz="2800">
                <a:solidFill>
                  <a:srgbClr val="2E5C9E"/>
                </a:solidFill>
                <a:latin typeface="黑体" pitchFamily="49" charset="-122"/>
                <a:ea typeface="黑体" pitchFamily="49" charset="-122"/>
              </a:rPr>
              <a:t>28pt</a:t>
            </a:r>
            <a:endParaRPr lang="zh-CN" altLang="en-US" sz="2800" dirty="0">
              <a:solidFill>
                <a:srgbClr val="2E5C9E"/>
              </a:solidFill>
              <a:latin typeface="黑体" pitchFamily="49" charset="-122"/>
              <a:ea typeface="黑体" pitchFamily="49" charset="-122"/>
            </a:endParaRPr>
          </a:p>
        </p:txBody>
      </p:sp>
      <p:pic>
        <p:nvPicPr>
          <p:cNvPr id="24" name="图片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1201772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一">
    <p:spTree>
      <p:nvGrpSpPr>
        <p:cNvPr id="1" name=""/>
        <p:cNvGrpSpPr/>
        <p:nvPr/>
      </p:nvGrpSpPr>
      <p:grpSpPr>
        <a:xfrm>
          <a:off x="0" y="0"/>
          <a:ext cx="0" cy="0"/>
          <a:chOff x="0" y="0"/>
          <a:chExt cx="0" cy="0"/>
        </a:xfrm>
      </p:grpSpPr>
      <p:sp>
        <p:nvSpPr>
          <p:cNvPr id="6" name="矩形 5"/>
          <p:cNvSpPr/>
          <p:nvPr userDrawn="1"/>
        </p:nvSpPr>
        <p:spPr>
          <a:xfrm>
            <a:off x="827584" y="1"/>
            <a:ext cx="1251784" cy="1347613"/>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9" name="矩形 8"/>
          <p:cNvSpPr/>
          <p:nvPr userDrawn="1"/>
        </p:nvSpPr>
        <p:spPr>
          <a:xfrm>
            <a:off x="827584" y="1491630"/>
            <a:ext cx="1251784" cy="3651870"/>
          </a:xfrm>
          <a:prstGeom prst="rect">
            <a:avLst/>
          </a:prstGeom>
          <a:solidFill>
            <a:srgbClr val="5B9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文本占位符 2"/>
          <p:cNvSpPr>
            <a:spLocks noGrp="1"/>
          </p:cNvSpPr>
          <p:nvPr>
            <p:ph type="body" idx="11" hasCustomPrompt="1"/>
          </p:nvPr>
        </p:nvSpPr>
        <p:spPr>
          <a:xfrm>
            <a:off x="827584" y="673807"/>
            <a:ext cx="1296144" cy="673807"/>
          </a:xfrm>
          <a:prstGeom prst="rect">
            <a:avLst/>
          </a:prstGeom>
        </p:spPr>
        <p:txBody>
          <a:bodyPr anchor="b">
            <a:noAutofit/>
          </a:bodyPr>
          <a:lstStyle>
            <a:lvl1pPr marL="0" indent="0" algn="ctr">
              <a:buNone/>
              <a:defRPr sz="2800" b="0" baseline="0">
                <a:solidFill>
                  <a:schemeClr val="bg1"/>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800" dirty="0">
                <a:solidFill>
                  <a:schemeClr val="bg1"/>
                </a:solidFill>
                <a:latin typeface="Georgia" pitchFamily="18" charset="0"/>
                <a:cs typeface="Arial" pitchFamily="34" charset="0"/>
              </a:rPr>
              <a:t>Contents</a:t>
            </a:r>
            <a:endParaRPr lang="zh-CN" altLang="en-US" sz="1800" dirty="0">
              <a:solidFill>
                <a:schemeClr val="bg1"/>
              </a:solidFill>
              <a:latin typeface="Georgia" pitchFamily="18" charset="0"/>
            </a:endParaRPr>
          </a:p>
        </p:txBody>
      </p:sp>
      <p:sp>
        <p:nvSpPr>
          <p:cNvPr id="26" name="文本占位符 2"/>
          <p:cNvSpPr>
            <a:spLocks noGrp="1"/>
          </p:cNvSpPr>
          <p:nvPr>
            <p:ph type="body" idx="12" hasCustomPrompt="1"/>
          </p:nvPr>
        </p:nvSpPr>
        <p:spPr>
          <a:xfrm>
            <a:off x="2340000" y="1491630"/>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7" name="文本占位符 2"/>
          <p:cNvSpPr>
            <a:spLocks noGrp="1"/>
          </p:cNvSpPr>
          <p:nvPr>
            <p:ph type="body" idx="13" hasCustomPrompt="1"/>
          </p:nvPr>
        </p:nvSpPr>
        <p:spPr>
          <a:xfrm>
            <a:off x="2627784" y="1728000"/>
            <a:ext cx="6048672"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28" name="文本占位符 2"/>
          <p:cNvSpPr>
            <a:spLocks noGrp="1"/>
          </p:cNvSpPr>
          <p:nvPr>
            <p:ph type="body" idx="14" hasCustomPrompt="1"/>
          </p:nvPr>
        </p:nvSpPr>
        <p:spPr>
          <a:xfrm>
            <a:off x="2339752" y="2139702"/>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9" name="文本占位符 2"/>
          <p:cNvSpPr>
            <a:spLocks noGrp="1"/>
          </p:cNvSpPr>
          <p:nvPr>
            <p:ph type="body" idx="15" hasCustomPrompt="1"/>
          </p:nvPr>
        </p:nvSpPr>
        <p:spPr>
          <a:xfrm>
            <a:off x="2627536" y="2376072"/>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0" name="文本占位符 2"/>
          <p:cNvSpPr>
            <a:spLocks noGrp="1"/>
          </p:cNvSpPr>
          <p:nvPr>
            <p:ph type="body" idx="16" hasCustomPrompt="1"/>
          </p:nvPr>
        </p:nvSpPr>
        <p:spPr>
          <a:xfrm>
            <a:off x="2339752" y="2787774"/>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1" name="文本占位符 2"/>
          <p:cNvSpPr>
            <a:spLocks noGrp="1"/>
          </p:cNvSpPr>
          <p:nvPr>
            <p:ph type="body" idx="17" hasCustomPrompt="1"/>
          </p:nvPr>
        </p:nvSpPr>
        <p:spPr>
          <a:xfrm>
            <a:off x="2627536" y="3024144"/>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2" name="文本占位符 2"/>
          <p:cNvSpPr>
            <a:spLocks noGrp="1"/>
          </p:cNvSpPr>
          <p:nvPr>
            <p:ph type="body" idx="18" hasCustomPrompt="1"/>
          </p:nvPr>
        </p:nvSpPr>
        <p:spPr>
          <a:xfrm>
            <a:off x="2339752" y="3435846"/>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3" name="文本占位符 2"/>
          <p:cNvSpPr>
            <a:spLocks noGrp="1"/>
          </p:cNvSpPr>
          <p:nvPr>
            <p:ph type="body" idx="19" hasCustomPrompt="1"/>
          </p:nvPr>
        </p:nvSpPr>
        <p:spPr>
          <a:xfrm>
            <a:off x="2627536" y="3672216"/>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4" name="文本占位符 2"/>
          <p:cNvSpPr>
            <a:spLocks noGrp="1"/>
          </p:cNvSpPr>
          <p:nvPr>
            <p:ph type="body" idx="20" hasCustomPrompt="1"/>
          </p:nvPr>
        </p:nvSpPr>
        <p:spPr>
          <a:xfrm>
            <a:off x="2339752" y="4083918"/>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5" name="文本占位符 2"/>
          <p:cNvSpPr>
            <a:spLocks noGrp="1"/>
          </p:cNvSpPr>
          <p:nvPr>
            <p:ph type="body" idx="21" hasCustomPrompt="1"/>
          </p:nvPr>
        </p:nvSpPr>
        <p:spPr>
          <a:xfrm>
            <a:off x="2627536" y="4320288"/>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pic>
        <p:nvPicPr>
          <p:cNvPr id="36"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文字竖版加备注">
    <p:spTree>
      <p:nvGrpSpPr>
        <p:cNvPr id="1" name=""/>
        <p:cNvGrpSpPr/>
        <p:nvPr/>
      </p:nvGrpSpPr>
      <p:grpSpPr>
        <a:xfrm>
          <a:off x="0" y="0"/>
          <a:ext cx="0" cy="0"/>
          <a:chOff x="0" y="0"/>
          <a:chExt cx="0" cy="0"/>
        </a:xfrm>
      </p:grpSpPr>
      <p:sp>
        <p:nvSpPr>
          <p:cNvPr id="12" name="圆角矩形 11"/>
          <p:cNvSpPr/>
          <p:nvPr userDrawn="1"/>
        </p:nvSpPr>
        <p:spPr>
          <a:xfrm>
            <a:off x="7416316" y="1275606"/>
            <a:ext cx="1266001" cy="3024336"/>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1" name="内容占位符 3"/>
          <p:cNvSpPr>
            <a:spLocks noGrp="1"/>
          </p:cNvSpPr>
          <p:nvPr>
            <p:ph sz="half" idx="16" hasCustomPrompt="1"/>
          </p:nvPr>
        </p:nvSpPr>
        <p:spPr>
          <a:xfrm>
            <a:off x="395536" y="1181512"/>
            <a:ext cx="6840760" cy="1679714"/>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36" name="内容占位符 35"/>
          <p:cNvSpPr>
            <a:spLocks noGrp="1"/>
          </p:cNvSpPr>
          <p:nvPr>
            <p:ph sz="quarter" idx="21" hasCustomPrompt="1"/>
          </p:nvPr>
        </p:nvSpPr>
        <p:spPr>
          <a:xfrm>
            <a:off x="7462786" y="1347614"/>
            <a:ext cx="1173061" cy="1152128"/>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黑体" pitchFamily="49" charset="-122"/>
                <a:ea typeface="黑体" pitchFamily="49" charset="-122"/>
              </a:rPr>
              <a:t>* 正文：单击此处编辑中文字体：微软雅黑</a:t>
            </a:r>
            <a:r>
              <a:rPr lang="en-US" altLang="zh-CN">
                <a:latin typeface="黑体" pitchFamily="49" charset="-122"/>
                <a:ea typeface="黑体" pitchFamily="49" charset="-122"/>
              </a:rPr>
              <a:t>Light </a:t>
            </a:r>
            <a:r>
              <a:rPr lang="zh-CN" altLang="en-US">
                <a:latin typeface="黑体" pitchFamily="49" charset="-122"/>
                <a:ea typeface="黑体" pitchFamily="49" charset="-122"/>
              </a:rPr>
              <a:t> </a:t>
            </a:r>
            <a:r>
              <a:rPr lang="en-US" altLang="zh-CN">
                <a:latin typeface="黑体" pitchFamily="49" charset="-122"/>
                <a:ea typeface="黑体" pitchFamily="49" charset="-122"/>
              </a:rPr>
              <a:t>8pt </a:t>
            </a:r>
            <a:r>
              <a:rPr lang="zh-CN" altLang="en-US">
                <a:latin typeface="黑体" pitchFamily="49" charset="-122"/>
                <a:ea typeface="黑体" pitchFamily="49" charset="-122"/>
              </a:rPr>
              <a:t>白色 </a:t>
            </a:r>
            <a:r>
              <a:rPr lang="zh-CN" altLang="en-US">
                <a:latin typeface="微软雅黑 Light" pitchFamily="34" charset="-122"/>
                <a:ea typeface="微软雅黑 Light" pitchFamily="34" charset="-122"/>
              </a:rPr>
              <a:t>左对齐</a:t>
            </a:r>
            <a:r>
              <a:rPr lang="zh-CN" altLang="en-US">
                <a:latin typeface="黑体" pitchFamily="49" charset="-122"/>
                <a:ea typeface="黑体" pitchFamily="49" charset="-122"/>
              </a:rPr>
              <a:t> 行距设计值</a:t>
            </a:r>
            <a:r>
              <a:rPr lang="en-US" altLang="zh-CN">
                <a:latin typeface="黑体" pitchFamily="49" charset="-122"/>
                <a:ea typeface="黑体" pitchFamily="49" charset="-122"/>
              </a:rPr>
              <a:t>12</a:t>
            </a:r>
            <a:r>
              <a:rPr lang="zh-CN" altLang="en-US">
                <a:latin typeface="黑体" pitchFamily="49" charset="-122"/>
                <a:ea typeface="黑体" pitchFamily="49" charset="-122"/>
              </a:rPr>
              <a:t>磅 段前：</a:t>
            </a:r>
            <a:r>
              <a:rPr lang="en-US" altLang="zh-CN">
                <a:latin typeface="黑体" pitchFamily="49" charset="-122"/>
                <a:ea typeface="黑体" pitchFamily="49" charset="-122"/>
              </a:rPr>
              <a:t>0</a:t>
            </a:r>
            <a:r>
              <a:rPr lang="zh-CN" altLang="en-US">
                <a:latin typeface="黑体" pitchFamily="49" charset="-122"/>
                <a:ea typeface="黑体" pitchFamily="49" charset="-122"/>
              </a:rPr>
              <a:t>磅 段后：</a:t>
            </a:r>
            <a:r>
              <a:rPr lang="en-US" altLang="zh-CN">
                <a:latin typeface="黑体" pitchFamily="49" charset="-122"/>
                <a:ea typeface="黑体" pitchFamily="49" charset="-122"/>
              </a:rPr>
              <a:t>5</a:t>
            </a:r>
            <a:r>
              <a:rPr lang="zh-CN" altLang="en-US">
                <a:latin typeface="黑体" pitchFamily="49" charset="-122"/>
                <a:ea typeface="黑体" pitchFamily="49" charset="-122"/>
              </a:rPr>
              <a:t>磅 左对齐 整体中间对齐</a:t>
            </a:r>
            <a:endParaRPr lang="zh-CN" altLang="en-US" dirty="0">
              <a:latin typeface="黑体" pitchFamily="49" charset="-122"/>
              <a:ea typeface="黑体" pitchFamily="49" charset="-122"/>
            </a:endParaRPr>
          </a:p>
        </p:txBody>
      </p:sp>
      <p:sp>
        <p:nvSpPr>
          <p:cNvPr id="40" name="内容占位符 39"/>
          <p:cNvSpPr>
            <a:spLocks noGrp="1"/>
          </p:cNvSpPr>
          <p:nvPr>
            <p:ph sz="quarter" idx="24" hasCustomPrompt="1"/>
          </p:nvPr>
        </p:nvSpPr>
        <p:spPr>
          <a:xfrm>
            <a:off x="7462785" y="2571750"/>
            <a:ext cx="1173061" cy="1613422"/>
          </a:xfrm>
          <a:prstGeom prst="rect">
            <a:avLst/>
          </a:prstGeom>
        </p:spPr>
        <p:txBody>
          <a:bodyPr>
            <a:noAutofit/>
          </a:bodyPr>
          <a:lstStyle>
            <a:lvl1pPr marL="0" indent="0">
              <a:lnSpc>
                <a:spcPts val="1200"/>
              </a:lnSpc>
              <a:spcBef>
                <a:spcPts val="0"/>
              </a:spcBef>
              <a:spcAft>
                <a:spcPts val="500"/>
              </a:spcAft>
              <a:buNone/>
              <a:defRPr sz="800">
                <a:solidFill>
                  <a:schemeClr val="bg1"/>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 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1"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42"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dirty="0">
                <a:latin typeface="黑体" pitchFamily="49" charset="-122"/>
                <a:ea typeface="黑体" pitchFamily="49" charset="-122"/>
              </a:rPr>
              <a:t>单击添加标题（字体黑体 </a:t>
            </a:r>
            <a:r>
              <a:rPr lang="en-US" altLang="zh-CN" dirty="0">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43" name="内容占位符 39"/>
          <p:cNvSpPr>
            <a:spLocks noGrp="1"/>
          </p:cNvSpPr>
          <p:nvPr>
            <p:ph sz="quarter" idx="25" hasCustomPrompt="1"/>
          </p:nvPr>
        </p:nvSpPr>
        <p:spPr>
          <a:xfrm>
            <a:off x="395536" y="2859782"/>
            <a:ext cx="6860659" cy="2107255"/>
          </a:xfrm>
          <a:prstGeom prst="rect">
            <a:avLst/>
          </a:prstGeom>
        </p:spPr>
        <p:txBody>
          <a:bodyPr>
            <a:noAutofit/>
          </a:bodyPr>
          <a:lstStyle>
            <a:lvl1pPr marL="0" indent="0">
              <a:lnSpc>
                <a:spcPts val="2000"/>
              </a:lnSpc>
              <a:spcBef>
                <a:spcPts val="0"/>
              </a:spcBef>
              <a:spcAft>
                <a:spcPts val="500"/>
              </a:spcAft>
              <a:buNone/>
              <a:defRPr sz="1300">
                <a:solidFill>
                  <a:srgbClr val="656464"/>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dirty="0">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13"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97036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横版加备注">
    <p:spTree>
      <p:nvGrpSpPr>
        <p:cNvPr id="1" name=""/>
        <p:cNvGrpSpPr/>
        <p:nvPr/>
      </p:nvGrpSpPr>
      <p:grpSpPr>
        <a:xfrm>
          <a:off x="0" y="0"/>
          <a:ext cx="0" cy="0"/>
          <a:chOff x="0" y="0"/>
          <a:chExt cx="0" cy="0"/>
        </a:xfrm>
      </p:grpSpPr>
      <p:sp>
        <p:nvSpPr>
          <p:cNvPr id="12" name="圆角矩形 11"/>
          <p:cNvSpPr/>
          <p:nvPr userDrawn="1"/>
        </p:nvSpPr>
        <p:spPr>
          <a:xfrm>
            <a:off x="4499992" y="4189650"/>
            <a:ext cx="4248453" cy="758364"/>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内容占位符 35"/>
          <p:cNvSpPr>
            <a:spLocks noGrp="1"/>
          </p:cNvSpPr>
          <p:nvPr>
            <p:ph sz="quarter" idx="21" hasCustomPrompt="1"/>
          </p:nvPr>
        </p:nvSpPr>
        <p:spPr>
          <a:xfrm>
            <a:off x="4500562" y="4227934"/>
            <a:ext cx="4247883" cy="360040"/>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微软雅黑 Light" pitchFamily="34" charset="-122"/>
                <a:ea typeface="微软雅黑 Light" pitchFamily="34" charset="-122"/>
              </a:rPr>
              <a:t>* 正文：单击此处编辑中文字体：微软雅黑</a:t>
            </a:r>
            <a:r>
              <a:rPr lang="en-US" altLang="zh-CN">
                <a:latin typeface="微软雅黑 Light" pitchFamily="34" charset="-122"/>
                <a:ea typeface="微软雅黑 Light" pitchFamily="34" charset="-122"/>
              </a:rPr>
              <a:t>Light </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8pt </a:t>
            </a:r>
            <a:r>
              <a:rPr lang="zh-CN" altLang="en-US">
                <a:latin typeface="微软雅黑 Light" pitchFamily="34" charset="-122"/>
                <a:ea typeface="微软雅黑 Light" pitchFamily="34" charset="-122"/>
              </a:rPr>
              <a:t>白色 左对齐 行距设计值</a:t>
            </a:r>
            <a:r>
              <a:rPr lang="en-US" altLang="zh-CN">
                <a:latin typeface="微软雅黑 Light" pitchFamily="34" charset="-122"/>
                <a:ea typeface="微软雅黑 Light" pitchFamily="34" charset="-122"/>
              </a:rPr>
              <a:t>12</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 整体中间对齐</a:t>
            </a:r>
            <a:endParaRPr lang="zh-CN" altLang="en-US" dirty="0">
              <a:latin typeface="微软雅黑 Light" pitchFamily="34" charset="-122"/>
              <a:ea typeface="微软雅黑 Light" pitchFamily="34" charset="-122"/>
            </a:endParaRPr>
          </a:p>
        </p:txBody>
      </p:sp>
      <p:sp>
        <p:nvSpPr>
          <p:cNvPr id="6"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7"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0" name="内容占位符 3"/>
          <p:cNvSpPr>
            <a:spLocks noGrp="1"/>
          </p:cNvSpPr>
          <p:nvPr>
            <p:ph sz="half" idx="16" hasCustomPrompt="1"/>
          </p:nvPr>
        </p:nvSpPr>
        <p:spPr>
          <a:xfrm>
            <a:off x="395536" y="1202050"/>
            <a:ext cx="3960440" cy="1729740"/>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 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整体左对齐</a:t>
            </a:r>
            <a:endParaRPr lang="zh-CN" altLang="en-US" dirty="0">
              <a:latin typeface="微软雅黑 Light" pitchFamily="34" charset="-122"/>
              <a:ea typeface="微软雅黑 Light" pitchFamily="34" charset="-122"/>
            </a:endParaRPr>
          </a:p>
        </p:txBody>
      </p:sp>
      <p:sp>
        <p:nvSpPr>
          <p:cNvPr id="24" name="内容占位符 23"/>
          <p:cNvSpPr>
            <a:spLocks noGrp="1"/>
          </p:cNvSpPr>
          <p:nvPr>
            <p:ph sz="quarter" idx="22" hasCustomPrompt="1"/>
          </p:nvPr>
        </p:nvSpPr>
        <p:spPr>
          <a:xfrm>
            <a:off x="4499991" y="1491629"/>
            <a:ext cx="4391918" cy="1062709"/>
          </a:xfrm>
          <a:prstGeom prst="rect">
            <a:avLst/>
          </a:prstGeom>
        </p:spPr>
        <p:txBody>
          <a:bodyPr>
            <a:noAutofit/>
          </a:bodyPr>
          <a:lstStyle>
            <a:lvl1pPr marL="0" indent="0">
              <a:lnSpc>
                <a:spcPts val="2000"/>
              </a:lnSpc>
              <a:buNone/>
              <a:defRPr sz="1300" baseline="0">
                <a:solidFill>
                  <a:srgbClr val="656464"/>
                </a:solidFill>
                <a:latin typeface="+mj-ea"/>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en-US" altLang="zh-CN" dirty="0">
              <a:latin typeface="微软雅黑 Light" pitchFamily="34" charset="-122"/>
              <a:ea typeface="微软雅黑 Light" pitchFamily="34" charset="-122"/>
            </a:endParaRPr>
          </a:p>
        </p:txBody>
      </p:sp>
      <p:sp>
        <p:nvSpPr>
          <p:cNvPr id="28" name="内容占位符 25"/>
          <p:cNvSpPr>
            <a:spLocks noGrp="1"/>
          </p:cNvSpPr>
          <p:nvPr>
            <p:ph sz="quarter" idx="25" hasCustomPrompt="1"/>
          </p:nvPr>
        </p:nvSpPr>
        <p:spPr>
          <a:xfrm>
            <a:off x="4500562" y="2981634"/>
            <a:ext cx="4391918" cy="1152128"/>
          </a:xfrm>
          <a:prstGeom prst="rect">
            <a:avLst/>
          </a:prstGeom>
        </p:spPr>
        <p:txBody>
          <a:bodyPr>
            <a:noAutofit/>
          </a:bodyPr>
          <a:lstStyle>
            <a:lvl1pPr marL="0" indent="0">
              <a:buNone/>
              <a:defRPr sz="1300" baseline="0">
                <a:solidFill>
                  <a:srgbClr val="656464"/>
                </a:solidFill>
                <a:latin typeface="+mn-lt"/>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a:t>
            </a:r>
            <a:endParaRPr lang="en-US" altLang="zh-CN" dirty="0">
              <a:latin typeface="Georgia" pitchFamily="18" charset="0"/>
              <a:ea typeface="微软雅黑" panose="020B0503020204020204" pitchFamily="34" charset="-122"/>
              <a:cs typeface="Arial" pitchFamily="34" charset="0"/>
            </a:endParaRPr>
          </a:p>
        </p:txBody>
      </p:sp>
      <p:sp>
        <p:nvSpPr>
          <p:cNvPr id="32" name="内容占位符 31"/>
          <p:cNvSpPr>
            <a:spLocks noGrp="1"/>
          </p:cNvSpPr>
          <p:nvPr>
            <p:ph sz="quarter" idx="26" hasCustomPrompt="1"/>
          </p:nvPr>
        </p:nvSpPr>
        <p:spPr>
          <a:xfrm>
            <a:off x="4500562" y="4587974"/>
            <a:ext cx="4247674" cy="360040"/>
          </a:xfrm>
          <a:prstGeom prst="rect">
            <a:avLst/>
          </a:prstGeom>
        </p:spPr>
        <p:txBody>
          <a:bodyPr>
            <a:noAutofit/>
          </a:bodyPr>
          <a:lstStyle>
            <a:lvl1pPr marL="0" indent="0">
              <a:buNone/>
              <a:defRPr sz="800" baseline="0">
                <a:solidFill>
                  <a:schemeClr val="bg1"/>
                </a:solidFill>
                <a:latin typeface="+mn-lt"/>
              </a:defRPr>
            </a:lvl1pPr>
            <a:lvl2pPr>
              <a:defRPr sz="800">
                <a:solidFill>
                  <a:schemeClr val="bg1"/>
                </a:solidFill>
                <a:latin typeface="+mn-lt"/>
              </a:defRPr>
            </a:lvl2pPr>
            <a:lvl3pPr>
              <a:defRPr sz="800">
                <a:solidFill>
                  <a:schemeClr val="bg1"/>
                </a:solidFill>
                <a:latin typeface="+mn-lt"/>
              </a:defRPr>
            </a:lvl3pPr>
            <a:lvl4pPr>
              <a:defRPr sz="800">
                <a:solidFill>
                  <a:schemeClr val="bg1"/>
                </a:solidFill>
                <a:latin typeface="+mn-lt"/>
              </a:defRPr>
            </a:lvl4pPr>
            <a:lvl5pPr>
              <a:defRPr sz="800">
                <a:solidFill>
                  <a:schemeClr val="bg1"/>
                </a:solidFill>
                <a:latin typeface="+mn-lt"/>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0" name="文本占位符 39"/>
          <p:cNvSpPr>
            <a:spLocks noGrp="1"/>
          </p:cNvSpPr>
          <p:nvPr>
            <p:ph type="body" sz="quarter" idx="28" hasCustomPrompt="1"/>
          </p:nvPr>
        </p:nvSpPr>
        <p:spPr>
          <a:xfrm>
            <a:off x="395288" y="2931790"/>
            <a:ext cx="3960812" cy="2019919"/>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Designed value 20 ppi Front: 0 pound Segment: 5 pt Whole left aligned</a:t>
            </a:r>
            <a:endParaRPr lang="en-US" altLang="zh-CN" dirty="0">
              <a:latin typeface="Georgia" pitchFamily="18" charset="0"/>
              <a:ea typeface="微软雅黑" panose="020B0503020204020204" pitchFamily="34" charset="-122"/>
              <a:cs typeface="Arial" pitchFamily="34" charset="0"/>
            </a:endParaRPr>
          </a:p>
        </p:txBody>
      </p:sp>
      <p:sp>
        <p:nvSpPr>
          <p:cNvPr id="3" name="内容占位符 2"/>
          <p:cNvSpPr>
            <a:spLocks noGrp="1"/>
          </p:cNvSpPr>
          <p:nvPr>
            <p:ph sz="quarter" idx="29" hasCustomPrompt="1"/>
          </p:nvPr>
        </p:nvSpPr>
        <p:spPr>
          <a:xfrm>
            <a:off x="4500563" y="1201738"/>
            <a:ext cx="4392612" cy="290512"/>
          </a:xfrm>
          <a:prstGeom prst="rect">
            <a:avLst/>
          </a:prstGeom>
        </p:spPr>
        <p:txBody>
          <a:bodyPr>
            <a:normAutofit/>
          </a:bodyPr>
          <a:lstStyle>
            <a:lvl1pPr marL="0" indent="0">
              <a:buNone/>
              <a:defRPr sz="1300" b="1">
                <a:solidFill>
                  <a:srgbClr val="ED1A3B"/>
                </a:solidFill>
              </a:defRPr>
            </a:lvl1pPr>
          </a:lstStyle>
          <a:p>
            <a:r>
              <a:rPr lang="zh-CN" altLang="en-US" b="1">
                <a:solidFill>
                  <a:srgbClr val="ED1A3B"/>
                </a:solidFill>
                <a:latin typeface="黑体" pitchFamily="49" charset="-122"/>
                <a:ea typeface="黑体" pitchFamily="49" charset="-122"/>
              </a:rPr>
              <a:t>中文标题字体加粗</a:t>
            </a:r>
            <a:r>
              <a:rPr lang="en-US" altLang="zh-CN" b="1">
                <a:solidFill>
                  <a:srgbClr val="ED1A3B"/>
                </a:solidFill>
                <a:latin typeface="黑体" pitchFamily="49" charset="-122"/>
                <a:ea typeface="黑体" pitchFamily="49" charset="-122"/>
              </a:rPr>
              <a:t>13pt</a:t>
            </a:r>
            <a:endParaRPr lang="en-US" altLang="zh-CN" b="1" dirty="0">
              <a:solidFill>
                <a:srgbClr val="ED1A3B"/>
              </a:solidFill>
              <a:latin typeface="黑体" pitchFamily="49" charset="-122"/>
              <a:ea typeface="黑体" pitchFamily="49" charset="-122"/>
            </a:endParaRPr>
          </a:p>
        </p:txBody>
      </p:sp>
      <p:sp>
        <p:nvSpPr>
          <p:cNvPr id="16" name="内容占位符 2"/>
          <p:cNvSpPr>
            <a:spLocks noGrp="1"/>
          </p:cNvSpPr>
          <p:nvPr>
            <p:ph sz="quarter" idx="30" hasCustomPrompt="1"/>
          </p:nvPr>
        </p:nvSpPr>
        <p:spPr>
          <a:xfrm>
            <a:off x="4500563" y="2676191"/>
            <a:ext cx="4392612" cy="290512"/>
          </a:xfrm>
          <a:prstGeom prst="rect">
            <a:avLst/>
          </a:prstGeom>
        </p:spPr>
        <p:txBody>
          <a:bodyPr>
            <a:normAutofit/>
          </a:bodyPr>
          <a:lstStyle>
            <a:lvl1pPr marL="0" indent="0">
              <a:buNone/>
              <a:defRPr sz="1300" b="1">
                <a:solidFill>
                  <a:srgbClr val="ED1A3B"/>
                </a:solidFill>
              </a:defRPr>
            </a:lvl1pPr>
          </a:lstStyle>
          <a:p>
            <a:r>
              <a:rPr lang="en-US" altLang="zh-CN" b="1">
                <a:solidFill>
                  <a:srgbClr val="ED1A3B"/>
                </a:solidFill>
                <a:latin typeface="Georgia" pitchFamily="18" charset="0"/>
              </a:rPr>
              <a:t>English title font bold 13pt</a:t>
            </a:r>
            <a:endParaRPr lang="en-US" altLang="zh-CN" b="1" dirty="0">
              <a:solidFill>
                <a:srgbClr val="ED1A3B"/>
              </a:solidFill>
              <a:latin typeface="Georgia" pitchFamily="18" charset="0"/>
            </a:endParaRPr>
          </a:p>
        </p:txBody>
      </p:sp>
      <p:pic>
        <p:nvPicPr>
          <p:cNvPr id="14"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2907724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与图片版式">
    <p:spTree>
      <p:nvGrpSpPr>
        <p:cNvPr id="1" name=""/>
        <p:cNvGrpSpPr/>
        <p:nvPr/>
      </p:nvGrpSpPr>
      <p:grpSpPr>
        <a:xfrm>
          <a:off x="0" y="0"/>
          <a:ext cx="0" cy="0"/>
          <a:chOff x="0" y="0"/>
          <a:chExt cx="0" cy="0"/>
        </a:xfrm>
      </p:grpSpPr>
      <p:sp>
        <p:nvSpPr>
          <p:cNvPr id="10" name="文本占位符 62"/>
          <p:cNvSpPr>
            <a:spLocks noGrp="1"/>
          </p:cNvSpPr>
          <p:nvPr>
            <p:ph type="body" sz="quarter" idx="35" hasCustomPrompt="1"/>
          </p:nvPr>
        </p:nvSpPr>
        <p:spPr>
          <a:xfrm>
            <a:off x="5795963" y="1265238"/>
            <a:ext cx="2919412" cy="3610768"/>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此处图片、版式仅供参考根据具体情况而定</a:t>
            </a:r>
          </a:p>
        </p:txBody>
      </p:sp>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4" name="文本占位符 52"/>
          <p:cNvSpPr>
            <a:spLocks noGrp="1"/>
          </p:cNvSpPr>
          <p:nvPr>
            <p:ph type="body" sz="quarter" idx="27" hasCustomPrompt="1"/>
          </p:nvPr>
        </p:nvSpPr>
        <p:spPr>
          <a:xfrm>
            <a:off x="971550" y="1265238"/>
            <a:ext cx="4679950" cy="247650"/>
          </a:xfrm>
          <a:prstGeom prst="rect">
            <a:avLst/>
          </a:prstGeom>
        </p:spPr>
        <p:txBody>
          <a:bodyPr>
            <a:noAutofit/>
          </a:bodyPr>
          <a:lstStyle>
            <a:lvl1pPr marL="0" indent="0">
              <a:buNone/>
              <a:defRPr sz="1300" baseline="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5" name="文本占位符 54"/>
          <p:cNvSpPr>
            <a:spLocks noGrp="1"/>
          </p:cNvSpPr>
          <p:nvPr>
            <p:ph type="body" sz="quarter" idx="28" hasCustomPrompt="1"/>
          </p:nvPr>
        </p:nvSpPr>
        <p:spPr>
          <a:xfrm>
            <a:off x="971550" y="1491630"/>
            <a:ext cx="4679950" cy="648072"/>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52"/>
          <p:cNvSpPr>
            <a:spLocks noGrp="1"/>
          </p:cNvSpPr>
          <p:nvPr>
            <p:ph type="body" sz="quarter" idx="29" hasCustomPrompt="1"/>
          </p:nvPr>
        </p:nvSpPr>
        <p:spPr>
          <a:xfrm>
            <a:off x="971550" y="222726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7" name="文本占位符 54"/>
          <p:cNvSpPr>
            <a:spLocks noGrp="1"/>
          </p:cNvSpPr>
          <p:nvPr>
            <p:ph type="body" sz="quarter" idx="30" hasCustomPrompt="1"/>
          </p:nvPr>
        </p:nvSpPr>
        <p:spPr>
          <a:xfrm>
            <a:off x="971550" y="2453654"/>
            <a:ext cx="4679950" cy="622151"/>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8" name="文本占位符 52"/>
          <p:cNvSpPr>
            <a:spLocks noGrp="1"/>
          </p:cNvSpPr>
          <p:nvPr>
            <p:ph type="body" sz="quarter" idx="31" hasCustomPrompt="1"/>
          </p:nvPr>
        </p:nvSpPr>
        <p:spPr>
          <a:xfrm>
            <a:off x="971550" y="316071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dirty="0">
                <a:latin typeface="黑体" pitchFamily="49" charset="-122"/>
                <a:ea typeface="黑体" pitchFamily="49" charset="-122"/>
              </a:rPr>
              <a:t>此处编辑中文字体黑体 </a:t>
            </a:r>
            <a:r>
              <a:rPr lang="en-US" altLang="zh-CN" dirty="0">
                <a:latin typeface="黑体" pitchFamily="49" charset="-122"/>
                <a:ea typeface="黑体" pitchFamily="49" charset="-122"/>
              </a:rPr>
              <a:t>13pt 75%</a:t>
            </a:r>
            <a:r>
              <a:rPr lang="zh-CN" altLang="en-US" dirty="0">
                <a:latin typeface="黑体" pitchFamily="49" charset="-122"/>
                <a:ea typeface="黑体" pitchFamily="49" charset="-122"/>
              </a:rPr>
              <a:t>灰色</a:t>
            </a:r>
          </a:p>
        </p:txBody>
      </p:sp>
      <p:sp>
        <p:nvSpPr>
          <p:cNvPr id="19" name="文本占位符 54"/>
          <p:cNvSpPr>
            <a:spLocks noGrp="1"/>
          </p:cNvSpPr>
          <p:nvPr>
            <p:ph type="body" sz="quarter" idx="32" hasCustomPrompt="1"/>
          </p:nvPr>
        </p:nvSpPr>
        <p:spPr>
          <a:xfrm>
            <a:off x="971550" y="3387104"/>
            <a:ext cx="4679950" cy="624805"/>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0" name="文本占位符 52"/>
          <p:cNvSpPr>
            <a:spLocks noGrp="1"/>
          </p:cNvSpPr>
          <p:nvPr>
            <p:ph type="body" sz="quarter" idx="33" hasCustomPrompt="1"/>
          </p:nvPr>
        </p:nvSpPr>
        <p:spPr>
          <a:xfrm>
            <a:off x="971550" y="4084638"/>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21" name="文本占位符 54"/>
          <p:cNvSpPr>
            <a:spLocks noGrp="1"/>
          </p:cNvSpPr>
          <p:nvPr>
            <p:ph type="body" sz="quarter" idx="34" hasCustomPrompt="1"/>
          </p:nvPr>
        </p:nvSpPr>
        <p:spPr>
          <a:xfrm>
            <a:off x="971550" y="4311030"/>
            <a:ext cx="4679950" cy="636984"/>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pic>
        <p:nvPicPr>
          <p:cNvPr id="23" name="图片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椭圆 24"/>
          <p:cNvSpPr/>
          <p:nvPr userDrawn="1"/>
        </p:nvSpPr>
        <p:spPr>
          <a:xfrm>
            <a:off x="412359" y="1245593"/>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5534" y="1343787"/>
            <a:ext cx="409606" cy="337097"/>
          </a:xfrm>
          <a:prstGeom prst="rect">
            <a:avLst/>
          </a:prstGeom>
        </p:spPr>
      </p:pic>
      <p:sp>
        <p:nvSpPr>
          <p:cNvPr id="27" name="椭圆 26"/>
          <p:cNvSpPr/>
          <p:nvPr userDrawn="1"/>
        </p:nvSpPr>
        <p:spPr>
          <a:xfrm>
            <a:off x="407873" y="2207345"/>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3555" y="2335138"/>
            <a:ext cx="362930" cy="347541"/>
          </a:xfrm>
          <a:prstGeom prst="rect">
            <a:avLst/>
          </a:prstGeom>
        </p:spPr>
      </p:pic>
      <p:sp>
        <p:nvSpPr>
          <p:cNvPr id="29" name="椭圆 28"/>
          <p:cNvSpPr/>
          <p:nvPr userDrawn="1"/>
        </p:nvSpPr>
        <p:spPr>
          <a:xfrm>
            <a:off x="407873" y="3133309"/>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4939" y="3212387"/>
            <a:ext cx="400161" cy="336137"/>
          </a:xfrm>
          <a:prstGeom prst="rect">
            <a:avLst/>
          </a:prstGeom>
        </p:spPr>
      </p:pic>
      <p:grpSp>
        <p:nvGrpSpPr>
          <p:cNvPr id="31" name="组合 30"/>
          <p:cNvGrpSpPr/>
          <p:nvPr userDrawn="1"/>
        </p:nvGrpSpPr>
        <p:grpSpPr>
          <a:xfrm>
            <a:off x="407873" y="4101049"/>
            <a:ext cx="494292" cy="494292"/>
            <a:chOff x="407874" y="4121374"/>
            <a:chExt cx="494292" cy="494292"/>
          </a:xfrm>
        </p:grpSpPr>
        <p:sp>
          <p:nvSpPr>
            <p:cNvPr id="32" name="椭圆 31"/>
            <p:cNvSpPr/>
            <p:nvPr/>
          </p:nvSpPr>
          <p:spPr>
            <a:xfrm>
              <a:off x="407874" y="4121374"/>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461" y="4239027"/>
              <a:ext cx="413119" cy="258986"/>
            </a:xfrm>
            <a:prstGeom prst="rect">
              <a:avLst/>
            </a:prstGeom>
          </p:spPr>
        </p:pic>
      </p:grpSp>
      <p:pic>
        <p:nvPicPr>
          <p:cNvPr id="24" name="Picture 1" descr="image.pdf"/>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37827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与多种图片版式">
    <p:spTree>
      <p:nvGrpSpPr>
        <p:cNvPr id="1" name=""/>
        <p:cNvGrpSpPr/>
        <p:nvPr/>
      </p:nvGrpSpPr>
      <p:grpSpPr>
        <a:xfrm>
          <a:off x="0" y="0"/>
          <a:ext cx="0" cy="0"/>
          <a:chOff x="0" y="0"/>
          <a:chExt cx="0" cy="0"/>
        </a:xfrm>
      </p:grpSpPr>
      <p:sp>
        <p:nvSpPr>
          <p:cNvPr id="13" name="内容占位符 12"/>
          <p:cNvSpPr>
            <a:spLocks noGrp="1"/>
          </p:cNvSpPr>
          <p:nvPr>
            <p:ph sz="quarter" idx="39" hasCustomPrompt="1"/>
          </p:nvPr>
        </p:nvSpPr>
        <p:spPr>
          <a:xfrm>
            <a:off x="5652120" y="1131590"/>
            <a:ext cx="3096340" cy="3816424"/>
          </a:xfrm>
          <a:prstGeom prst="rect">
            <a:avLst/>
          </a:prstGeom>
        </p:spPr>
        <p:txBody>
          <a:bodyPr anchor="ctr">
            <a:normAutofit/>
          </a:bodyPr>
          <a:lstStyle>
            <a:lvl1pPr marL="0" indent="0" algn="ctr">
              <a:lnSpc>
                <a:spcPts val="2000"/>
              </a:lnSpc>
              <a:spcBef>
                <a:spcPts val="0"/>
              </a:spcBef>
              <a:spcAft>
                <a:spcPts val="500"/>
              </a:spcAft>
              <a:buNone/>
              <a:defRPr sz="1800">
                <a:solidFill>
                  <a:srgbClr val="B1B1B1"/>
                </a:solidFill>
                <a:latin typeface="微软雅黑 Light" pitchFamily="34" charset="-122"/>
                <a:ea typeface="微软雅黑 Light" pitchFamily="34" charset="-122"/>
              </a:defRPr>
            </a:lvl1pPr>
          </a:lstStyle>
          <a:p>
            <a:pPr lvl="0"/>
            <a:r>
              <a:rPr lang="zh-CN" altLang="en-US" dirty="0"/>
              <a:t>此处图片、版式仅供参考</a:t>
            </a:r>
            <a:endParaRPr lang="en-US" altLang="zh-CN" dirty="0"/>
          </a:p>
          <a:p>
            <a:pPr lvl="0"/>
            <a:r>
              <a:rPr lang="zh-CN" altLang="en-US" dirty="0"/>
              <a:t>根据具体情况而定</a:t>
            </a:r>
          </a:p>
        </p:txBody>
      </p:sp>
      <p:sp>
        <p:nvSpPr>
          <p:cNvPr id="11" name="内容占位符 10"/>
          <p:cNvSpPr>
            <a:spLocks noGrp="1"/>
          </p:cNvSpPr>
          <p:nvPr>
            <p:ph sz="quarter" idx="38" hasCustomPrompt="1"/>
          </p:nvPr>
        </p:nvSpPr>
        <p:spPr>
          <a:xfrm>
            <a:off x="395289" y="1428874"/>
            <a:ext cx="4968799" cy="1430908"/>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pPr>
              <a:lnSpc>
                <a:spcPts val="2000"/>
              </a:lnSpc>
            </a:pPr>
            <a:r>
              <a:rPr lang="zh-CN" altLang="en-US" sz="1300">
                <a:solidFill>
                  <a:srgbClr val="656464"/>
                </a:solidFill>
                <a:latin typeface="微软雅黑 Light" pitchFamily="34" charset="-122"/>
                <a:ea typeface="微软雅黑 Light" pitchFamily="34" charset="-122"/>
              </a:rPr>
              <a:t>正文：单击此处编辑中文字体微软雅黑</a:t>
            </a:r>
            <a:r>
              <a:rPr lang="en-US" altLang="zh-CN" sz="1300">
                <a:solidFill>
                  <a:srgbClr val="656464"/>
                </a:solidFill>
                <a:latin typeface="微软雅黑 Light" pitchFamily="34" charset="-122"/>
                <a:ea typeface="微软雅黑 Light" pitchFamily="34" charset="-122"/>
              </a:rPr>
              <a:t>Light</a:t>
            </a:r>
            <a:r>
              <a:rPr lang="zh-CN" altLang="en-US" sz="1300">
                <a:solidFill>
                  <a:srgbClr val="656464"/>
                </a:solidFill>
                <a:latin typeface="微软雅黑 Light" pitchFamily="34" charset="-122"/>
                <a:ea typeface="微软雅黑 Light" pitchFamily="34" charset="-122"/>
              </a:rPr>
              <a:t> </a:t>
            </a:r>
            <a:r>
              <a:rPr lang="en-US" altLang="zh-CN" sz="1300">
                <a:solidFill>
                  <a:srgbClr val="656464"/>
                </a:solidFill>
                <a:latin typeface="微软雅黑 Light" pitchFamily="34" charset="-122"/>
                <a:ea typeface="微软雅黑 Light" pitchFamily="34" charset="-122"/>
              </a:rPr>
              <a:t>13pt 75%</a:t>
            </a:r>
            <a:r>
              <a:rPr lang="zh-CN" altLang="en-US" sz="1300">
                <a:solidFill>
                  <a:srgbClr val="656464"/>
                </a:solidFill>
                <a:latin typeface="微软雅黑 Light" pitchFamily="34" charset="-122"/>
                <a:ea typeface="微软雅黑 Light" pitchFamily="34" charset="-122"/>
              </a:rPr>
              <a:t>灰色 左对齐      行距设计值</a:t>
            </a:r>
            <a:r>
              <a:rPr lang="en-US" altLang="zh-CN" sz="1300">
                <a:solidFill>
                  <a:srgbClr val="656464"/>
                </a:solidFill>
                <a:latin typeface="微软雅黑 Light" pitchFamily="34" charset="-122"/>
                <a:ea typeface="微软雅黑 Light" pitchFamily="34" charset="-122"/>
              </a:rPr>
              <a:t>20</a:t>
            </a:r>
            <a:r>
              <a:rPr lang="zh-CN" altLang="en-US" sz="1300">
                <a:solidFill>
                  <a:srgbClr val="656464"/>
                </a:solidFill>
                <a:latin typeface="微软雅黑 Light" pitchFamily="34" charset="-122"/>
                <a:ea typeface="微软雅黑 Light" pitchFamily="34" charset="-122"/>
              </a:rPr>
              <a:t>磅 段前：</a:t>
            </a:r>
            <a:r>
              <a:rPr lang="en-US" altLang="zh-CN" sz="1300">
                <a:solidFill>
                  <a:srgbClr val="656464"/>
                </a:solidFill>
                <a:latin typeface="微软雅黑 Light" pitchFamily="34" charset="-122"/>
                <a:ea typeface="微软雅黑 Light" pitchFamily="34" charset="-122"/>
              </a:rPr>
              <a:t>0</a:t>
            </a:r>
            <a:r>
              <a:rPr lang="zh-CN" altLang="en-US" sz="1300">
                <a:solidFill>
                  <a:srgbClr val="656464"/>
                </a:solidFill>
                <a:latin typeface="微软雅黑 Light" pitchFamily="34" charset="-122"/>
                <a:ea typeface="微软雅黑 Light" pitchFamily="34" charset="-122"/>
              </a:rPr>
              <a:t>磅 段后：</a:t>
            </a:r>
            <a:r>
              <a:rPr lang="en-US" altLang="zh-CN" sz="1300">
                <a:solidFill>
                  <a:srgbClr val="656464"/>
                </a:solidFill>
                <a:latin typeface="微软雅黑 Light" pitchFamily="34" charset="-122"/>
                <a:ea typeface="微软雅黑 Light" pitchFamily="34" charset="-122"/>
              </a:rPr>
              <a:t>5</a:t>
            </a:r>
            <a:r>
              <a:rPr lang="zh-CN" altLang="en-US" sz="1300">
                <a:solidFill>
                  <a:srgbClr val="656464"/>
                </a:solidFill>
                <a:latin typeface="微软雅黑 Light" pitchFamily="34" charset="-122"/>
                <a:ea typeface="微软雅黑 Light" pitchFamily="34" charset="-122"/>
              </a:rPr>
              <a:t>磅 左对齐</a:t>
            </a:r>
            <a:endParaRPr lang="en-US" altLang="zh-CN" sz="1300">
              <a:solidFill>
                <a:srgbClr val="656464"/>
              </a:solidFill>
              <a:latin typeface="微软雅黑 Light" pitchFamily="34" charset="-122"/>
              <a:ea typeface="微软雅黑 Light"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85" name="文本占位符 2"/>
          <p:cNvSpPr>
            <a:spLocks noGrp="1"/>
          </p:cNvSpPr>
          <p:nvPr>
            <p:ph type="body" idx="36" hasCustomPrompt="1"/>
          </p:nvPr>
        </p:nvSpPr>
        <p:spPr>
          <a:xfrm>
            <a:off x="398339" y="1131590"/>
            <a:ext cx="4965749" cy="288032"/>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sz="1300" b="1">
                <a:latin typeface="黑体" pitchFamily="49" charset="-122"/>
                <a:ea typeface="黑体" pitchFamily="49" charset="-122"/>
              </a:rPr>
              <a:t>单击此处编辑二级标题：黑体</a:t>
            </a:r>
            <a:r>
              <a:rPr lang="en-US" altLang="zh-CN" sz="1300" b="1">
                <a:latin typeface="黑体" pitchFamily="49" charset="-122"/>
                <a:ea typeface="黑体" pitchFamily="49" charset="-122"/>
              </a:rPr>
              <a:t>13pt </a:t>
            </a:r>
            <a:r>
              <a:rPr lang="zh-CN" altLang="en-US" sz="1300" b="1">
                <a:latin typeface="黑体" pitchFamily="49" charset="-122"/>
                <a:ea typeface="黑体" pitchFamily="49" charset="-122"/>
              </a:rPr>
              <a:t>字体加粗</a:t>
            </a:r>
            <a:endParaRPr lang="en-US" altLang="zh-CN" sz="1300" b="1" dirty="0">
              <a:latin typeface="黑体" pitchFamily="49" charset="-122"/>
              <a:ea typeface="黑体" pitchFamily="49" charset="-122"/>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6" name="内容占位符 10"/>
          <p:cNvSpPr>
            <a:spLocks noGrp="1"/>
          </p:cNvSpPr>
          <p:nvPr>
            <p:ph sz="quarter" idx="41" hasCustomPrompt="1"/>
          </p:nvPr>
        </p:nvSpPr>
        <p:spPr>
          <a:xfrm>
            <a:off x="395289" y="3338066"/>
            <a:ext cx="4968799" cy="1609948"/>
          </a:xfrm>
          <a:prstGeom prst="rect">
            <a:avLst/>
          </a:prstGeom>
        </p:spPr>
        <p:txBody>
          <a:bodyPr>
            <a:normAutofit/>
          </a:bodyPr>
          <a:lstStyle>
            <a:lvl1pPr marL="0" indent="0">
              <a:lnSpc>
                <a:spcPts val="2000"/>
              </a:lnSpc>
              <a:spcBef>
                <a:spcPts val="0"/>
              </a:spcBef>
              <a:spcAft>
                <a:spcPts val="500"/>
              </a:spcAft>
              <a:buNone/>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endParaRPr lang="zh-CN" altLang="en-US" dirty="0">
              <a:latin typeface="Georgia" pitchFamily="18" charset="0"/>
              <a:ea typeface="微软雅黑" panose="020B0503020204020204" pitchFamily="34" charset="-122"/>
              <a:cs typeface="Arial" pitchFamily="34" charset="0"/>
            </a:endParaRPr>
          </a:p>
        </p:txBody>
      </p:sp>
      <p:sp>
        <p:nvSpPr>
          <p:cNvPr id="17" name="文本占位符 2"/>
          <p:cNvSpPr>
            <a:spLocks noGrp="1"/>
          </p:cNvSpPr>
          <p:nvPr>
            <p:ph type="body" idx="42" hasCustomPrompt="1"/>
          </p:nvPr>
        </p:nvSpPr>
        <p:spPr>
          <a:xfrm>
            <a:off x="398338" y="3068998"/>
            <a:ext cx="4965750" cy="294840"/>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b="1">
                <a:latin typeface="Georgia" pitchFamily="18" charset="0"/>
                <a:ea typeface="微软雅黑" panose="020B0503020204020204" pitchFamily="34" charset="-122"/>
                <a:cs typeface="Arial" pitchFamily="34" charset="0"/>
              </a:rPr>
              <a:t>Click here to edit the subheading: Georgia 13pt Bold font</a:t>
            </a:r>
            <a:endParaRPr lang="en-US" altLang="zh-CN" b="1" dirty="0">
              <a:latin typeface="Georgia" pitchFamily="18" charset="0"/>
              <a:ea typeface="微软雅黑" panose="020B0503020204020204" pitchFamily="34" charset="-122"/>
              <a:cs typeface="Arial" pitchFamily="34" charset="0"/>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2" name="文本占位符 2"/>
          <p:cNvSpPr>
            <a:spLocks noGrp="1"/>
          </p:cNvSpPr>
          <p:nvPr>
            <p:ph type="body" idx="43"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spTree>
    <p:extLst>
      <p:ext uri="{BB962C8B-B14F-4D97-AF65-F5344CB8AC3E}">
        <p14:creationId xmlns:p14="http://schemas.microsoft.com/office/powerpoint/2010/main" val="117672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与图表竖版">
    <p:spTree>
      <p:nvGrpSpPr>
        <p:cNvPr id="1" name=""/>
        <p:cNvGrpSpPr/>
        <p:nvPr/>
      </p:nvGrpSpPr>
      <p:grpSpPr>
        <a:xfrm>
          <a:off x="0" y="0"/>
          <a:ext cx="0" cy="0"/>
          <a:chOff x="0" y="0"/>
          <a:chExt cx="0" cy="0"/>
        </a:xfrm>
      </p:grpSpPr>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pPr lvl="0"/>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sp>
        <p:nvSpPr>
          <p:cNvPr id="13" name="内容占位符 3"/>
          <p:cNvSpPr>
            <a:spLocks noGrp="1"/>
          </p:cNvSpPr>
          <p:nvPr>
            <p:ph sz="half" idx="16" hasCustomPrompt="1"/>
          </p:nvPr>
        </p:nvSpPr>
        <p:spPr>
          <a:xfrm>
            <a:off x="395536" y="1131590"/>
            <a:ext cx="4896544" cy="1872208"/>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正文字体：微软雅黑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5" name="内容占位符 3"/>
          <p:cNvSpPr>
            <a:spLocks noGrp="1"/>
          </p:cNvSpPr>
          <p:nvPr>
            <p:ph sz="half" idx="38" hasCustomPrompt="1"/>
          </p:nvPr>
        </p:nvSpPr>
        <p:spPr>
          <a:xfrm>
            <a:off x="395536" y="3067070"/>
            <a:ext cx="4896544" cy="1952952"/>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en-US" altLang="zh-CN">
                <a:latin typeface="Georgia" pitchFamily="18" charset="0"/>
                <a:cs typeface="Arial" pitchFamily="34" charset="0"/>
              </a:rPr>
              <a:t>Text: Georgia 13pt 75% Gray Ahead 13pt 75% Gray Left Alignment Body Font: Georgia 13pt 75% Gray Line Spacing Design Value 20 pts Before: 0 pound After: 5 pt Left Justified</a:t>
            </a:r>
            <a:endParaRPr lang="zh-CN" altLang="en-US" dirty="0">
              <a:latin typeface="Georgia" pitchFamily="18" charset="0"/>
              <a:cs typeface="Arial" pitchFamily="34" charset="0"/>
            </a:endParaRP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8" name="文本占位符 62"/>
          <p:cNvSpPr>
            <a:spLocks noGrp="1"/>
          </p:cNvSpPr>
          <p:nvPr>
            <p:ph type="body" sz="quarter" idx="35" hasCustomPrompt="1"/>
          </p:nvPr>
        </p:nvSpPr>
        <p:spPr>
          <a:xfrm>
            <a:off x="5364088" y="1131590"/>
            <a:ext cx="3528392" cy="3888432"/>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6774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与图表横版">
    <p:spTree>
      <p:nvGrpSpPr>
        <p:cNvPr id="1" name=""/>
        <p:cNvGrpSpPr/>
        <p:nvPr/>
      </p:nvGrpSpPr>
      <p:grpSpPr>
        <a:xfrm>
          <a:off x="0" y="0"/>
          <a:ext cx="0" cy="0"/>
          <a:chOff x="0" y="0"/>
          <a:chExt cx="0" cy="0"/>
        </a:xfrm>
      </p:grpSpPr>
      <p:sp>
        <p:nvSpPr>
          <p:cNvPr id="15" name="文本占位符 52"/>
          <p:cNvSpPr>
            <a:spLocks noGrp="1"/>
          </p:cNvSpPr>
          <p:nvPr>
            <p:ph type="body" sz="quarter" idx="27" hasCustomPrompt="1"/>
          </p:nvPr>
        </p:nvSpPr>
        <p:spPr>
          <a:xfrm>
            <a:off x="39528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此处编辑中文标题：黑体 </a:t>
            </a:r>
            <a:r>
              <a:rPr lang="en-US" altLang="zh-CN">
                <a:latin typeface="黑体" pitchFamily="49" charset="-122"/>
                <a:ea typeface="黑体" pitchFamily="49" charset="-122"/>
              </a:rPr>
              <a:t>13pt </a:t>
            </a:r>
            <a:r>
              <a:rPr lang="zh-CN" altLang="en-US">
                <a:latin typeface="黑体" pitchFamily="49" charset="-122"/>
                <a:ea typeface="黑体" pitchFamily="49" charset="-122"/>
              </a:rPr>
              <a:t>标准红 加粗</a:t>
            </a:r>
            <a:endParaRPr lang="zh-CN" altLang="en-US" dirty="0">
              <a:latin typeface="黑体" pitchFamily="49" charset="-122"/>
              <a:ea typeface="黑体" pitchFamily="49" charset="-122"/>
            </a:endParaRPr>
          </a:p>
        </p:txBody>
      </p:sp>
      <p:sp>
        <p:nvSpPr>
          <p:cNvPr id="16" name="文本占位符 54"/>
          <p:cNvSpPr>
            <a:spLocks noGrp="1"/>
          </p:cNvSpPr>
          <p:nvPr>
            <p:ph type="body" sz="quarter" idx="28" hasCustomPrompt="1"/>
          </p:nvPr>
        </p:nvSpPr>
        <p:spPr>
          <a:xfrm>
            <a:off x="39528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zh-CN" altLang="en-US">
                <a:latin typeface="微软雅黑 Light" pitchFamily="34" charset="-122"/>
                <a:ea typeface="微软雅黑 Light" pitchFamily="34" charset="-122"/>
              </a:rPr>
              <a:t>此处编辑正文：微软雅黑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zh-CN" altLang="en-US" dirty="0">
              <a:latin typeface="微软雅黑 Light" pitchFamily="34" charset="-122"/>
              <a:ea typeface="微软雅黑 Light" pitchFamily="34" charset="-122"/>
            </a:endParaRPr>
          </a:p>
        </p:txBody>
      </p:sp>
      <p:sp>
        <p:nvSpPr>
          <p:cNvPr id="18" name="文本占位符 54"/>
          <p:cNvSpPr>
            <a:spLocks noGrp="1"/>
          </p:cNvSpPr>
          <p:nvPr>
            <p:ph type="body" sz="quarter" idx="39" hasCustomPrompt="1"/>
          </p:nvPr>
        </p:nvSpPr>
        <p:spPr>
          <a:xfrm>
            <a:off x="471576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Edit the text here: Georgia 13pt 75% gray</a:t>
            </a:r>
            <a:endParaRPr lang="zh-CN" altLang="en-US" dirty="0">
              <a:latin typeface="Georgia" pitchFamily="18" charset="0"/>
              <a:ea typeface="微软雅黑" panose="020B0503020204020204" pitchFamily="34" charset="-122"/>
              <a:cs typeface="Arial" pitchFamily="34" charset="0"/>
            </a:endParaRPr>
          </a:p>
        </p:txBody>
      </p:sp>
      <p:sp>
        <p:nvSpPr>
          <p:cNvPr id="9" name="文本占位符 52"/>
          <p:cNvSpPr>
            <a:spLocks noGrp="1"/>
          </p:cNvSpPr>
          <p:nvPr>
            <p:ph type="body" sz="quarter" idx="40" hasCustomPrompt="1"/>
          </p:nvPr>
        </p:nvSpPr>
        <p:spPr>
          <a:xfrm>
            <a:off x="471576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nn-NO" altLang="zh-CN">
                <a:latin typeface="Georgia" pitchFamily="18" charset="0"/>
                <a:cs typeface="Arial" pitchFamily="34" charset="0"/>
              </a:rPr>
              <a:t>Georgia 13pt standard red bold</a:t>
            </a:r>
            <a:endParaRPr lang="zh-CN" altLang="en-US" dirty="0">
              <a:latin typeface="Georgia" pitchFamily="18" charset="0"/>
              <a:cs typeface="Arial" pitchFamily="34" charset="0"/>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1"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3" name="文本占位符 62"/>
          <p:cNvSpPr>
            <a:spLocks noGrp="1"/>
          </p:cNvSpPr>
          <p:nvPr>
            <p:ph type="body" sz="quarter" idx="35" hasCustomPrompt="1"/>
          </p:nvPr>
        </p:nvSpPr>
        <p:spPr>
          <a:xfrm>
            <a:off x="39528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sp>
        <p:nvSpPr>
          <p:cNvPr id="14" name="文本占位符 62"/>
          <p:cNvSpPr>
            <a:spLocks noGrp="1"/>
          </p:cNvSpPr>
          <p:nvPr>
            <p:ph type="body" sz="quarter" idx="41" hasCustomPrompt="1"/>
          </p:nvPr>
        </p:nvSpPr>
        <p:spPr>
          <a:xfrm>
            <a:off x="471576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17"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26741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与流程图版式">
    <p:spTree>
      <p:nvGrpSpPr>
        <p:cNvPr id="1" name=""/>
        <p:cNvGrpSpPr/>
        <p:nvPr/>
      </p:nvGrpSpPr>
      <p:grpSpPr>
        <a:xfrm>
          <a:off x="0" y="0"/>
          <a:ext cx="0" cy="0"/>
          <a:chOff x="0" y="0"/>
          <a:chExt cx="0" cy="0"/>
        </a:xfrm>
      </p:grpSpPr>
      <p:sp>
        <p:nvSpPr>
          <p:cNvPr id="9" name="文本占位符 8"/>
          <p:cNvSpPr>
            <a:spLocks noGrp="1"/>
          </p:cNvSpPr>
          <p:nvPr>
            <p:ph type="body" sz="quarter" idx="23" hasCustomPrompt="1"/>
          </p:nvPr>
        </p:nvSpPr>
        <p:spPr>
          <a:xfrm>
            <a:off x="939893" y="1402602"/>
            <a:ext cx="3632106"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5" name="内容占位符 4"/>
          <p:cNvSpPr>
            <a:spLocks noGrp="1"/>
          </p:cNvSpPr>
          <p:nvPr>
            <p:ph sz="quarter" idx="22" hasCustomPrompt="1"/>
          </p:nvPr>
        </p:nvSpPr>
        <p:spPr>
          <a:xfrm>
            <a:off x="395536" y="2331162"/>
            <a:ext cx="8401338" cy="1227471"/>
          </a:xfrm>
          <a:prstGeom prst="rect">
            <a:avLst/>
          </a:prstGeom>
        </p:spPr>
        <p:txBody>
          <a:bodyPr numCol="1" anchor="ctr">
            <a:normAutofit/>
          </a:bodyPr>
          <a:lstStyle>
            <a:lvl1pPr marL="0" indent="0" algn="ctr">
              <a:buFont typeface="Arial" panose="020B0604020202020204" pitchFamily="34" charset="0"/>
              <a:buNone/>
              <a:defRPr sz="1800">
                <a:solidFill>
                  <a:srgbClr val="B1B1B1"/>
                </a:solidFill>
                <a:latin typeface="微软雅黑 Light" pitchFamily="34" charset="-122"/>
                <a:ea typeface="微软雅黑 Light" pitchFamily="34" charset="-122"/>
              </a:defRPr>
            </a:lvl1pPr>
          </a:lstStyle>
          <a:p>
            <a:pPr lvl="0"/>
            <a:r>
              <a:rPr lang="zh-CN" altLang="en-US" dirty="0"/>
              <a:t>可在此处添加流程或步骤等图标示意</a:t>
            </a: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2" name="内容占位符 3"/>
          <p:cNvSpPr>
            <a:spLocks noGrp="1"/>
          </p:cNvSpPr>
          <p:nvPr>
            <p:ph sz="half" idx="20" hasCustomPrompt="1"/>
          </p:nvPr>
        </p:nvSpPr>
        <p:spPr>
          <a:xfrm>
            <a:off x="939892" y="1114570"/>
            <a:ext cx="3632107"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4" name="内容占位符 3"/>
          <p:cNvSpPr>
            <a:spLocks noGrp="1"/>
          </p:cNvSpPr>
          <p:nvPr>
            <p:ph sz="half" idx="24" hasCustomPrompt="1"/>
          </p:nvPr>
        </p:nvSpPr>
        <p:spPr>
          <a:xfrm>
            <a:off x="4848952" y="1114570"/>
            <a:ext cx="3539472"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5" name="文本占位符 8"/>
          <p:cNvSpPr>
            <a:spLocks noGrp="1"/>
          </p:cNvSpPr>
          <p:nvPr>
            <p:ph type="body" sz="quarter" idx="25" hasCustomPrompt="1"/>
          </p:nvPr>
        </p:nvSpPr>
        <p:spPr>
          <a:xfrm>
            <a:off x="4848953" y="1402602"/>
            <a:ext cx="3539471"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36" name="内容占位符 3"/>
          <p:cNvSpPr>
            <a:spLocks noGrp="1"/>
          </p:cNvSpPr>
          <p:nvPr>
            <p:ph sz="half" idx="26" hasCustomPrompt="1"/>
          </p:nvPr>
        </p:nvSpPr>
        <p:spPr>
          <a:xfrm>
            <a:off x="384457" y="3709543"/>
            <a:ext cx="260336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7" name="文本占位符 8"/>
          <p:cNvSpPr>
            <a:spLocks noGrp="1"/>
          </p:cNvSpPr>
          <p:nvPr>
            <p:ph type="body" sz="quarter" idx="27" hasCustomPrompt="1"/>
          </p:nvPr>
        </p:nvSpPr>
        <p:spPr>
          <a:xfrm>
            <a:off x="384457" y="3953732"/>
            <a:ext cx="260336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2" name="内容占位符 3"/>
          <p:cNvSpPr>
            <a:spLocks noGrp="1"/>
          </p:cNvSpPr>
          <p:nvPr>
            <p:ph sz="half" idx="28" hasCustomPrompt="1"/>
          </p:nvPr>
        </p:nvSpPr>
        <p:spPr>
          <a:xfrm>
            <a:off x="3347864" y="3709543"/>
            <a:ext cx="2533983"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3" name="文本占位符 8"/>
          <p:cNvSpPr>
            <a:spLocks noGrp="1"/>
          </p:cNvSpPr>
          <p:nvPr>
            <p:ph type="body" sz="quarter" idx="29" hasCustomPrompt="1"/>
          </p:nvPr>
        </p:nvSpPr>
        <p:spPr>
          <a:xfrm>
            <a:off x="3347864" y="3953732"/>
            <a:ext cx="2533983"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4" name="内容占位符 3"/>
          <p:cNvSpPr>
            <a:spLocks noGrp="1"/>
          </p:cNvSpPr>
          <p:nvPr>
            <p:ph sz="half" idx="30" hasCustomPrompt="1"/>
          </p:nvPr>
        </p:nvSpPr>
        <p:spPr>
          <a:xfrm>
            <a:off x="6228184" y="3709543"/>
            <a:ext cx="255495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5" name="文本占位符 8"/>
          <p:cNvSpPr>
            <a:spLocks noGrp="1"/>
          </p:cNvSpPr>
          <p:nvPr>
            <p:ph type="body" sz="quarter" idx="31" hasCustomPrompt="1"/>
          </p:nvPr>
        </p:nvSpPr>
        <p:spPr>
          <a:xfrm>
            <a:off x="6228184" y="3953732"/>
            <a:ext cx="255495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7"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8"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50397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空白页">
    <p:spTree>
      <p:nvGrpSpPr>
        <p:cNvPr id="1" name=""/>
        <p:cNvGrpSpPr/>
        <p:nvPr/>
      </p:nvGrpSpPr>
      <p:grpSpPr>
        <a:xfrm>
          <a:off x="0" y="0"/>
          <a:ext cx="0" cy="0"/>
          <a:chOff x="0" y="0"/>
          <a:chExt cx="0" cy="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5"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932303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结尾页-英文版">
    <p:spTree>
      <p:nvGrpSpPr>
        <p:cNvPr id="1" name=""/>
        <p:cNvGrpSpPr/>
        <p:nvPr/>
      </p:nvGrpSpPr>
      <p:grpSpPr>
        <a:xfrm>
          <a:off x="0" y="0"/>
          <a:ext cx="0" cy="0"/>
          <a:chOff x="0" y="0"/>
          <a:chExt cx="0" cy="0"/>
        </a:xfrm>
      </p:grpSpPr>
      <p:grpSp>
        <p:nvGrpSpPr>
          <p:cNvPr id="6" name="组合 5"/>
          <p:cNvGrpSpPr/>
          <p:nvPr userDrawn="1"/>
        </p:nvGrpSpPr>
        <p:grpSpPr>
          <a:xfrm>
            <a:off x="2295576" y="1419622"/>
            <a:ext cx="4552849" cy="1996479"/>
            <a:chOff x="2295576" y="1419622"/>
            <a:chExt cx="4552849" cy="1996479"/>
          </a:xfrm>
        </p:grpSpPr>
        <p:sp>
          <p:nvSpPr>
            <p:cNvPr id="7" name="文本框 6"/>
            <p:cNvSpPr txBox="1"/>
            <p:nvPr/>
          </p:nvSpPr>
          <p:spPr>
            <a:xfrm>
              <a:off x="2295576" y="1419622"/>
              <a:ext cx="4552849" cy="1554272"/>
            </a:xfrm>
            <a:prstGeom prst="rect">
              <a:avLst/>
            </a:prstGeom>
            <a:noFill/>
          </p:spPr>
          <p:txBody>
            <a:bodyPr wrap="none" rtlCol="0">
              <a:spAutoFit/>
            </a:bodyPr>
            <a:lstStyle/>
            <a:p>
              <a:r>
                <a:rPr lang="en-US" altLang="zh-CN" sz="9500" b="1" dirty="0">
                  <a:solidFill>
                    <a:srgbClr val="2E5C9E"/>
                  </a:solidFill>
                  <a:latin typeface="微软雅黑" panose="020B0503020204020204" pitchFamily="34" charset="-122"/>
                  <a:ea typeface="微软雅黑" panose="020B0503020204020204" pitchFamily="34" charset="-122"/>
                </a:rPr>
                <a:t>Thanks</a:t>
              </a:r>
              <a:endParaRPr lang="zh-CN" altLang="en-US" sz="9500" b="1" dirty="0">
                <a:solidFill>
                  <a:srgbClr val="2E5C9E"/>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878450" y="3075806"/>
              <a:ext cx="3391656" cy="340295"/>
              <a:chOff x="2878450" y="3095551"/>
              <a:chExt cx="3391656" cy="340295"/>
            </a:xfrm>
          </p:grpSpPr>
          <p:sp>
            <p:nvSpPr>
              <p:cNvPr id="19" name="矩形 18"/>
              <p:cNvSpPr/>
              <p:nvPr/>
            </p:nvSpPr>
            <p:spPr bwMode="auto">
              <a:xfrm>
                <a:off x="2878450" y="3095551"/>
                <a:ext cx="1045478" cy="292388"/>
              </a:xfrm>
              <a:prstGeom prst="rect">
                <a:avLst/>
              </a:prstGeom>
            </p:spPr>
            <p:txBody>
              <a:bodyPr wrap="none">
                <a:spAutoFit/>
              </a:bodyPr>
              <a:lstStyle/>
              <a:p>
                <a:pPr algn="ctr" fontAlgn="auto">
                  <a:spcBef>
                    <a:spcPts val="0"/>
                  </a:spcBef>
                  <a:spcAft>
                    <a:spcPts val="0"/>
                  </a:spcAft>
                  <a:defRPr/>
                </a:pPr>
                <a:r>
                  <a:rPr lang="en-US" altLang="zh-CN" sz="1300" b="1" kern="0" dirty="0">
                    <a:solidFill>
                      <a:srgbClr val="ED1A3B"/>
                    </a:solidFill>
                    <a:latin typeface="Calibri"/>
                  </a:rPr>
                  <a:t>Cooperation</a:t>
                </a:r>
                <a:endParaRPr lang="zh-CN" altLang="en-US" sz="1300" b="1" kern="0" dirty="0">
                  <a:solidFill>
                    <a:srgbClr val="ED1A3B"/>
                  </a:solidFill>
                  <a:latin typeface="Calibri"/>
                  <a:ea typeface="宋体"/>
                </a:endParaRPr>
              </a:p>
            </p:txBody>
          </p:sp>
          <p:sp>
            <p:nvSpPr>
              <p:cNvPr id="17" name="矩形 16"/>
              <p:cNvSpPr/>
              <p:nvPr/>
            </p:nvSpPr>
            <p:spPr bwMode="auto">
              <a:xfrm>
                <a:off x="4225591" y="3095551"/>
                <a:ext cx="896399"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2E5C9E"/>
                    </a:solidFill>
                    <a:latin typeface="Calibri"/>
                    <a:ea typeface="宋体"/>
                  </a:rPr>
                  <a:t>Efficiency</a:t>
                </a:r>
                <a:endParaRPr lang="zh-CN" altLang="en-US" sz="1400" b="1" kern="0" dirty="0">
                  <a:solidFill>
                    <a:srgbClr val="2E5C9E"/>
                  </a:solidFill>
                  <a:latin typeface="Calibri"/>
                  <a:ea typeface="宋体"/>
                </a:endParaRPr>
              </a:p>
            </p:txBody>
          </p:sp>
          <p:sp>
            <p:nvSpPr>
              <p:cNvPr id="15" name="矩形 14"/>
              <p:cNvSpPr/>
              <p:nvPr/>
            </p:nvSpPr>
            <p:spPr bwMode="auto">
              <a:xfrm>
                <a:off x="5364088" y="3095551"/>
                <a:ext cx="906018"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008286"/>
                    </a:solidFill>
                    <a:latin typeface="Calibri"/>
                  </a:rPr>
                  <a:t>Creativity</a:t>
                </a:r>
                <a:endParaRPr lang="zh-CN" altLang="en-US" sz="1400" b="1" kern="0" dirty="0">
                  <a:solidFill>
                    <a:srgbClr val="008286"/>
                  </a:solidFill>
                  <a:latin typeface="Calibri"/>
                  <a:ea typeface="宋体"/>
                </a:endParaRPr>
              </a:p>
            </p:txBody>
          </p:sp>
          <p:cxnSp>
            <p:nvCxnSpPr>
              <p:cNvPr id="12" name="直接连接符 20"/>
              <p:cNvCxnSpPr>
                <a:cxnSpLocks noChangeShapeType="1"/>
              </p:cNvCxnSpPr>
              <p:nvPr/>
            </p:nvCxnSpPr>
            <p:spPr bwMode="auto">
              <a:xfrm>
                <a:off x="5220072"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cxnSp>
            <p:nvCxnSpPr>
              <p:cNvPr id="13" name="直接连接符 20"/>
              <p:cNvCxnSpPr>
                <a:cxnSpLocks noChangeShapeType="1"/>
              </p:cNvCxnSpPr>
              <p:nvPr/>
            </p:nvCxnSpPr>
            <p:spPr bwMode="auto">
              <a:xfrm>
                <a:off x="4067944"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grpSp>
      </p:grpSp>
      <p:pic>
        <p:nvPicPr>
          <p:cNvPr id="20" name="图片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21"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061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en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596475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471F712A-C025-4E26-A73E-1399059498D2}" type="datetimeFigureOut">
              <a:rPr lang="zh-CN" altLang="en-US" smtClean="0"/>
              <a:t>2018/7/26</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250557A5-073A-479D-913B-E1AA0AD10EE0}" type="slidenum">
              <a:rPr lang="zh-CN" altLang="en-US" smtClean="0"/>
              <a:t>‹#›</a:t>
            </a:fld>
            <a:endParaRPr lang="zh-CN" altLang="en-US"/>
          </a:p>
        </p:txBody>
      </p:sp>
    </p:spTree>
    <p:extLst>
      <p:ext uri="{BB962C8B-B14F-4D97-AF65-F5344CB8AC3E}">
        <p14:creationId xmlns:p14="http://schemas.microsoft.com/office/powerpoint/2010/main" val="4271299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307580" y="195072"/>
            <a:ext cx="1584959" cy="353567"/>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2374315" y="1420130"/>
            <a:ext cx="4395368" cy="1535430"/>
          </a:xfrm>
          <a:prstGeom prst="rect">
            <a:avLst/>
          </a:prstGeom>
        </p:spPr>
        <p:txBody>
          <a:bodyPr lIns="0" tIns="0" rIns="0" bIns="0"/>
          <a:lstStyle>
            <a:lvl1pPr>
              <a:defRPr sz="9500" b="1" i="0">
                <a:solidFill>
                  <a:srgbClr val="2E5C9E"/>
                </a:solidFill>
                <a:latin typeface="微软雅黑"/>
                <a:cs typeface="微软雅黑"/>
              </a:defRPr>
            </a:lvl1pPr>
          </a:lstStyle>
          <a:p>
            <a:endParaRPr/>
          </a:p>
        </p:txBody>
      </p:sp>
      <p:sp>
        <p:nvSpPr>
          <p:cNvPr id="3" name="Holder 3"/>
          <p:cNvSpPr>
            <a:spLocks noGrp="1"/>
          </p:cNvSpPr>
          <p:nvPr>
            <p:ph sz="half" idx="2"/>
          </p:nvPr>
        </p:nvSpPr>
        <p:spPr>
          <a:xfrm>
            <a:off x="1180191" y="1141878"/>
            <a:ext cx="3107690" cy="3538854"/>
          </a:xfrm>
          <a:prstGeom prst="rect">
            <a:avLst/>
          </a:prstGeom>
        </p:spPr>
        <p:txBody>
          <a:bodyPr wrap="square" lIns="0" tIns="0" rIns="0" bIns="0">
            <a:spAutoFit/>
          </a:bodyPr>
          <a:lstStyle>
            <a:lvl1pPr>
              <a:defRPr sz="2100" b="1" i="0">
                <a:solidFill>
                  <a:srgbClr val="1F4429"/>
                </a:solidFill>
                <a:latin typeface="Arial"/>
                <a:cs typeface="Arial"/>
              </a:defRPr>
            </a:lvl1pPr>
          </a:lstStyle>
          <a:p>
            <a:endParaRPr/>
          </a:p>
        </p:txBody>
      </p:sp>
      <p:sp>
        <p:nvSpPr>
          <p:cNvPr id="4" name="Holder 4"/>
          <p:cNvSpPr>
            <a:spLocks noGrp="1"/>
          </p:cNvSpPr>
          <p:nvPr>
            <p:ph sz="half" idx="3"/>
          </p:nvPr>
        </p:nvSpPr>
        <p:spPr>
          <a:xfrm>
            <a:off x="4768963" y="868600"/>
            <a:ext cx="3729354" cy="2799715"/>
          </a:xfrm>
          <a:prstGeom prst="rect">
            <a:avLst/>
          </a:prstGeom>
        </p:spPr>
        <p:txBody>
          <a:bodyPr wrap="square" lIns="0" tIns="0" rIns="0" bIns="0">
            <a:spAutoFit/>
          </a:bodyPr>
          <a:lstStyle>
            <a:lvl1pPr>
              <a:defRPr sz="1400" b="1" i="0">
                <a:solidFill>
                  <a:srgbClr val="007FAC"/>
                </a:solidFill>
                <a:latin typeface="Georgia"/>
                <a:cs typeface="Georgia"/>
              </a:defRPr>
            </a:lvl1pPr>
          </a:lstStyle>
          <a:p>
            <a:endParaRPr/>
          </a:p>
        </p:txBody>
      </p:sp>
      <p:sp>
        <p:nvSpPr>
          <p:cNvPr id="5" name="Holder 5"/>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F40BE564-3299-4FB7-8081-B57B09305C72}" type="datetime1">
              <a:rPr lang="en-US" smtClean="0"/>
              <a:t>7/26/2018</a:t>
            </a:fld>
            <a:endParaRPr lang="en-US"/>
          </a:p>
        </p:txBody>
      </p:sp>
      <p:sp>
        <p:nvSpPr>
          <p:cNvPr id="7" name="Holder 7"/>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23133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925447"/>
      </p:ext>
    </p:extLst>
  </p:cSld>
  <p:clrMap bg1="lt1" tx1="dk1" bg2="lt2" tx2="dk2" accent1="accent1" accent2="accent2" accent3="accent3" accent4="accent4" accent5="accent5" accent6="accent6" hlink="hlink" folHlink="folHlink"/>
  <p:sldLayoutIdLst>
    <p:sldLayoutId id="2147483667" r:id="rId1"/>
    <p:sldLayoutId id="2147483687" r:id="rId2"/>
    <p:sldLayoutId id="2147483691" r:id="rId3"/>
    <p:sldLayoutId id="2147483668" r:id="rId4"/>
    <p:sldLayoutId id="2147483669" r:id="rId5"/>
    <p:sldLayoutId id="2147483681" r:id="rId6"/>
    <p:sldLayoutId id="2147483672" r:id="rId7"/>
    <p:sldLayoutId id="2147483684" r:id="rId8"/>
    <p:sldLayoutId id="2147483685" r:id="rId9"/>
    <p:sldLayoutId id="2147483676" r:id="rId10"/>
    <p:sldLayoutId id="2147483666" r:id="rId11"/>
    <p:sldLayoutId id="2147483692" r:id="rId12"/>
    <p:sldLayoutId id="2147483695" r:id="rId13"/>
    <p:sldLayoutId id="2147483699" r:id="rId14"/>
    <p:sldLayoutId id="2147483701"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8.tmp"/></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18.tmp"/></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4.jpeg"/><Relationship Id="rId4" Type="http://schemas.openxmlformats.org/officeDocument/2006/relationships/image" Target="../media/image13.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13" name="文本框 12"/>
          <p:cNvSpPr txBox="1"/>
          <p:nvPr/>
        </p:nvSpPr>
        <p:spPr>
          <a:xfrm>
            <a:off x="270504" y="2867040"/>
            <a:ext cx="8838000" cy="830997"/>
          </a:xfrm>
          <a:prstGeom prst="rect">
            <a:avLst/>
          </a:prstGeom>
          <a:noFill/>
        </p:spPr>
        <p:txBody>
          <a:bodyPr wrap="square" rtlCol="0">
            <a:spAutoFit/>
          </a:bodyPr>
          <a:lstStyle/>
          <a:p>
            <a:r>
              <a:rPr lang="en-US" altLang="zh-CN" sz="4800" dirty="0">
                <a:solidFill>
                  <a:schemeClr val="bg1"/>
                </a:solidFill>
                <a:latin typeface="Georgia" pitchFamily="18" charset="0"/>
                <a:ea typeface="黑体" pitchFamily="49" charset="-122"/>
              </a:rPr>
              <a:t>UPI QR Code Payment</a:t>
            </a:r>
          </a:p>
        </p:txBody>
      </p:sp>
    </p:spTree>
    <p:extLst>
      <p:ext uri="{BB962C8B-B14F-4D97-AF65-F5344CB8AC3E}">
        <p14:creationId xmlns:p14="http://schemas.microsoft.com/office/powerpoint/2010/main" val="3499529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467544" y="1057835"/>
            <a:ext cx="820891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ea typeface="幼圆"/>
                <a:cs typeface="幼圆"/>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ea typeface="幼圆"/>
                <a:cs typeface="幼圆"/>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ea typeface="幼圆"/>
                <a:cs typeface="幼圆"/>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9pPr>
          </a:lstStyle>
          <a:p>
            <a:pPr algn="just">
              <a:lnSpc>
                <a:spcPts val="2000"/>
              </a:lnSpc>
              <a:spcBef>
                <a:spcPts val="0"/>
              </a:spcBef>
              <a:spcAft>
                <a:spcPts val="500"/>
              </a:spcAft>
              <a:buClrTx/>
              <a:buNone/>
            </a:pPr>
            <a:r>
              <a:rPr lang="en-US" altLang="zh-CN" sz="1400" dirty="0">
                <a:solidFill>
                  <a:srgbClr val="656464"/>
                </a:solidFill>
                <a:latin typeface="Georgia" pitchFamily="18" charset="0"/>
                <a:ea typeface="微软雅黑 Light" pitchFamily="34" charset="-122"/>
                <a:cs typeface="+mn-cs"/>
              </a:rPr>
              <a:t>The contents shared in this presentation are provided "AS IS" and intended for informational purposes only and should not be relied upon for operational, marketing, legal, technical, tax, financial or other advice. It is intended to be used between UnionPay International and the parties with whom the content is shared; it cannot be distributed nor shared with any other parties. All material mentioned in this presentation is to facilitate discussion between both parties and will not be deemed as an agreement.   Assumptions were made by us in light of our experience and our perceptions of historical trends, current conditions and expected future developments and other factors that we believe are appropriate under the circumstance. Recommendations are subject to risks and uncertainties, which may cause actual and future results and trends to differ materially from the assumptions or recommendations. UnionPay International is not responsible for your use of the information contained herein (including errors, omissions, inaccuracy, formatting errors or non-timeliness of any kind) or any assumptions or conclusions you might draw from its use. </a:t>
            </a:r>
          </a:p>
        </p:txBody>
      </p:sp>
    </p:spTree>
    <p:extLst>
      <p:ext uri="{BB962C8B-B14F-4D97-AF65-F5344CB8AC3E}">
        <p14:creationId xmlns:p14="http://schemas.microsoft.com/office/powerpoint/2010/main" val="3490728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755576" y="1"/>
            <a:ext cx="1404552" cy="1347613"/>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32" name="文本框 31"/>
          <p:cNvSpPr txBox="1"/>
          <p:nvPr/>
        </p:nvSpPr>
        <p:spPr>
          <a:xfrm>
            <a:off x="667626" y="813941"/>
            <a:ext cx="1600118" cy="461665"/>
          </a:xfrm>
          <a:prstGeom prst="rect">
            <a:avLst/>
          </a:prstGeom>
        </p:spPr>
        <p:txBody>
          <a:bodyPr wrap="none" rtlCol="0">
            <a:spAutoFit/>
          </a:bodyPr>
          <a:lstStyle>
            <a:defPPr>
              <a:defRPr lang="zh-CN"/>
            </a:defPPr>
            <a:lvl1pPr>
              <a:defRPr sz="4400">
                <a:solidFill>
                  <a:srgbClr val="E6002E"/>
                </a:solidFill>
                <a:latin typeface="微软雅黑" panose="020B0503020204020204" pitchFamily="34" charset="-122"/>
                <a:ea typeface="微软雅黑" panose="020B0503020204020204" pitchFamily="34" charset="-122"/>
              </a:defRPr>
            </a:lvl1pPr>
          </a:lstStyle>
          <a:p>
            <a:r>
              <a:rPr lang="en-US" altLang="zh-CN" sz="2400" b="1" dirty="0">
                <a:solidFill>
                  <a:schemeClr val="bg1"/>
                </a:solidFill>
                <a:latin typeface="Georgia" pitchFamily="18" charset="0"/>
                <a:cs typeface="Arial" pitchFamily="34" charset="0"/>
              </a:rPr>
              <a:t>Contents</a:t>
            </a:r>
            <a:endParaRPr lang="zh-CN" altLang="en-US" sz="2400" b="1" dirty="0">
              <a:solidFill>
                <a:schemeClr val="bg1"/>
              </a:solidFill>
              <a:latin typeface="Georgia" pitchFamily="18" charset="0"/>
            </a:endParaRPr>
          </a:p>
        </p:txBody>
      </p:sp>
      <p:sp>
        <p:nvSpPr>
          <p:cNvPr id="21" name="矩形 20"/>
          <p:cNvSpPr/>
          <p:nvPr/>
        </p:nvSpPr>
        <p:spPr>
          <a:xfrm>
            <a:off x="755576" y="1491630"/>
            <a:ext cx="1404552" cy="3651870"/>
          </a:xfrm>
          <a:prstGeom prst="rect">
            <a:avLst/>
          </a:prstGeom>
          <a:solidFill>
            <a:srgbClr val="5B9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8" name="标题 1"/>
          <p:cNvSpPr txBox="1">
            <a:spLocks/>
          </p:cNvSpPr>
          <p:nvPr/>
        </p:nvSpPr>
        <p:spPr>
          <a:xfrm>
            <a:off x="1979712" y="3301591"/>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endParaRPr lang="zh-CN" altLang="en-US" b="1" dirty="0">
              <a:latin typeface="Georgia" pitchFamily="18" charset="0"/>
              <a:ea typeface="黑体" pitchFamily="49" charset="-122"/>
            </a:endParaRPr>
          </a:p>
        </p:txBody>
      </p:sp>
      <p:sp>
        <p:nvSpPr>
          <p:cNvPr id="13" name="文本框 2"/>
          <p:cNvSpPr txBox="1"/>
          <p:nvPr/>
        </p:nvSpPr>
        <p:spPr>
          <a:xfrm>
            <a:off x="2470339" y="2632806"/>
            <a:ext cx="6120680" cy="461665"/>
          </a:xfrm>
          <a:prstGeom prst="rect">
            <a:avLst/>
          </a:prstGeom>
          <a:noFill/>
        </p:spPr>
        <p:txBody>
          <a:bodyPr wrap="square" rtlCol="0">
            <a:spAutoFit/>
          </a:bodyPr>
          <a:lstStyle/>
          <a:p>
            <a:pPr marL="285750" indent="-285750">
              <a:buClr>
                <a:srgbClr val="1E5199"/>
              </a:buClr>
              <a:buSzPct val="100000"/>
              <a:buFont typeface="Wingdings" pitchFamily="2" charset="2"/>
              <a:buChar char="§"/>
            </a:pPr>
            <a:r>
              <a:rPr lang="en-US" altLang="zh-CN" sz="2400" b="1" dirty="0" smtClean="0">
                <a:solidFill>
                  <a:srgbClr val="2E5C9E"/>
                </a:solidFill>
                <a:latin typeface="Georgia" pitchFamily="18" charset="0"/>
                <a:ea typeface="微软雅黑" panose="020B0503020204020204" pitchFamily="34" charset="-122"/>
                <a:cs typeface="Arial" pitchFamily="34" charset="0"/>
              </a:rPr>
              <a:t>System Implementation</a:t>
            </a:r>
            <a:endParaRPr lang="en-US" altLang="zh-CN" sz="2400" b="1" dirty="0">
              <a:solidFill>
                <a:srgbClr val="2E5C9E"/>
              </a:solidFill>
              <a:latin typeface="Georgia" pitchFamily="18" charset="0"/>
              <a:ea typeface="微软雅黑" panose="020B0503020204020204" pitchFamily="34" charset="-122"/>
              <a:cs typeface="Arial" pitchFamily="34" charset="0"/>
            </a:endParaRPr>
          </a:p>
        </p:txBody>
      </p:sp>
      <p:sp>
        <p:nvSpPr>
          <p:cNvPr id="12" name="文本框 2"/>
          <p:cNvSpPr txBox="1"/>
          <p:nvPr/>
        </p:nvSpPr>
        <p:spPr>
          <a:xfrm>
            <a:off x="2470339" y="1772228"/>
            <a:ext cx="6120680" cy="461665"/>
          </a:xfrm>
          <a:prstGeom prst="rect">
            <a:avLst/>
          </a:prstGeom>
          <a:noFill/>
        </p:spPr>
        <p:txBody>
          <a:bodyPr wrap="square" rtlCol="0">
            <a:spAutoFit/>
          </a:bodyPr>
          <a:lstStyle/>
          <a:p>
            <a:pPr marL="285750" indent="-285750">
              <a:buClr>
                <a:srgbClr val="1E5199"/>
              </a:buClr>
              <a:buSzPct val="100000"/>
              <a:buFont typeface="Wingdings" pitchFamily="2" charset="2"/>
              <a:buChar char="§"/>
            </a:pPr>
            <a:r>
              <a:rPr lang="en-US" altLang="zh-CN" sz="2400" b="1" dirty="0">
                <a:solidFill>
                  <a:srgbClr val="2E5C9E"/>
                </a:solidFill>
                <a:latin typeface="Georgia" pitchFamily="18" charset="0"/>
                <a:ea typeface="微软雅黑" panose="020B0503020204020204" pitchFamily="34" charset="-122"/>
                <a:cs typeface="Arial" pitchFamily="34" charset="0"/>
              </a:rPr>
              <a:t>QR Code </a:t>
            </a:r>
            <a:r>
              <a:rPr lang="en-US" altLang="zh-CN" sz="2400" b="1" dirty="0" smtClean="0">
                <a:solidFill>
                  <a:srgbClr val="2E5C9E"/>
                </a:solidFill>
                <a:latin typeface="Georgia" pitchFamily="18" charset="0"/>
                <a:ea typeface="微软雅黑" panose="020B0503020204020204" pitchFamily="34" charset="-122"/>
                <a:cs typeface="Arial" pitchFamily="34" charset="0"/>
              </a:rPr>
              <a:t>Payment Transaction</a:t>
            </a:r>
            <a:endParaRPr lang="en-US" altLang="zh-CN" sz="24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40781980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2218313"/>
            <a:chOff x="0" y="1563638"/>
            <a:chExt cx="1691680" cy="2218313"/>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smtClean="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60483"/>
          </a:xfrm>
          <a:prstGeom prst="rect">
            <a:avLst/>
          </a:prstGeom>
        </p:spPr>
        <p:txBody>
          <a:bodyPr wrap="square" rtlCol="0">
            <a:spAutoFit/>
          </a:bodyPr>
          <a:lstStyle/>
          <a:p>
            <a:pPr>
              <a:lnSpc>
                <a:spcPts val="1800"/>
              </a:lnSpc>
            </a:pPr>
            <a:r>
              <a:rPr lang="en-US" altLang="zh-CN" sz="3200" b="1" dirty="0" smtClean="0">
                <a:solidFill>
                  <a:srgbClr val="2E5C9E"/>
                </a:solidFill>
                <a:latin typeface="Georgia" pitchFamily="18" charset="0"/>
                <a:ea typeface="微软雅黑" panose="020B0503020204020204" pitchFamily="34" charset="-122"/>
                <a:cs typeface="Arial" pitchFamily="34" charset="0"/>
              </a:rPr>
              <a:t>QR </a:t>
            </a:r>
            <a:r>
              <a:rPr lang="en-US" altLang="zh-CN" sz="3200" b="1" dirty="0">
                <a:solidFill>
                  <a:srgbClr val="2E5C9E"/>
                </a:solidFill>
                <a:latin typeface="Georgia" pitchFamily="18" charset="0"/>
                <a:ea typeface="微软雅黑" panose="020B0503020204020204" pitchFamily="34" charset="-122"/>
                <a:cs typeface="Arial" pitchFamily="34" charset="0"/>
              </a:rPr>
              <a:t>Code </a:t>
            </a:r>
            <a:r>
              <a:rPr lang="en-US" altLang="zh-CN" sz="3200" b="1" dirty="0" smtClean="0">
                <a:solidFill>
                  <a:srgbClr val="2E5C9E"/>
                </a:solidFill>
                <a:latin typeface="Georgia" pitchFamily="18" charset="0"/>
                <a:ea typeface="微软雅黑" panose="020B0503020204020204" pitchFamily="34" charset="-122"/>
                <a:cs typeface="Arial" pitchFamily="34" charset="0"/>
              </a:rPr>
              <a:t>Payment Transaction</a:t>
            </a:r>
            <a:endParaRPr lang="sv-SE" altLang="zh-CN" sz="32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27283466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a:latin typeface="Georgia" pitchFamily="18" charset="0"/>
                <a:ea typeface="黑体" pitchFamily="49" charset="-122"/>
              </a:rPr>
              <a:t>Merchant</a:t>
            </a:r>
            <a:r>
              <a:rPr lang="zh-CN" altLang="en-US" sz="1800" b="1" dirty="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C:\Users\zhengzuyi\Desktop\__.png"/>
          <p:cNvPicPr>
            <a:picLocks noChangeAspect="1" noChangeArrowheads="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588224" y="1007182"/>
            <a:ext cx="915709" cy="79208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098799"/>
            <a:ext cx="608855" cy="608855"/>
          </a:xfrm>
          <a:prstGeom prst="rect">
            <a:avLst/>
          </a:prstGeom>
          <a:noFill/>
          <a:extLst>
            <a:ext uri="{909E8E84-426E-40DD-AFC4-6F175D3DCCD1}">
              <a14:hiddenFill xmlns:a14="http://schemas.microsoft.com/office/drawing/2010/main">
                <a:solidFill>
                  <a:srgbClr val="FFFFFF"/>
                </a:solidFill>
              </a14:hiddenFill>
            </a:ext>
          </a:extLst>
        </p:spPr>
      </p:pic>
      <p:pic>
        <p:nvPicPr>
          <p:cNvPr id="9227" name="Picture 11" descr="C:\Users\zhengzuyi\Desktop\__ (2).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71600" y="1857186"/>
            <a:ext cx="642555" cy="7865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907704" y="1367222"/>
            <a:ext cx="4532907" cy="0"/>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874816"/>
            <a:ext cx="0" cy="792088"/>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81873" y="2542679"/>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904294" y="3033995"/>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4904295" y="3959647"/>
            <a:ext cx="2011330" cy="431084"/>
          </a:xfrm>
          <a:prstGeom prst="bentConnector3">
            <a:avLst>
              <a:gd name="adj1" fmla="val -35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4932042" y="3959647"/>
            <a:ext cx="2232246" cy="592325"/>
          </a:xfrm>
          <a:prstGeom prst="bentConnector3">
            <a:avLst>
              <a:gd name="adj1" fmla="val 9977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4860032" y="321982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4288" y="1874816"/>
            <a:ext cx="0" cy="6950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08104" y="2139702"/>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7" name="TextBox 66"/>
          <p:cNvSpPr txBox="1"/>
          <p:nvPr/>
        </p:nvSpPr>
        <p:spPr>
          <a:xfrm>
            <a:off x="4860502" y="2787774"/>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202908" y="4125729"/>
            <a:ext cx="138371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386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19637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2139702"/>
            <a:ext cx="175240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3" name="TextBox 72"/>
          <p:cNvSpPr txBox="1"/>
          <p:nvPr/>
        </p:nvSpPr>
        <p:spPr>
          <a:xfrm>
            <a:off x="4860032" y="3219822"/>
            <a:ext cx="147348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2715766"/>
            <a:ext cx="176041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40794470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7" name="Picture 11" descr="C:\Users\zhengzuyi\Desktop\__ (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868" y="1259879"/>
            <a:ext cx="1027532" cy="1289317"/>
          </a:xfrm>
          <a:prstGeom prst="rect">
            <a:avLst/>
          </a:prstGeom>
          <a:noFill/>
          <a:extLst>
            <a:ext uri="{909E8E84-426E-40DD-AFC4-6F175D3DCCD1}">
              <a14:hiddenFill xmlns:a14="http://schemas.microsoft.com/office/drawing/2010/main">
                <a:solidFill>
                  <a:srgbClr val="FFFFFF"/>
                </a:solidFill>
              </a14:hiddenFill>
            </a:ext>
          </a:extLst>
        </p:spPr>
      </p:pic>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smtClean="0">
                <a:latin typeface="Georgia" pitchFamily="18" charset="0"/>
                <a:ea typeface="黑体" pitchFamily="49" charset="-122"/>
              </a:rPr>
              <a:t>Consumer</a:t>
            </a:r>
            <a:r>
              <a:rPr lang="zh-CN" altLang="en-US" sz="1800" b="1" dirty="0" smtClean="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458839"/>
            <a:ext cx="608855" cy="608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840254" y="1357928"/>
            <a:ext cx="4631211" cy="0"/>
          </a:xfrm>
          <a:prstGeom prst="straightConnector1">
            <a:avLst/>
          </a:prstGeom>
          <a:ln w="1587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904537"/>
            <a:ext cx="0" cy="739221"/>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07704" y="2542679"/>
            <a:ext cx="1512000" cy="0"/>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4904295" y="3959647"/>
            <a:ext cx="2011330" cy="431084"/>
          </a:xfrm>
          <a:prstGeom prst="bentConnector3">
            <a:avLst>
              <a:gd name="adj1" fmla="val -35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4932042" y="3959647"/>
            <a:ext cx="2232246" cy="592325"/>
          </a:xfrm>
          <a:prstGeom prst="bentConnector3">
            <a:avLst>
              <a:gd name="adj1" fmla="val 9977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3003798"/>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0860" y="1851670"/>
            <a:ext cx="0" cy="6950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80582" y="2139702"/>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202908" y="4125729"/>
            <a:ext cx="138371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050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19637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2139702"/>
            <a:ext cx="176843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4.0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3003798"/>
            <a:ext cx="1765227"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81" name="TextBox 80"/>
          <p:cNvSpPr txBox="1"/>
          <p:nvPr/>
        </p:nvSpPr>
        <p:spPr>
          <a:xfrm>
            <a:off x="4559921" y="3452507"/>
            <a:ext cx="166103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74" name="直接箭头连接符 73"/>
          <p:cNvCxnSpPr/>
          <p:nvPr/>
        </p:nvCxnSpPr>
        <p:spPr>
          <a:xfrm flipV="1">
            <a:off x="3810253" y="3384744"/>
            <a:ext cx="0" cy="42101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2339752" y="3477657"/>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112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1775" y="840940"/>
            <a:ext cx="1094561" cy="1082738"/>
          </a:xfrm>
          <a:prstGeom prst="rect">
            <a:avLst/>
          </a:prstGeom>
          <a:noFill/>
          <a:ln>
            <a:noFill/>
          </a:ln>
          <a:scene3d>
            <a:camera prst="orthographicFront">
              <a:rot lat="0" lon="0" rev="10799999"/>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0" name="直接箭头连接符 79"/>
          <p:cNvCxnSpPr/>
          <p:nvPr/>
        </p:nvCxnSpPr>
        <p:spPr>
          <a:xfrm flipV="1">
            <a:off x="4572000" y="3384744"/>
            <a:ext cx="0" cy="421014"/>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a:off x="1907704" y="2643758"/>
            <a:ext cx="1512000" cy="0"/>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902856" y="2643758"/>
            <a:ext cx="166103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3078209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a:latin typeface="Georgia" pitchFamily="18" charset="0"/>
                <a:ea typeface="黑体" pitchFamily="49" charset="-122"/>
              </a:rPr>
              <a:t>Merchant</a:t>
            </a:r>
            <a:r>
              <a:rPr lang="zh-CN" altLang="en-US" sz="1800" b="1" dirty="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C:\Users\zhengzuyi\Desktop\__.png"/>
          <p:cNvPicPr>
            <a:picLocks noChangeAspect="1" noChangeArrowheads="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588224" y="1007182"/>
            <a:ext cx="915709" cy="79208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098799"/>
            <a:ext cx="608855" cy="608855"/>
          </a:xfrm>
          <a:prstGeom prst="rect">
            <a:avLst/>
          </a:prstGeom>
          <a:noFill/>
          <a:extLst>
            <a:ext uri="{909E8E84-426E-40DD-AFC4-6F175D3DCCD1}">
              <a14:hiddenFill xmlns:a14="http://schemas.microsoft.com/office/drawing/2010/main">
                <a:solidFill>
                  <a:srgbClr val="FFFFFF"/>
                </a:solidFill>
              </a14:hiddenFill>
            </a:ext>
          </a:extLst>
        </p:spPr>
      </p:pic>
      <p:pic>
        <p:nvPicPr>
          <p:cNvPr id="9227" name="Picture 11" descr="C:\Users\zhengzuyi\Desktop\__ (2).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71600" y="1857186"/>
            <a:ext cx="642555" cy="7865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907704" y="1367222"/>
            <a:ext cx="4532907" cy="0"/>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874816"/>
            <a:ext cx="0" cy="792088"/>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81873" y="2542679"/>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904294" y="3033995"/>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4904295" y="3959647"/>
            <a:ext cx="2011330" cy="431084"/>
          </a:xfrm>
          <a:prstGeom prst="bentConnector3">
            <a:avLst>
              <a:gd name="adj1" fmla="val -35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4932042" y="3959647"/>
            <a:ext cx="2232246" cy="592325"/>
          </a:xfrm>
          <a:prstGeom prst="bentConnector3">
            <a:avLst>
              <a:gd name="adj1" fmla="val 9977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4860032" y="321982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4288" y="1874816"/>
            <a:ext cx="0" cy="6950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08104" y="2139702"/>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7" name="TextBox 66"/>
          <p:cNvSpPr txBox="1"/>
          <p:nvPr/>
        </p:nvSpPr>
        <p:spPr>
          <a:xfrm>
            <a:off x="4860502" y="2787774"/>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202908" y="4125729"/>
            <a:ext cx="138371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386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19637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2139702"/>
            <a:ext cx="175240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a:t>
            </a:r>
            <a:r>
              <a:rPr lang="en-US" altLang="zh-CN" sz="1000" dirty="0" smtClean="0">
                <a:solidFill>
                  <a:schemeClr val="tx1">
                    <a:lumMod val="85000"/>
                    <a:lumOff val="15000"/>
                  </a:schemeClr>
                </a:solidFill>
                <a:latin typeface="Georgia" panose="02040502050405020303" pitchFamily="18" charset="0"/>
                <a:ea typeface="黑体" pitchFamily="49" charset="-122"/>
              </a:rPr>
              <a:t>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3" name="TextBox 72"/>
          <p:cNvSpPr txBox="1"/>
          <p:nvPr/>
        </p:nvSpPr>
        <p:spPr>
          <a:xfrm>
            <a:off x="4860032" y="3219822"/>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2715766"/>
            <a:ext cx="176843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4.0</a:t>
            </a:r>
            <a:r>
              <a:rPr lang="en-US" altLang="zh-CN" sz="1000" dirty="0" smtClean="0">
                <a:solidFill>
                  <a:schemeClr val="tx1">
                    <a:lumMod val="85000"/>
                    <a:lumOff val="15000"/>
                  </a:schemeClr>
                </a:solidFill>
                <a:latin typeface="Georgia" panose="02040502050405020303" pitchFamily="18" charset="0"/>
                <a:ea typeface="黑体" pitchFamily="49" charset="-122"/>
              </a:rPr>
              <a:t> </a:t>
            </a:r>
            <a:r>
              <a:rPr lang="en-US" altLang="zh-CN" sz="1000" dirty="0" smtClean="0">
                <a:solidFill>
                  <a:schemeClr val="tx1">
                    <a:lumMod val="85000"/>
                    <a:lumOff val="15000"/>
                  </a:schemeClr>
                </a:solidFill>
                <a:latin typeface="Georgia" panose="02040502050405020303" pitchFamily="18" charset="0"/>
                <a:ea typeface="黑体" pitchFamily="49" charset="-122"/>
              </a:rPr>
              <a:t>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38" name="图片 37" descr="屏幕剪辑"/>
          <p:cNvPicPr>
            <a:picLocks noChangeAspect="1"/>
          </p:cNvPicPr>
          <p:nvPr/>
        </p:nvPicPr>
        <p:blipFill rotWithShape="1">
          <a:blip r:embed="rId9">
            <a:extLst>
              <a:ext uri="{28A0092B-C50C-407E-A947-70E740481C1C}">
                <a14:useLocalDpi xmlns:a14="http://schemas.microsoft.com/office/drawing/2010/main" val="0"/>
              </a:ext>
            </a:extLst>
          </a:blip>
          <a:srcRect b="17225"/>
          <a:stretch/>
        </p:blipFill>
        <p:spPr>
          <a:xfrm>
            <a:off x="3457924" y="1501246"/>
            <a:ext cx="1374699" cy="596047"/>
          </a:xfrm>
          <a:prstGeom prst="rect">
            <a:avLst/>
          </a:prstGeom>
        </p:spPr>
      </p:pic>
      <p:cxnSp>
        <p:nvCxnSpPr>
          <p:cNvPr id="4" name="肘形连接符 3"/>
          <p:cNvCxnSpPr>
            <a:endCxn id="38" idx="3"/>
          </p:cNvCxnSpPr>
          <p:nvPr/>
        </p:nvCxnSpPr>
        <p:spPr>
          <a:xfrm rot="5400000" flipH="1" flipV="1">
            <a:off x="4447345" y="2184549"/>
            <a:ext cx="770557" cy="12700"/>
          </a:xfrm>
          <a:prstGeom prst="bentConnector4">
            <a:avLst>
              <a:gd name="adj1" fmla="val 1314"/>
              <a:gd name="adj2" fmla="val 4803220"/>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623638" y="1965489"/>
            <a:ext cx="138852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19612758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7" name="Picture 11" descr="C:\Users\zhengzuyi\Desktop\__ (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868" y="1259879"/>
            <a:ext cx="1027532" cy="1289317"/>
          </a:xfrm>
          <a:prstGeom prst="rect">
            <a:avLst/>
          </a:prstGeom>
          <a:noFill/>
          <a:extLst>
            <a:ext uri="{909E8E84-426E-40DD-AFC4-6F175D3DCCD1}">
              <a14:hiddenFill xmlns:a14="http://schemas.microsoft.com/office/drawing/2010/main">
                <a:solidFill>
                  <a:srgbClr val="FFFFFF"/>
                </a:solidFill>
              </a14:hiddenFill>
            </a:ext>
          </a:extLst>
        </p:spPr>
      </p:pic>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smtClean="0">
                <a:latin typeface="Georgia" pitchFamily="18" charset="0"/>
                <a:ea typeface="黑体" pitchFamily="49" charset="-122"/>
              </a:rPr>
              <a:t>Consumer</a:t>
            </a:r>
            <a:r>
              <a:rPr lang="zh-CN" altLang="en-US" sz="1800" b="1" dirty="0" smtClean="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604" y="3867894"/>
            <a:ext cx="1595476" cy="108953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458839"/>
            <a:ext cx="608855" cy="608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840254" y="1357928"/>
            <a:ext cx="4631211" cy="0"/>
          </a:xfrm>
          <a:prstGeom prst="straightConnector1">
            <a:avLst/>
          </a:prstGeom>
          <a:ln w="1587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904537"/>
            <a:ext cx="0" cy="739221"/>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07704" y="2542679"/>
            <a:ext cx="1512000" cy="0"/>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5390437" y="3959646"/>
            <a:ext cx="1525188" cy="431085"/>
          </a:xfrm>
          <a:prstGeom prst="bentConnector3">
            <a:avLst>
              <a:gd name="adj1" fmla="val -28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5468503" y="4033014"/>
            <a:ext cx="1944216" cy="715435"/>
          </a:xfrm>
          <a:prstGeom prst="bentConnector3">
            <a:avLst>
              <a:gd name="adj1" fmla="val 99055"/>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3003798"/>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436096" y="2139702"/>
            <a:ext cx="151515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3.1.0  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436096" y="4125729"/>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3.1.1 Cou</a:t>
            </a:r>
            <a:r>
              <a:rPr lang="en-US" altLang="zh-CN" sz="1000" dirty="0" smtClean="0">
                <a:solidFill>
                  <a:schemeClr val="tx1">
                    <a:lumMod val="85000"/>
                    <a:lumOff val="15000"/>
                  </a:schemeClr>
                </a:solidFill>
                <a:latin typeface="Georgia" panose="02040502050405020303" pitchFamily="18" charset="0"/>
                <a:ea typeface="黑体" pitchFamily="49" charset="-122"/>
              </a:rPr>
              <a:t>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508104" y="468204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73695" y="2324368"/>
            <a:ext cx="176843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4.0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3003798"/>
            <a:ext cx="176041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81" name="TextBox 80"/>
          <p:cNvSpPr txBox="1"/>
          <p:nvPr/>
        </p:nvSpPr>
        <p:spPr>
          <a:xfrm>
            <a:off x="4211960" y="3405649"/>
            <a:ext cx="1662635"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74" name="直接箭头连接符 73"/>
          <p:cNvCxnSpPr/>
          <p:nvPr/>
        </p:nvCxnSpPr>
        <p:spPr>
          <a:xfrm flipV="1">
            <a:off x="3810253" y="3384744"/>
            <a:ext cx="0" cy="42101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2339752" y="3405649"/>
            <a:ext cx="147348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112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1775" y="840940"/>
            <a:ext cx="1094561" cy="1082738"/>
          </a:xfrm>
          <a:prstGeom prst="rect">
            <a:avLst/>
          </a:prstGeom>
          <a:noFill/>
          <a:ln>
            <a:noFill/>
          </a:ln>
          <a:scene3d>
            <a:camera prst="orthographicFront">
              <a:rot lat="0" lon="0" rev="10799999"/>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0" name="直接箭头连接符 79"/>
          <p:cNvCxnSpPr/>
          <p:nvPr/>
        </p:nvCxnSpPr>
        <p:spPr>
          <a:xfrm flipV="1">
            <a:off x="4572000" y="3384744"/>
            <a:ext cx="0" cy="421014"/>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a:off x="1907704" y="2643758"/>
            <a:ext cx="1512000" cy="0"/>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902856" y="2643758"/>
            <a:ext cx="165782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2" name="图片 1" descr="屏幕剪辑"/>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46830" y="2476836"/>
            <a:ext cx="1741394" cy="912158"/>
          </a:xfrm>
          <a:prstGeom prst="rect">
            <a:avLst/>
          </a:prstGeom>
        </p:spPr>
      </p:pic>
      <p:cxnSp>
        <p:nvCxnSpPr>
          <p:cNvPr id="13" name="肘形连接符 12"/>
          <p:cNvCxnSpPr/>
          <p:nvPr/>
        </p:nvCxnSpPr>
        <p:spPr>
          <a:xfrm rot="5400000" flipH="1" flipV="1">
            <a:off x="5381517" y="3258939"/>
            <a:ext cx="833901" cy="816062"/>
          </a:xfrm>
          <a:prstGeom prst="bentConnector3">
            <a:avLst>
              <a:gd name="adj1" fmla="val 1658"/>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325958" y="3837697"/>
            <a:ext cx="147829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3.1.2 </a:t>
            </a:r>
            <a:r>
              <a:rPr lang="en-US" altLang="zh-CN" sz="1000" dirty="0" smtClean="0">
                <a:solidFill>
                  <a:schemeClr val="tx1">
                    <a:lumMod val="85000"/>
                    <a:lumOff val="15000"/>
                  </a:schemeClr>
                </a:solidFill>
                <a:latin typeface="Georgia" panose="02040502050405020303" pitchFamily="18" charset="0"/>
                <a:ea typeface="黑体" pitchFamily="49" charset="-122"/>
              </a:rPr>
              <a:t>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44" name="直接箭头连接符 43"/>
          <p:cNvCxnSpPr/>
          <p:nvPr/>
        </p:nvCxnSpPr>
        <p:spPr>
          <a:xfrm>
            <a:off x="7068025" y="1923678"/>
            <a:ext cx="0" cy="720080"/>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068025" y="1923678"/>
            <a:ext cx="14157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10" name="肘形连接符 9"/>
          <p:cNvCxnSpPr/>
          <p:nvPr/>
        </p:nvCxnSpPr>
        <p:spPr>
          <a:xfrm rot="5400000">
            <a:off x="5945321" y="3463050"/>
            <a:ext cx="592324" cy="1702093"/>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436096" y="4368428"/>
            <a:ext cx="14157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56" name="肘形连接符 55"/>
          <p:cNvCxnSpPr>
            <a:stCxn id="9224" idx="3"/>
            <a:endCxn id="11268" idx="3"/>
          </p:cNvCxnSpPr>
          <p:nvPr/>
        </p:nvCxnSpPr>
        <p:spPr>
          <a:xfrm flipH="1" flipV="1">
            <a:off x="7596336" y="1382309"/>
            <a:ext cx="30801" cy="1780781"/>
          </a:xfrm>
          <a:prstGeom prst="bentConnector3">
            <a:avLst>
              <a:gd name="adj1" fmla="val -307248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8735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a:latin typeface="Georgia" pitchFamily="18" charset="0"/>
                <a:ea typeface="黑体" pitchFamily="49" charset="-122"/>
              </a:rPr>
              <a:t>Merchant</a:t>
            </a:r>
            <a:r>
              <a:rPr lang="zh-CN" altLang="en-US" sz="1800" b="1" dirty="0">
                <a:latin typeface="Georgia" pitchFamily="18" charset="0"/>
                <a:ea typeface="黑体" pitchFamily="49" charset="-122"/>
              </a:rPr>
              <a:t> </a:t>
            </a:r>
            <a:r>
              <a:rPr lang="en-US" altLang="zh-CN" sz="1800" b="1" dirty="0" smtClean="0">
                <a:latin typeface="Georgia" pitchFamily="18" charset="0"/>
                <a:ea typeface="黑体" pitchFamily="49" charset="-122"/>
              </a:rPr>
              <a:t>Presented (JSON)</a:t>
            </a:r>
            <a:endParaRPr lang="zh-CN" altLang="en-US" sz="1800" b="1" dirty="0">
              <a:latin typeface="Georgia" pitchFamily="18" charset="0"/>
              <a:ea typeface="黑体" pitchFamily="49" charset="-122"/>
            </a:endParaRPr>
          </a:p>
        </p:txBody>
      </p:sp>
      <p:pic>
        <p:nvPicPr>
          <p:cNvPr id="7"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C:\Users\zhengzuyi\Desktop\__.png"/>
          <p:cNvPicPr>
            <a:picLocks noChangeAspect="1" noChangeArrowheads="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588224" y="1007182"/>
            <a:ext cx="915709" cy="79208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815" y="2226509"/>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098799"/>
            <a:ext cx="608855" cy="608855"/>
          </a:xfrm>
          <a:prstGeom prst="rect">
            <a:avLst/>
          </a:prstGeom>
          <a:noFill/>
          <a:extLst>
            <a:ext uri="{909E8E84-426E-40DD-AFC4-6F175D3DCCD1}">
              <a14:hiddenFill xmlns:a14="http://schemas.microsoft.com/office/drawing/2010/main">
                <a:solidFill>
                  <a:srgbClr val="FFFFFF"/>
                </a:solidFill>
              </a14:hiddenFill>
            </a:ext>
          </a:extLst>
        </p:spPr>
      </p:pic>
      <p:pic>
        <p:nvPicPr>
          <p:cNvPr id="9227" name="Picture 11" descr="C:\Users\zhengzuyi\Desktop\__ (2).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71600" y="1857186"/>
            <a:ext cx="642555" cy="7865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907704" y="1367222"/>
            <a:ext cx="4532907" cy="0"/>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874816"/>
            <a:ext cx="0" cy="418774"/>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877639" y="2542679"/>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005505" y="2555560"/>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4987764"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803470"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4288" y="1874816"/>
            <a:ext cx="0" cy="4187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7727" y="329183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491880" y="1995686"/>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08104" y="1923678"/>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803470" y="2283718"/>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7" name="TextBox 66"/>
          <p:cNvSpPr txBox="1"/>
          <p:nvPr/>
        </p:nvSpPr>
        <p:spPr>
          <a:xfrm>
            <a:off x="4988234" y="2283718"/>
            <a:ext cx="15279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Info. Verify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050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1923678"/>
            <a:ext cx="175240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3" name="TextBox 72"/>
          <p:cNvSpPr txBox="1"/>
          <p:nvPr/>
        </p:nvSpPr>
        <p:spPr>
          <a:xfrm>
            <a:off x="4987764" y="2715766"/>
            <a:ext cx="120257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Info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803470" y="2715766"/>
            <a:ext cx="176041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9218" name="Picture 2" descr="C:\Users\zhengzuyi\Desktop\__________.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3616" y="2347714"/>
            <a:ext cx="599407" cy="80010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Users\zhengzuyi\Desktop\__________.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4501" y="2347714"/>
            <a:ext cx="599407" cy="800100"/>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直接箭头连接符 43"/>
          <p:cNvCxnSpPr/>
          <p:nvPr/>
        </p:nvCxnSpPr>
        <p:spPr>
          <a:xfrm flipV="1">
            <a:off x="4547672" y="3240727"/>
            <a:ext cx="0" cy="52438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4644008" y="3240727"/>
            <a:ext cx="0" cy="52438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188288" y="3291830"/>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47" name="TextBox 46"/>
          <p:cNvSpPr txBox="1"/>
          <p:nvPr/>
        </p:nvSpPr>
        <p:spPr>
          <a:xfrm>
            <a:off x="4617806" y="3374870"/>
            <a:ext cx="137730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48" name="直接箭头连接符 47"/>
          <p:cNvCxnSpPr/>
          <p:nvPr/>
        </p:nvCxnSpPr>
        <p:spPr>
          <a:xfrm>
            <a:off x="4932040" y="3060615"/>
            <a:ext cx="162000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978616" y="3045609"/>
            <a:ext cx="1765227"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54" name="TextBox 53"/>
          <p:cNvSpPr txBox="1"/>
          <p:nvPr/>
        </p:nvSpPr>
        <p:spPr>
          <a:xfrm>
            <a:off x="4242301" y="1995686"/>
            <a:ext cx="667170"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UAIS</a:t>
            </a:r>
          </a:p>
        </p:txBody>
      </p:sp>
    </p:spTree>
    <p:extLst>
      <p:ext uri="{BB962C8B-B14F-4D97-AF65-F5344CB8AC3E}">
        <p14:creationId xmlns:p14="http://schemas.microsoft.com/office/powerpoint/2010/main" val="20969046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smtClean="0">
                <a:latin typeface="Georgia" pitchFamily="18" charset="0"/>
                <a:ea typeface="黑体" pitchFamily="49" charset="-122"/>
              </a:rPr>
              <a:t>Consumer</a:t>
            </a:r>
            <a:r>
              <a:rPr lang="zh-CN" altLang="en-US" sz="1800" b="1" dirty="0" smtClean="0">
                <a:latin typeface="Georgia" pitchFamily="18" charset="0"/>
                <a:ea typeface="黑体" pitchFamily="49" charset="-122"/>
              </a:rPr>
              <a:t> </a:t>
            </a:r>
            <a:r>
              <a:rPr lang="en-US" altLang="zh-CN" sz="1800" b="1" dirty="0" smtClean="0">
                <a:latin typeface="Georgia" pitchFamily="18" charset="0"/>
                <a:ea typeface="黑体" pitchFamily="49" charset="-122"/>
              </a:rPr>
              <a:t>Presented (JSON)</a:t>
            </a:r>
            <a:endParaRPr lang="zh-CN" altLang="en-US" sz="1800" b="1" dirty="0">
              <a:latin typeface="Georgia" pitchFamily="18" charset="0"/>
              <a:ea typeface="黑体" pitchFamily="49" charset="-122"/>
            </a:endParaRPr>
          </a:p>
        </p:txBody>
      </p:sp>
      <p:pic>
        <p:nvPicPr>
          <p:cNvPr id="7"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2815" y="2226509"/>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907704" y="1367222"/>
            <a:ext cx="4532907" cy="0"/>
          </a:xfrm>
          <a:prstGeom prst="straightConnector1">
            <a:avLst/>
          </a:prstGeom>
          <a:ln w="1587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874816"/>
            <a:ext cx="0" cy="418774"/>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877639" y="2542679"/>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5005505" y="2555560"/>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803470"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4288" y="1874816"/>
            <a:ext cx="0" cy="4187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7727" y="329183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08104" y="1923678"/>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803470" y="2283718"/>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7" name="TextBox 66"/>
          <p:cNvSpPr txBox="1"/>
          <p:nvPr/>
        </p:nvSpPr>
        <p:spPr>
          <a:xfrm>
            <a:off x="4988234" y="2283718"/>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050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1923678"/>
            <a:ext cx="175240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803470" y="2715766"/>
            <a:ext cx="174438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4.1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9218" name="Picture 2" descr="C:\Users\zhengzuyi\Desktop\__________.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616" y="2347714"/>
            <a:ext cx="599407" cy="80010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Users\zhengzuyi\Desktop\__________.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4501" y="2347714"/>
            <a:ext cx="599407" cy="800100"/>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直接箭头连接符 44"/>
          <p:cNvCxnSpPr/>
          <p:nvPr/>
        </p:nvCxnSpPr>
        <p:spPr>
          <a:xfrm flipV="1">
            <a:off x="4644008" y="3240727"/>
            <a:ext cx="0" cy="524381"/>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617806" y="3405649"/>
            <a:ext cx="1991251"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Payment Request/Response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48" name="直接箭头连接符 47"/>
          <p:cNvCxnSpPr/>
          <p:nvPr/>
        </p:nvCxnSpPr>
        <p:spPr>
          <a:xfrm>
            <a:off x="5078219" y="2730772"/>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004048" y="2715766"/>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42" name="TextBox 41"/>
          <p:cNvSpPr txBox="1"/>
          <p:nvPr/>
        </p:nvSpPr>
        <p:spPr>
          <a:xfrm>
            <a:off x="3491880" y="1995686"/>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4" name="TextBox 53"/>
          <p:cNvSpPr txBox="1"/>
          <p:nvPr/>
        </p:nvSpPr>
        <p:spPr>
          <a:xfrm>
            <a:off x="4242301" y="1995686"/>
            <a:ext cx="667170"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UAIS</a:t>
            </a:r>
          </a:p>
        </p:txBody>
      </p:sp>
      <p:cxnSp>
        <p:nvCxnSpPr>
          <p:cNvPr id="56" name="直接箭头连接符 55"/>
          <p:cNvCxnSpPr/>
          <p:nvPr/>
        </p:nvCxnSpPr>
        <p:spPr>
          <a:xfrm flipV="1">
            <a:off x="3851920" y="3249538"/>
            <a:ext cx="0" cy="524381"/>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779912" y="3251760"/>
            <a:ext cx="990977" cy="400110"/>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Additional</a:t>
            </a:r>
          </a:p>
          <a:p>
            <a:r>
              <a:rPr lang="en-US" altLang="zh-CN" sz="1000" dirty="0" smtClean="0">
                <a:solidFill>
                  <a:schemeClr val="tx1">
                    <a:lumMod val="85000"/>
                    <a:lumOff val="15000"/>
                  </a:schemeClr>
                </a:solidFill>
                <a:latin typeface="Georgia" panose="02040502050405020303" pitchFamily="18" charset="0"/>
                <a:ea typeface="黑体" pitchFamily="49" charset="-122"/>
              </a:rPr>
              <a:t>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59" name="TextBox 58"/>
          <p:cNvSpPr txBox="1"/>
          <p:nvPr/>
        </p:nvSpPr>
        <p:spPr>
          <a:xfrm>
            <a:off x="2835792" y="3251760"/>
            <a:ext cx="901209" cy="400110"/>
          </a:xfrm>
          <a:prstGeom prst="rect">
            <a:avLst/>
          </a:prstGeom>
        </p:spPr>
        <p:txBody>
          <a:bodyPr wrap="none" rtlCol="0">
            <a:spAutoFit/>
          </a:bodyPr>
          <a:lstStyle/>
          <a:p>
            <a:pPr algn="r"/>
            <a:r>
              <a:rPr lang="en-US" altLang="zh-CN" sz="1000" dirty="0" smtClean="0">
                <a:solidFill>
                  <a:schemeClr val="tx1">
                    <a:lumMod val="85000"/>
                    <a:lumOff val="15000"/>
                  </a:schemeClr>
                </a:solidFill>
                <a:latin typeface="Georgia" panose="02040502050405020303" pitchFamily="18" charset="0"/>
                <a:ea typeface="黑体" pitchFamily="49" charset="-122"/>
              </a:rPr>
              <a:t>4.0 Payment</a:t>
            </a:r>
          </a:p>
          <a:p>
            <a:pPr algn="r"/>
            <a:r>
              <a:rPr lang="en-US" altLang="zh-CN" sz="1000" dirty="0" smtClean="0">
                <a:solidFill>
                  <a:schemeClr val="tx1">
                    <a:lumMod val="85000"/>
                    <a:lumOff val="15000"/>
                  </a:schemeClr>
                </a:solidFill>
                <a:latin typeface="Georgia" panose="02040502050405020303" pitchFamily="18" charset="0"/>
                <a:ea typeface="黑体" pitchFamily="49" charset="-122"/>
              </a:rPr>
              <a:t>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60" name="直接箭头连接符 59"/>
          <p:cNvCxnSpPr/>
          <p:nvPr/>
        </p:nvCxnSpPr>
        <p:spPr>
          <a:xfrm flipV="1">
            <a:off x="3779912" y="3249537"/>
            <a:ext cx="0" cy="524381"/>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4"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1775" y="768932"/>
            <a:ext cx="1094561" cy="1082738"/>
          </a:xfrm>
          <a:prstGeom prst="rect">
            <a:avLst/>
          </a:prstGeom>
          <a:noFill/>
          <a:ln>
            <a:noFill/>
          </a:ln>
          <a:scene3d>
            <a:camera prst="orthographicFront">
              <a:rot lat="0" lon="0" rev="10799999"/>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11" descr="C:\Users\zhengzuyi\Desktop\__ (2).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1868" y="1259879"/>
            <a:ext cx="1027532" cy="128931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0" descr="C:\Users\zhengzuyi\Desktop\____.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91208" y="1458839"/>
            <a:ext cx="608855" cy="608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787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 xmlns:a16="http://schemas.microsoft.com/office/drawing/2014/main" id="{8C7DF0E1-CB18-461D-B860-14A95DDB7318}"/>
              </a:ext>
            </a:extLst>
          </p:cNvPr>
          <p:cNvSpPr/>
          <p:nvPr/>
        </p:nvSpPr>
        <p:spPr>
          <a:xfrm>
            <a:off x="4330984" y="940235"/>
            <a:ext cx="2376264" cy="2351595"/>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itchFamily="18" charset="0"/>
            </a:endParaRPr>
          </a:p>
        </p:txBody>
      </p:sp>
      <p:sp>
        <p:nvSpPr>
          <p:cNvPr id="4" name="矩形: 圆角 3">
            <a:extLst>
              <a:ext uri="{FF2B5EF4-FFF2-40B4-BE49-F238E27FC236}">
                <a16:creationId xmlns="" xmlns:a16="http://schemas.microsoft.com/office/drawing/2014/main" id="{DB6A5DE0-B11B-47C6-9AE1-A9D71BD4ADB3}"/>
              </a:ext>
            </a:extLst>
          </p:cNvPr>
          <p:cNvSpPr/>
          <p:nvPr/>
        </p:nvSpPr>
        <p:spPr>
          <a:xfrm>
            <a:off x="4925416" y="1707654"/>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chemeClr val="tx1"/>
                </a:solidFill>
                <a:latin typeface="Georgia" pitchFamily="18" charset="0"/>
              </a:rPr>
              <a:t>Merchant APP</a:t>
            </a:r>
            <a:endParaRPr lang="zh-CN" altLang="en-US" sz="1200" dirty="0">
              <a:solidFill>
                <a:schemeClr val="tx1"/>
              </a:solidFill>
              <a:latin typeface="Georgia" pitchFamily="18" charset="0"/>
            </a:endParaRPr>
          </a:p>
        </p:txBody>
      </p:sp>
      <p:sp>
        <p:nvSpPr>
          <p:cNvPr id="10" name="矩形: 圆角 9">
            <a:extLst>
              <a:ext uri="{FF2B5EF4-FFF2-40B4-BE49-F238E27FC236}">
                <a16:creationId xmlns="" xmlns:a16="http://schemas.microsoft.com/office/drawing/2014/main" id="{FF2D0BE1-D3C7-430B-908A-A49140293E19}"/>
              </a:ext>
            </a:extLst>
          </p:cNvPr>
          <p:cNvSpPr/>
          <p:nvPr/>
        </p:nvSpPr>
        <p:spPr>
          <a:xfrm>
            <a:off x="4925417" y="2571750"/>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chemeClr val="tx1"/>
                </a:solidFill>
                <a:latin typeface="Georgia" pitchFamily="18" charset="0"/>
              </a:rPr>
              <a:t>Backend Server</a:t>
            </a:r>
            <a:endParaRPr lang="zh-CN" altLang="en-US" sz="1200" dirty="0">
              <a:solidFill>
                <a:schemeClr val="tx1"/>
              </a:solidFill>
              <a:latin typeface="Georgia" pitchFamily="18" charset="0"/>
            </a:endParaRPr>
          </a:p>
        </p:txBody>
      </p:sp>
      <p:sp>
        <p:nvSpPr>
          <p:cNvPr id="13" name="矩形: 圆角 12">
            <a:extLst>
              <a:ext uri="{FF2B5EF4-FFF2-40B4-BE49-F238E27FC236}">
                <a16:creationId xmlns="" xmlns:a16="http://schemas.microsoft.com/office/drawing/2014/main" id="{161017E1-A693-4685-8982-01B63F724B1D}"/>
              </a:ext>
            </a:extLst>
          </p:cNvPr>
          <p:cNvSpPr/>
          <p:nvPr/>
        </p:nvSpPr>
        <p:spPr>
          <a:xfrm>
            <a:off x="2778423" y="2571750"/>
            <a:ext cx="1224136" cy="504056"/>
          </a:xfrm>
          <a:prstGeom prst="roundRect">
            <a:avLst/>
          </a:prstGeom>
          <a:noFill/>
          <a:ln>
            <a:solidFill>
              <a:schemeClr val="accent5">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smtClean="0">
                <a:solidFill>
                  <a:schemeClr val="tx1"/>
                </a:solidFill>
                <a:latin typeface="Georgia" pitchFamily="18" charset="0"/>
              </a:rPr>
              <a:t>UMPS</a:t>
            </a:r>
          </a:p>
        </p:txBody>
      </p:sp>
      <p:sp>
        <p:nvSpPr>
          <p:cNvPr id="8" name="文本框 7">
            <a:extLst>
              <a:ext uri="{FF2B5EF4-FFF2-40B4-BE49-F238E27FC236}">
                <a16:creationId xmlns="" xmlns:a16="http://schemas.microsoft.com/office/drawing/2014/main" id="{D68368BD-88E6-452E-98F3-C23A3B41E450}"/>
              </a:ext>
            </a:extLst>
          </p:cNvPr>
          <p:cNvSpPr txBox="1"/>
          <p:nvPr/>
        </p:nvSpPr>
        <p:spPr>
          <a:xfrm>
            <a:off x="4427984" y="1009940"/>
            <a:ext cx="2213879" cy="584775"/>
          </a:xfrm>
          <a:prstGeom prst="rect">
            <a:avLst/>
          </a:prstGeom>
        </p:spPr>
        <p:txBody>
          <a:bodyPr wrap="square" rtlCol="0">
            <a:spAutoFit/>
          </a:bodyPr>
          <a:lstStyle/>
          <a:p>
            <a:pPr algn="ctr"/>
            <a:r>
              <a:rPr lang="en-US" altLang="zh-CN" sz="1600" b="1" dirty="0">
                <a:solidFill>
                  <a:srgbClr val="3072AE"/>
                </a:solidFill>
                <a:latin typeface="Georgia" pitchFamily="18" charset="0"/>
                <a:ea typeface="黑体" pitchFamily="49" charset="-122"/>
              </a:rPr>
              <a:t>QR Code Gateway Service Platform</a:t>
            </a:r>
            <a:endParaRPr lang="zh-CN" altLang="en-US" sz="1600" b="1" dirty="0">
              <a:solidFill>
                <a:srgbClr val="3072AE"/>
              </a:solidFill>
              <a:latin typeface="Georgia" pitchFamily="18" charset="0"/>
              <a:ea typeface="黑体" pitchFamily="49" charset="-122"/>
            </a:endParaRPr>
          </a:p>
        </p:txBody>
      </p:sp>
      <p:cxnSp>
        <p:nvCxnSpPr>
          <p:cNvPr id="11" name="直接箭头连接符 10">
            <a:extLst>
              <a:ext uri="{FF2B5EF4-FFF2-40B4-BE49-F238E27FC236}">
                <a16:creationId xmlns="" xmlns:a16="http://schemas.microsoft.com/office/drawing/2014/main" id="{25450A52-B46E-476D-BA93-E6156E9590FF}"/>
              </a:ext>
            </a:extLst>
          </p:cNvPr>
          <p:cNvCxnSpPr/>
          <p:nvPr/>
        </p:nvCxnSpPr>
        <p:spPr>
          <a:xfrm>
            <a:off x="3995936" y="2823778"/>
            <a:ext cx="929480" cy="0"/>
          </a:xfrm>
          <a:prstGeom prst="straightConnector1">
            <a:avLst/>
          </a:prstGeom>
          <a:ln w="25400">
            <a:solidFill>
              <a:srgbClr val="F5846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 xmlns:a16="http://schemas.microsoft.com/office/drawing/2014/main" id="{7EA6A2CE-7D0C-4BDF-B352-84ACA8C8BC06}"/>
              </a:ext>
            </a:extLst>
          </p:cNvPr>
          <p:cNvCxnSpPr>
            <a:stCxn id="4" idx="2"/>
            <a:endCxn id="10" idx="0"/>
          </p:cNvCxnSpPr>
          <p:nvPr/>
        </p:nvCxnSpPr>
        <p:spPr>
          <a:xfrm>
            <a:off x="5537484" y="2211710"/>
            <a:ext cx="1" cy="36004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矩形: 圆角 19">
            <a:extLst>
              <a:ext uri="{FF2B5EF4-FFF2-40B4-BE49-F238E27FC236}">
                <a16:creationId xmlns="" xmlns:a16="http://schemas.microsoft.com/office/drawing/2014/main" id="{0FDDA24B-9FA8-4898-BC4A-FDAF09F9A09F}"/>
              </a:ext>
            </a:extLst>
          </p:cNvPr>
          <p:cNvSpPr/>
          <p:nvPr/>
        </p:nvSpPr>
        <p:spPr>
          <a:xfrm>
            <a:off x="2778423" y="3867894"/>
            <a:ext cx="1224136" cy="510746"/>
          </a:xfrm>
          <a:prstGeom prst="roundRect">
            <a:avLst/>
          </a:prstGeom>
          <a:noFill/>
          <a:ln>
            <a:solidFill>
              <a:schemeClr val="accent5">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smtClean="0">
                <a:solidFill>
                  <a:schemeClr val="tx1"/>
                </a:solidFill>
                <a:latin typeface="Georgia" pitchFamily="18" charset="0"/>
              </a:rPr>
              <a:t>GSCS</a:t>
            </a:r>
            <a:endParaRPr lang="zh-CN" altLang="en-US" sz="1200" dirty="0">
              <a:solidFill>
                <a:schemeClr val="tx1"/>
              </a:solidFill>
              <a:latin typeface="Georgia" pitchFamily="18" charset="0"/>
            </a:endParaRPr>
          </a:p>
        </p:txBody>
      </p:sp>
      <p:sp>
        <p:nvSpPr>
          <p:cNvPr id="36" name="矩形: 圆角 3">
            <a:extLst>
              <a:ext uri="{FF2B5EF4-FFF2-40B4-BE49-F238E27FC236}">
                <a16:creationId xmlns="" xmlns:a16="http://schemas.microsoft.com/office/drawing/2014/main" id="{DB6A5DE0-B11B-47C6-9AE1-A9D71BD4ADB3}"/>
              </a:ext>
            </a:extLst>
          </p:cNvPr>
          <p:cNvSpPr/>
          <p:nvPr/>
        </p:nvSpPr>
        <p:spPr>
          <a:xfrm>
            <a:off x="611982" y="1707654"/>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rgbClr val="FF0000"/>
                </a:solidFill>
                <a:latin typeface="Georgia" pitchFamily="18" charset="0"/>
              </a:rPr>
              <a:t>Cardholder</a:t>
            </a:r>
            <a:r>
              <a:rPr lang="en-US" altLang="zh-CN" sz="1200" dirty="0">
                <a:solidFill>
                  <a:schemeClr val="tx1"/>
                </a:solidFill>
                <a:latin typeface="Georgia" pitchFamily="18" charset="0"/>
              </a:rPr>
              <a:t> APP</a:t>
            </a:r>
            <a:endParaRPr lang="zh-CN" altLang="en-US" sz="1200" dirty="0">
              <a:solidFill>
                <a:schemeClr val="tx1"/>
              </a:solidFill>
              <a:latin typeface="Georgia" pitchFamily="18" charset="0"/>
            </a:endParaRPr>
          </a:p>
        </p:txBody>
      </p:sp>
      <p:sp>
        <p:nvSpPr>
          <p:cNvPr id="37" name="矩形: 圆角 9">
            <a:extLst>
              <a:ext uri="{FF2B5EF4-FFF2-40B4-BE49-F238E27FC236}">
                <a16:creationId xmlns="" xmlns:a16="http://schemas.microsoft.com/office/drawing/2014/main" id="{FF2D0BE1-D3C7-430B-908A-A49140293E19}"/>
              </a:ext>
            </a:extLst>
          </p:cNvPr>
          <p:cNvSpPr/>
          <p:nvPr/>
        </p:nvSpPr>
        <p:spPr>
          <a:xfrm>
            <a:off x="612404" y="2571750"/>
            <a:ext cx="1224136" cy="498831"/>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chemeClr val="tx1"/>
                </a:solidFill>
                <a:latin typeface="Georgia" pitchFamily="18" charset="0"/>
              </a:rPr>
              <a:t>APP Gateway</a:t>
            </a:r>
            <a:endParaRPr lang="zh-CN" altLang="en-US" sz="1200" dirty="0">
              <a:solidFill>
                <a:schemeClr val="tx1"/>
              </a:solidFill>
              <a:latin typeface="Georgia" pitchFamily="18" charset="0"/>
            </a:endParaRPr>
          </a:p>
        </p:txBody>
      </p:sp>
      <p:cxnSp>
        <p:nvCxnSpPr>
          <p:cNvPr id="38" name="直接箭头连接符 37">
            <a:extLst>
              <a:ext uri="{FF2B5EF4-FFF2-40B4-BE49-F238E27FC236}">
                <a16:creationId xmlns="" xmlns:a16="http://schemas.microsoft.com/office/drawing/2014/main" id="{7EA6A2CE-7D0C-4BDF-B352-84ACA8C8BC06}"/>
              </a:ext>
            </a:extLst>
          </p:cNvPr>
          <p:cNvCxnSpPr>
            <a:stCxn id="36" idx="2"/>
            <a:endCxn id="37" idx="0"/>
          </p:cNvCxnSpPr>
          <p:nvPr/>
        </p:nvCxnSpPr>
        <p:spPr>
          <a:xfrm>
            <a:off x="1224050" y="2211710"/>
            <a:ext cx="422" cy="36004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835696" y="4123267"/>
            <a:ext cx="941883" cy="261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矩形: 圆角 9">
            <a:extLst>
              <a:ext uri="{FF2B5EF4-FFF2-40B4-BE49-F238E27FC236}">
                <a16:creationId xmlns="" xmlns:a16="http://schemas.microsoft.com/office/drawing/2014/main" id="{FF2D0BE1-D3C7-430B-908A-A49140293E19}"/>
              </a:ext>
            </a:extLst>
          </p:cNvPr>
          <p:cNvSpPr/>
          <p:nvPr/>
        </p:nvSpPr>
        <p:spPr>
          <a:xfrm>
            <a:off x="611560" y="3867894"/>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rgbClr val="ED171F"/>
                </a:solidFill>
                <a:latin typeface="Georgia" pitchFamily="18" charset="0"/>
              </a:rPr>
              <a:t>Issuer</a:t>
            </a:r>
            <a:endParaRPr lang="zh-CN" altLang="en-US" sz="1200" dirty="0">
              <a:solidFill>
                <a:srgbClr val="ED171F"/>
              </a:solidFill>
              <a:latin typeface="Georgia" pitchFamily="18" charset="0"/>
            </a:endParaRPr>
          </a:p>
        </p:txBody>
      </p:sp>
      <p:sp>
        <p:nvSpPr>
          <p:cNvPr id="48" name="矩形: 圆角 9">
            <a:extLst>
              <a:ext uri="{FF2B5EF4-FFF2-40B4-BE49-F238E27FC236}">
                <a16:creationId xmlns="" xmlns:a16="http://schemas.microsoft.com/office/drawing/2014/main" id="{FF2D0BE1-D3C7-430B-908A-A49140293E19}"/>
              </a:ext>
            </a:extLst>
          </p:cNvPr>
          <p:cNvSpPr/>
          <p:nvPr/>
        </p:nvSpPr>
        <p:spPr>
          <a:xfrm>
            <a:off x="6804248" y="2571750"/>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rgbClr val="ED171F"/>
                </a:solidFill>
                <a:latin typeface="Georgia" pitchFamily="18" charset="0"/>
              </a:rPr>
              <a:t>Acquirer</a:t>
            </a:r>
            <a:endParaRPr lang="zh-CN" altLang="en-US" sz="1200" dirty="0">
              <a:solidFill>
                <a:srgbClr val="ED171F"/>
              </a:solidFill>
              <a:latin typeface="Georgia" pitchFamily="18" charset="0"/>
            </a:endParaRPr>
          </a:p>
        </p:txBody>
      </p:sp>
      <p:cxnSp>
        <p:nvCxnSpPr>
          <p:cNvPr id="55" name="直接箭头连接符 54"/>
          <p:cNvCxnSpPr/>
          <p:nvPr/>
        </p:nvCxnSpPr>
        <p:spPr>
          <a:xfrm flipH="1">
            <a:off x="4002559" y="2931790"/>
            <a:ext cx="929482" cy="1008112"/>
          </a:xfrm>
          <a:prstGeom prst="straightConnector1">
            <a:avLst/>
          </a:prstGeom>
          <a:ln w="25400">
            <a:solidFill>
              <a:srgbClr val="F5846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 xmlns:a16="http://schemas.microsoft.com/office/drawing/2014/main" id="{25450A52-B46E-476D-BA93-E6156E9590FF}"/>
              </a:ext>
            </a:extLst>
          </p:cNvPr>
          <p:cNvCxnSpPr>
            <a:stCxn id="20" idx="3"/>
          </p:cNvCxnSpPr>
          <p:nvPr/>
        </p:nvCxnSpPr>
        <p:spPr>
          <a:xfrm flipV="1">
            <a:off x="4002559" y="3075806"/>
            <a:ext cx="2801689" cy="1047461"/>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矩形: 圆角 3">
            <a:extLst>
              <a:ext uri="{FF2B5EF4-FFF2-40B4-BE49-F238E27FC236}">
                <a16:creationId xmlns="" xmlns:a16="http://schemas.microsoft.com/office/drawing/2014/main" id="{DB6A5DE0-B11B-47C6-9AE1-A9D71BD4ADB3}"/>
              </a:ext>
            </a:extLst>
          </p:cNvPr>
          <p:cNvSpPr/>
          <p:nvPr/>
        </p:nvSpPr>
        <p:spPr>
          <a:xfrm>
            <a:off x="6804248" y="1707654"/>
            <a:ext cx="1224136" cy="504056"/>
          </a:xfrm>
          <a:prstGeom prst="roundRect">
            <a:avLst/>
          </a:prstGeom>
          <a:noFill/>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dirty="0">
                <a:solidFill>
                  <a:srgbClr val="FF0000"/>
                </a:solidFill>
                <a:latin typeface="Georgia" pitchFamily="18" charset="0"/>
              </a:rPr>
              <a:t>Merchant</a:t>
            </a:r>
            <a:r>
              <a:rPr lang="en-US" altLang="zh-CN" sz="1200" dirty="0">
                <a:solidFill>
                  <a:schemeClr val="tx1"/>
                </a:solidFill>
                <a:latin typeface="Georgia" pitchFamily="18" charset="0"/>
              </a:rPr>
              <a:t> </a:t>
            </a:r>
            <a:endParaRPr lang="en-US" altLang="zh-CN" sz="1200" dirty="0" smtClean="0">
              <a:solidFill>
                <a:schemeClr val="tx1"/>
              </a:solidFill>
              <a:latin typeface="Georgia" pitchFamily="18" charset="0"/>
            </a:endParaRPr>
          </a:p>
          <a:p>
            <a:pPr algn="ctr"/>
            <a:r>
              <a:rPr lang="en-US" altLang="zh-CN" sz="1200" dirty="0" smtClean="0">
                <a:solidFill>
                  <a:schemeClr val="tx1"/>
                </a:solidFill>
                <a:latin typeface="Georgia" pitchFamily="18" charset="0"/>
              </a:rPr>
              <a:t>APP</a:t>
            </a:r>
            <a:endParaRPr lang="zh-CN" altLang="en-US" sz="1200" dirty="0">
              <a:solidFill>
                <a:schemeClr val="tx1"/>
              </a:solidFill>
              <a:latin typeface="Georgia" pitchFamily="18" charset="0"/>
            </a:endParaRPr>
          </a:p>
        </p:txBody>
      </p:sp>
      <p:cxnSp>
        <p:nvCxnSpPr>
          <p:cNvPr id="31" name="直接箭头连接符 30">
            <a:extLst>
              <a:ext uri="{FF2B5EF4-FFF2-40B4-BE49-F238E27FC236}">
                <a16:creationId xmlns="" xmlns:a16="http://schemas.microsoft.com/office/drawing/2014/main" id="{7EA6A2CE-7D0C-4BDF-B352-84ACA8C8BC06}"/>
              </a:ext>
            </a:extLst>
          </p:cNvPr>
          <p:cNvCxnSpPr>
            <a:stCxn id="48" idx="0"/>
            <a:endCxn id="30" idx="2"/>
          </p:cNvCxnSpPr>
          <p:nvPr/>
        </p:nvCxnSpPr>
        <p:spPr>
          <a:xfrm flipV="1">
            <a:off x="7416316" y="2211710"/>
            <a:ext cx="0" cy="36004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endCxn id="48" idx="1"/>
          </p:cNvCxnSpPr>
          <p:nvPr/>
        </p:nvCxnSpPr>
        <p:spPr>
          <a:xfrm>
            <a:off x="3995936" y="2812038"/>
            <a:ext cx="2808312" cy="1174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5796136" y="4094951"/>
            <a:ext cx="2330658" cy="276999"/>
          </a:xfrm>
          <a:prstGeom prst="rect">
            <a:avLst/>
          </a:prstGeom>
        </p:spPr>
        <p:txBody>
          <a:bodyPr wrap="square" rtlCol="0">
            <a:spAutoFit/>
          </a:bodyPr>
          <a:lstStyle/>
          <a:p>
            <a:r>
              <a:rPr lang="en-US" altLang="zh-CN" sz="1200" b="1" dirty="0">
                <a:latin typeface="Georgia" pitchFamily="18" charset="0"/>
                <a:ea typeface="黑体" pitchFamily="49" charset="-122"/>
              </a:rPr>
              <a:t>Indirectly-connected mode</a:t>
            </a:r>
          </a:p>
        </p:txBody>
      </p:sp>
      <p:sp>
        <p:nvSpPr>
          <p:cNvPr id="64" name="TextBox 63"/>
          <p:cNvSpPr txBox="1"/>
          <p:nvPr/>
        </p:nvSpPr>
        <p:spPr>
          <a:xfrm>
            <a:off x="5796136" y="4083918"/>
            <a:ext cx="2520279" cy="461665"/>
          </a:xfrm>
          <a:prstGeom prst="rect">
            <a:avLst/>
          </a:prstGeom>
        </p:spPr>
        <p:txBody>
          <a:bodyPr wrap="square" rtlCol="0">
            <a:spAutoFit/>
          </a:bodyPr>
          <a:lstStyle/>
          <a:p>
            <a:r>
              <a:rPr lang="en-US" altLang="zh-CN" sz="1200" b="1" dirty="0">
                <a:solidFill>
                  <a:srgbClr val="EF856D"/>
                </a:solidFill>
                <a:latin typeface="Georgia" pitchFamily="18" charset="0"/>
                <a:ea typeface="黑体" pitchFamily="49" charset="-122"/>
              </a:rPr>
              <a:t>Directly-connected mode</a:t>
            </a:r>
          </a:p>
          <a:p>
            <a:endParaRPr lang="en-US" altLang="zh-CN" sz="1200" b="1" dirty="0">
              <a:latin typeface="Georgia" pitchFamily="18" charset="0"/>
              <a:ea typeface="黑体" pitchFamily="49" charset="-122"/>
            </a:endParaRPr>
          </a:p>
        </p:txBody>
      </p:sp>
      <p:sp>
        <p:nvSpPr>
          <p:cNvPr id="65" name="TextBox 64"/>
          <p:cNvSpPr txBox="1"/>
          <p:nvPr/>
        </p:nvSpPr>
        <p:spPr>
          <a:xfrm>
            <a:off x="524156" y="1194306"/>
            <a:ext cx="3543788" cy="369332"/>
          </a:xfrm>
          <a:prstGeom prst="rect">
            <a:avLst/>
          </a:prstGeom>
        </p:spPr>
        <p:txBody>
          <a:bodyPr wrap="square" rtlCol="0">
            <a:spAutoFit/>
          </a:bodyPr>
          <a:lstStyle/>
          <a:p>
            <a:r>
              <a:rPr lang="en-US" altLang="zh-CN" b="1" dirty="0">
                <a:solidFill>
                  <a:schemeClr val="tx1">
                    <a:lumMod val="75000"/>
                    <a:lumOff val="25000"/>
                  </a:schemeClr>
                </a:solidFill>
                <a:latin typeface="Georgia" pitchFamily="18" charset="0"/>
                <a:ea typeface="黑体" pitchFamily="49" charset="-122"/>
              </a:rPr>
              <a:t>Stick to 4-Party Model</a:t>
            </a:r>
            <a:endParaRPr lang="zh-CN" altLang="en-US" b="1" dirty="0">
              <a:solidFill>
                <a:schemeClr val="tx1">
                  <a:lumMod val="75000"/>
                  <a:lumOff val="25000"/>
                </a:schemeClr>
              </a:solidFill>
              <a:latin typeface="Georgia" pitchFamily="18" charset="0"/>
              <a:ea typeface="黑体" pitchFamily="49" charset="-122"/>
            </a:endParaRPr>
          </a:p>
        </p:txBody>
      </p:sp>
      <p:sp>
        <p:nvSpPr>
          <p:cNvPr id="28" name="标题 1"/>
          <p:cNvSpPr txBox="1">
            <a:spLocks/>
          </p:cNvSpPr>
          <p:nvPr/>
        </p:nvSpPr>
        <p:spPr bwMode="auto">
          <a:xfrm>
            <a:off x="395297" y="123826"/>
            <a:ext cx="741734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r>
              <a:rPr lang="en-US" altLang="zh-CN" sz="2500" b="1" dirty="0">
                <a:solidFill>
                  <a:srgbClr val="2E5C9E"/>
                </a:solidFill>
                <a:latin typeface="Georgia" pitchFamily="18" charset="0"/>
                <a:ea typeface="黑体" pitchFamily="49" charset="-122"/>
              </a:rPr>
              <a:t>QR Code Gateway Service Platform</a:t>
            </a:r>
          </a:p>
        </p:txBody>
      </p:sp>
      <p:cxnSp>
        <p:nvCxnSpPr>
          <p:cNvPr id="33" name="直接箭头连接符 32"/>
          <p:cNvCxnSpPr/>
          <p:nvPr/>
        </p:nvCxnSpPr>
        <p:spPr>
          <a:xfrm>
            <a:off x="1835695" y="2839219"/>
            <a:ext cx="941883" cy="2612"/>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74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xit" presetSubtype="0" fill="hold" nodeType="withEffect">
                                  <p:stCondLst>
                                    <p:cond delay="0"/>
                                  </p:stCondLst>
                                  <p:childTnLst>
                                    <p:animEffect transition="out" filter="fade">
                                      <p:cBhvr>
                                        <p:cTn id="27" dur="500"/>
                                        <p:tgtEl>
                                          <p:spTgt spid="60"/>
                                        </p:tgtEl>
                                      </p:cBhvr>
                                    </p:animEffect>
                                    <p:set>
                                      <p:cBhvr>
                                        <p:cTn id="28" dur="1" fill="hold">
                                          <p:stCondLst>
                                            <p:cond delay="499"/>
                                          </p:stCondLst>
                                        </p:cTn>
                                        <p:tgtEl>
                                          <p:spTgt spid="60"/>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30"/>
                                        </p:tgtEl>
                                      </p:cBhvr>
                                    </p:animEffect>
                                    <p:set>
                                      <p:cBhvr>
                                        <p:cTn id="31" dur="1" fill="hold">
                                          <p:stCondLst>
                                            <p:cond delay="499"/>
                                          </p:stCondLst>
                                        </p:cTn>
                                        <p:tgtEl>
                                          <p:spTgt spid="30"/>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31"/>
                                        </p:tgtEl>
                                      </p:cBhvr>
                                    </p:animEffect>
                                    <p:set>
                                      <p:cBhvr>
                                        <p:cTn id="34" dur="1" fill="hold">
                                          <p:stCondLst>
                                            <p:cond delay="499"/>
                                          </p:stCondLst>
                                        </p:cTn>
                                        <p:tgtEl>
                                          <p:spTgt spid="31"/>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48"/>
                                        </p:tgtEl>
                                      </p:cBhvr>
                                    </p:animEffect>
                                    <p:set>
                                      <p:cBhvr>
                                        <p:cTn id="37" dur="1" fill="hold">
                                          <p:stCondLst>
                                            <p:cond delay="499"/>
                                          </p:stCondLst>
                                        </p:cTn>
                                        <p:tgtEl>
                                          <p:spTgt spid="48"/>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fade">
                                      <p:cBhvr>
                                        <p:cTn id="43" dur="500"/>
                                        <p:tgtEl>
                                          <p:spTgt spid="64"/>
                                        </p:tgtEl>
                                      </p:cBhvr>
                                    </p:animEffect>
                                  </p:childTnLst>
                                </p:cTn>
                              </p:par>
                              <p:par>
                                <p:cTn id="44" presetID="10" presetClass="exit" presetSubtype="0" fill="hold" grpId="0" nodeType="withEffect">
                                  <p:stCondLst>
                                    <p:cond delay="0"/>
                                  </p:stCondLst>
                                  <p:childTnLst>
                                    <p:animEffect transition="out" filter="fade">
                                      <p:cBhvr>
                                        <p:cTn id="45" dur="500"/>
                                        <p:tgtEl>
                                          <p:spTgt spid="62"/>
                                        </p:tgtEl>
                                      </p:cBhvr>
                                    </p:animEffect>
                                    <p:set>
                                      <p:cBhvr>
                                        <p:cTn id="46" dur="1" fill="hold">
                                          <p:stCondLst>
                                            <p:cond delay="499"/>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10" grpId="0" animBg="1"/>
      <p:bldP spid="8" grpId="0"/>
      <p:bldP spid="48" grpId="0" animBg="1"/>
      <p:bldP spid="30" grpId="0" animBg="1"/>
      <p:bldP spid="62" grpId="0"/>
      <p:bldP spid="6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2218313"/>
            <a:chOff x="0" y="1563638"/>
            <a:chExt cx="1691680" cy="2218313"/>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smtClean="0">
                  <a:latin typeface="黑体" pitchFamily="49" charset="-122"/>
                  <a:ea typeface="黑体" pitchFamily="49" charset="-122"/>
                </a:rPr>
                <a:t>02</a:t>
              </a:r>
              <a:endParaRPr lang="zh-CN" altLang="en-US" sz="8200" dirty="0">
                <a:latin typeface="黑体" pitchFamily="49" charset="-122"/>
                <a:ea typeface="黑体" pitchFamily="49" charset="-122"/>
              </a:endParaRPr>
            </a:p>
          </p:txBody>
        </p:sp>
      </p:grpSp>
      <p:sp>
        <p:nvSpPr>
          <p:cNvPr id="9" name="文本框 6"/>
          <p:cNvSpPr txBox="1"/>
          <p:nvPr/>
        </p:nvSpPr>
        <p:spPr>
          <a:xfrm>
            <a:off x="1691680" y="3195654"/>
            <a:ext cx="7452320" cy="360483"/>
          </a:xfrm>
          <a:prstGeom prst="rect">
            <a:avLst/>
          </a:prstGeom>
        </p:spPr>
        <p:txBody>
          <a:bodyPr wrap="square" rtlCol="0">
            <a:spAutoFit/>
          </a:bodyPr>
          <a:lstStyle/>
          <a:p>
            <a:pPr>
              <a:lnSpc>
                <a:spcPts val="1800"/>
              </a:lnSpc>
            </a:pPr>
            <a:r>
              <a:rPr lang="en-US" altLang="zh-CN" sz="3200" b="1" dirty="0" smtClean="0">
                <a:solidFill>
                  <a:srgbClr val="2E5C9E"/>
                </a:solidFill>
                <a:latin typeface="Georgia" pitchFamily="18" charset="0"/>
                <a:ea typeface="微软雅黑" panose="020B0503020204020204" pitchFamily="34" charset="-122"/>
                <a:cs typeface="Arial" pitchFamily="34" charset="0"/>
              </a:rPr>
              <a:t>System Implementation</a:t>
            </a:r>
            <a:endParaRPr lang="sv-SE" altLang="zh-CN" sz="32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34449034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descr="C:\Users\zhengzuyi\Desktop\1694586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5436096" y="954028"/>
            <a:ext cx="2961042" cy="1803768"/>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C:\Users\zhengzuyi\Desktop\137523335.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7263"/>
          <a:stretch/>
        </p:blipFill>
        <p:spPr bwMode="auto">
          <a:xfrm>
            <a:off x="579808" y="950990"/>
            <a:ext cx="3201463" cy="180377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anose="02040502050405020303" pitchFamily="18" charset="0"/>
                <a:ea typeface="黑体" pitchFamily="49" charset="-122"/>
              </a:rPr>
              <a:t>Implementation of Issuer</a:t>
            </a:r>
            <a:endParaRPr lang="zh-CN" altLang="en-US" b="1" dirty="0">
              <a:latin typeface="Georgia" panose="02040502050405020303" pitchFamily="18" charset="0"/>
              <a:ea typeface="黑体" pitchFamily="49" charset="-122"/>
            </a:endParaRPr>
          </a:p>
        </p:txBody>
      </p:sp>
      <p:grpSp>
        <p:nvGrpSpPr>
          <p:cNvPr id="9" name="7fab7e61-c191-4754-8dd4-91f93586d31c">
            <a:extLst>
              <a:ext uri="{FF2B5EF4-FFF2-40B4-BE49-F238E27FC236}">
                <a16:creationId xmlns:a16="http://schemas.microsoft.com/office/drawing/2014/main" xmlns:lc="http://schemas.openxmlformats.org/drawingml/2006/lockedCanvas" xmlns="" id="{C8D8F467-976F-4CF0-A762-D7EC075C940A}"/>
              </a:ext>
            </a:extLst>
          </p:cNvPr>
          <p:cNvGrpSpPr>
            <a:grpSpLocks noChangeAspect="1"/>
          </p:cNvGrpSpPr>
          <p:nvPr/>
        </p:nvGrpSpPr>
        <p:grpSpPr>
          <a:xfrm>
            <a:off x="539552" y="950991"/>
            <a:ext cx="8064896" cy="2844895"/>
            <a:chOff x="741250" y="1484784"/>
            <a:chExt cx="10633637" cy="3751020"/>
          </a:xfrm>
        </p:grpSpPr>
        <p:sp>
          <p:nvSpPr>
            <p:cNvPr id="12" name="ïşḻïďê-任意多边形: 形状 15"/>
            <p:cNvSpPr/>
            <p:nvPr/>
          </p:nvSpPr>
          <p:spPr>
            <a:xfrm>
              <a:off x="4010012" y="1484785"/>
              <a:ext cx="1789886" cy="2378284"/>
            </a:xfrm>
            <a:custGeom>
              <a:avLst/>
              <a:gdLst>
                <a:gd name="connsiteX0" fmla="*/ 0 w 21600"/>
                <a:gd name="connsiteY0" fmla="*/ 7 h 21607"/>
                <a:gd name="connsiteX1" fmla="*/ 11937 w 21600"/>
                <a:gd name="connsiteY1" fmla="*/ 21607 h 21607"/>
                <a:gd name="connsiteX2" fmla="*/ 21600 w 21600"/>
                <a:gd name="connsiteY2" fmla="*/ 10558 h 21607"/>
                <a:gd name="connsiteX3" fmla="*/ 11937 w 21600"/>
                <a:gd name="connsiteY3" fmla="*/ 0 h 21607"/>
                <a:gd name="connsiteX4" fmla="*/ 0 w 21600"/>
                <a:gd name="connsiteY4" fmla="*/ 7 h 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1607" extrusionOk="0">
                  <a:moveTo>
                    <a:pt x="0" y="7"/>
                  </a:moveTo>
                  <a:lnTo>
                    <a:pt x="11937" y="21607"/>
                  </a:lnTo>
                  <a:lnTo>
                    <a:pt x="21600" y="10558"/>
                  </a:lnTo>
                  <a:lnTo>
                    <a:pt x="11937" y="0"/>
                  </a:lnTo>
                  <a:lnTo>
                    <a:pt x="0" y="7"/>
                  </a:lnTo>
                  <a:close/>
                </a:path>
              </a:pathLst>
            </a:custGeom>
            <a:solidFill>
              <a:schemeClr val="accent1">
                <a:alpha val="70000"/>
              </a:schemeClr>
            </a:solidFill>
            <a:ln w="25400" cap="flat">
              <a:noFill/>
              <a:miter lim="4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anchor="ctr"/>
            <a:lstStyle/>
            <a:p>
              <a:pPr algn="ctr"/>
              <a:endParaRPr/>
            </a:p>
          </p:txBody>
        </p:sp>
        <p:sp>
          <p:nvSpPr>
            <p:cNvPr id="13" name="ïşḻïďê-任意多边形: 形状 16"/>
            <p:cNvSpPr/>
            <p:nvPr/>
          </p:nvSpPr>
          <p:spPr>
            <a:xfrm rot="10800000" flipH="1">
              <a:off x="4014016" y="1484784"/>
              <a:ext cx="1793540" cy="2382289"/>
            </a:xfrm>
            <a:custGeom>
              <a:avLst/>
              <a:gdLst>
                <a:gd name="connsiteX0" fmla="*/ 0 w 21563"/>
                <a:gd name="connsiteY0" fmla="*/ 0 h 21492"/>
                <a:gd name="connsiteX1" fmla="*/ 11774 w 21563"/>
                <a:gd name="connsiteY1" fmla="*/ 21492 h 21492"/>
                <a:gd name="connsiteX2" fmla="*/ 21563 w 21563"/>
                <a:gd name="connsiteY2" fmla="*/ 11065 h 21492"/>
                <a:gd name="connsiteX3" fmla="*/ 11835 w 21563"/>
                <a:gd name="connsiteY3" fmla="*/ 58 h 21492"/>
                <a:gd name="connsiteX4" fmla="*/ 0 w 21563"/>
                <a:gd name="connsiteY4" fmla="*/ 0 h 21492"/>
                <a:gd name="connsiteX0" fmla="*/ 0 w 21563"/>
                <a:gd name="connsiteY0" fmla="*/ 29 h 21521"/>
                <a:gd name="connsiteX1" fmla="*/ 11774 w 21563"/>
                <a:gd name="connsiteY1" fmla="*/ 21521 h 21521"/>
                <a:gd name="connsiteX2" fmla="*/ 21563 w 21563"/>
                <a:gd name="connsiteY2" fmla="*/ 11094 h 21521"/>
                <a:gd name="connsiteX3" fmla="*/ 11798 w 21563"/>
                <a:gd name="connsiteY3" fmla="*/ 0 h 21521"/>
                <a:gd name="connsiteX4" fmla="*/ 0 w 21563"/>
                <a:gd name="connsiteY4" fmla="*/ 29 h 21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3" h="21521" extrusionOk="0">
                  <a:moveTo>
                    <a:pt x="0" y="29"/>
                  </a:moveTo>
                  <a:lnTo>
                    <a:pt x="11774" y="21521"/>
                  </a:lnTo>
                  <a:lnTo>
                    <a:pt x="21563" y="11094"/>
                  </a:lnTo>
                  <a:lnTo>
                    <a:pt x="11798" y="0"/>
                  </a:lnTo>
                  <a:lnTo>
                    <a:pt x="0" y="29"/>
                  </a:lnTo>
                  <a:close/>
                </a:path>
              </a:pathLst>
            </a:custGeom>
            <a:solidFill>
              <a:schemeClr val="tx1">
                <a:alpha val="70000"/>
              </a:schemeClr>
            </a:solidFill>
            <a:ln w="25400" cap="flat">
              <a:noFill/>
              <a:miter lim="4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anchor="ctr"/>
            <a:lstStyle/>
            <a:p>
              <a:pPr algn="ctr"/>
              <a:endParaRPr/>
            </a:p>
          </p:txBody>
        </p:sp>
        <p:sp>
          <p:nvSpPr>
            <p:cNvPr id="16" name="ïşḻïďê-Rectangle 6"/>
            <p:cNvSpPr/>
            <p:nvPr/>
          </p:nvSpPr>
          <p:spPr>
            <a:xfrm>
              <a:off x="4594827" y="2241829"/>
              <a:ext cx="929935" cy="864195"/>
            </a:xfrm>
            <a:prstGeom prst="rect">
              <a:avLst/>
            </a:prstGeom>
            <a:ln w="12700">
              <a:miter lim="400000"/>
            </a:ln>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C572A759-6A51-4108-AA02-DFA0A04FC94B}">
                <ma14:wrappingTextBoxFlag xmlns:a14="http://schemas.microsoft.com/office/drawing/2010/main" xmlns:a16="http://schemas.microsoft.com/office/drawing/2014/main" xmlns:ma14="http://schemas.microsoft.com/office/mac/drawingml/2011/main" xmlns:p14="http://schemas.microsoft.com/office/powerpoint/2010/main" xmlns:lc="http://schemas.openxmlformats.org/drawingml/2006/lockedCanvas" xmlns="" val="1"/>
              </a:ext>
            </a:extLst>
          </p:spPr>
          <p:txBody>
            <a:bodyPr lIns="25400" tIns="25400" rIns="25400" bIns="25400" anchor="ctr">
              <a:normAutofit/>
            </a:bodyPr>
            <a:lstStyle/>
            <a:p>
              <a:pPr lvl="0" algn="ctr">
                <a:defRPr sz="1800" b="0">
                  <a:solidFill>
                    <a:srgbClr val="000000"/>
                  </a:solidFill>
                </a:defRPr>
              </a:pPr>
              <a:endParaRPr lang="en-US" sz="1600" b="1" dirty="0">
                <a:solidFill>
                  <a:schemeClr val="bg1">
                    <a:lumMod val="100000"/>
                  </a:schemeClr>
                </a:solidFill>
              </a:endParaRPr>
            </a:p>
          </p:txBody>
        </p:sp>
        <p:sp>
          <p:nvSpPr>
            <p:cNvPr id="18" name="ïşḻïďê-任意多边形: 形状 15"/>
            <p:cNvSpPr/>
            <p:nvPr/>
          </p:nvSpPr>
          <p:spPr>
            <a:xfrm flipH="1">
              <a:off x="6388368" y="1484785"/>
              <a:ext cx="1789886" cy="2378284"/>
            </a:xfrm>
            <a:custGeom>
              <a:avLst/>
              <a:gdLst>
                <a:gd name="connsiteX0" fmla="*/ 0 w 21600"/>
                <a:gd name="connsiteY0" fmla="*/ 7 h 21607"/>
                <a:gd name="connsiteX1" fmla="*/ 11937 w 21600"/>
                <a:gd name="connsiteY1" fmla="*/ 21607 h 21607"/>
                <a:gd name="connsiteX2" fmla="*/ 21600 w 21600"/>
                <a:gd name="connsiteY2" fmla="*/ 10558 h 21607"/>
                <a:gd name="connsiteX3" fmla="*/ 11937 w 21600"/>
                <a:gd name="connsiteY3" fmla="*/ 0 h 21607"/>
                <a:gd name="connsiteX4" fmla="*/ 0 w 21600"/>
                <a:gd name="connsiteY4" fmla="*/ 7 h 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1607" extrusionOk="0">
                  <a:moveTo>
                    <a:pt x="0" y="7"/>
                  </a:moveTo>
                  <a:lnTo>
                    <a:pt x="11937" y="21607"/>
                  </a:lnTo>
                  <a:lnTo>
                    <a:pt x="21600" y="10558"/>
                  </a:lnTo>
                  <a:lnTo>
                    <a:pt x="11937" y="0"/>
                  </a:lnTo>
                  <a:lnTo>
                    <a:pt x="0" y="7"/>
                  </a:lnTo>
                  <a:close/>
                </a:path>
              </a:pathLst>
            </a:custGeom>
            <a:solidFill>
              <a:schemeClr val="accent3">
                <a:lumMod val="100000"/>
                <a:alpha val="70000"/>
              </a:schemeClr>
            </a:solidFill>
            <a:ln w="25400" cap="flat">
              <a:noFill/>
              <a:miter lim="400000"/>
            </a:ln>
            <a:effectLst/>
          </p:spPr>
          <p:txBody>
            <a:bodyPr anchor="ctr"/>
            <a:lstStyle/>
            <a:p>
              <a:pPr algn="ctr"/>
              <a:endParaRPr/>
            </a:p>
          </p:txBody>
        </p:sp>
        <p:sp>
          <p:nvSpPr>
            <p:cNvPr id="19" name="ïşḻïďê-任意多边形: 形状 16"/>
            <p:cNvSpPr/>
            <p:nvPr/>
          </p:nvSpPr>
          <p:spPr>
            <a:xfrm rot="10800000">
              <a:off x="6380710" y="1484784"/>
              <a:ext cx="1793540" cy="2382289"/>
            </a:xfrm>
            <a:custGeom>
              <a:avLst/>
              <a:gdLst>
                <a:gd name="connsiteX0" fmla="*/ 0 w 21563"/>
                <a:gd name="connsiteY0" fmla="*/ 0 h 21492"/>
                <a:gd name="connsiteX1" fmla="*/ 11774 w 21563"/>
                <a:gd name="connsiteY1" fmla="*/ 21492 h 21492"/>
                <a:gd name="connsiteX2" fmla="*/ 21563 w 21563"/>
                <a:gd name="connsiteY2" fmla="*/ 11065 h 21492"/>
                <a:gd name="connsiteX3" fmla="*/ 11835 w 21563"/>
                <a:gd name="connsiteY3" fmla="*/ 58 h 21492"/>
                <a:gd name="connsiteX4" fmla="*/ 0 w 21563"/>
                <a:gd name="connsiteY4" fmla="*/ 0 h 21492"/>
                <a:gd name="connsiteX0" fmla="*/ 0 w 21563"/>
                <a:gd name="connsiteY0" fmla="*/ 29 h 21521"/>
                <a:gd name="connsiteX1" fmla="*/ 11774 w 21563"/>
                <a:gd name="connsiteY1" fmla="*/ 21521 h 21521"/>
                <a:gd name="connsiteX2" fmla="*/ 21563 w 21563"/>
                <a:gd name="connsiteY2" fmla="*/ 11094 h 21521"/>
                <a:gd name="connsiteX3" fmla="*/ 11798 w 21563"/>
                <a:gd name="connsiteY3" fmla="*/ 0 h 21521"/>
                <a:gd name="connsiteX4" fmla="*/ 0 w 21563"/>
                <a:gd name="connsiteY4" fmla="*/ 29 h 21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3" h="21521" extrusionOk="0">
                  <a:moveTo>
                    <a:pt x="0" y="29"/>
                  </a:moveTo>
                  <a:lnTo>
                    <a:pt x="11774" y="21521"/>
                  </a:lnTo>
                  <a:lnTo>
                    <a:pt x="21563" y="11094"/>
                  </a:lnTo>
                  <a:lnTo>
                    <a:pt x="11798" y="0"/>
                  </a:lnTo>
                  <a:lnTo>
                    <a:pt x="0" y="29"/>
                  </a:lnTo>
                  <a:close/>
                </a:path>
              </a:pathLst>
            </a:custGeom>
            <a:solidFill>
              <a:schemeClr val="tx1">
                <a:alpha val="70000"/>
              </a:schemeClr>
            </a:solidFill>
            <a:ln w="25400" cap="flat">
              <a:noFill/>
              <a:miter lim="400000"/>
            </a:ln>
            <a:effectLst/>
          </p:spPr>
          <p:txBody>
            <a:bodyPr anchor="ctr"/>
            <a:lstStyle/>
            <a:p>
              <a:pPr algn="ctr"/>
              <a:endParaRPr/>
            </a:p>
          </p:txBody>
        </p:sp>
        <p:sp>
          <p:nvSpPr>
            <p:cNvPr id="20" name="ïşḻïďê-Rectangle 10"/>
            <p:cNvSpPr/>
            <p:nvPr/>
          </p:nvSpPr>
          <p:spPr>
            <a:xfrm flipH="1">
              <a:off x="6627728" y="2241828"/>
              <a:ext cx="929935" cy="864194"/>
            </a:xfrm>
            <a:prstGeom prst="rect">
              <a:avLst/>
            </a:prstGeom>
            <a:ln w="12700">
              <a:miter lim="400000"/>
            </a:ln>
            <a:extLst>
              <a:ext uri="{C572A759-6A51-4108-AA02-DFA0A04FC94B}">
                <ma14:wrappingTextBoxFlag xmlns:a14="http://schemas.microsoft.com/office/drawing/2010/main" xmlns:a16="http://schemas.microsoft.com/office/drawing/2014/main" xmlns:ma14="http://schemas.microsoft.com/office/mac/drawingml/2011/main" xmlns:p14="http://schemas.microsoft.com/office/powerpoint/2010/main" xmlns:lc="http://schemas.openxmlformats.org/drawingml/2006/lockedCanvas" xmlns="" val="1"/>
              </a:ext>
            </a:extLst>
          </p:spPr>
          <p:txBody>
            <a:bodyPr lIns="25400" tIns="25400" rIns="25400" bIns="25400" anchor="ctr">
              <a:normAutofit/>
            </a:bodyPr>
            <a:lstStyle/>
            <a:p>
              <a:pPr lvl="0" algn="ctr">
                <a:defRPr sz="1800" b="0">
                  <a:solidFill>
                    <a:srgbClr val="000000"/>
                  </a:solidFill>
                </a:defRPr>
              </a:pPr>
              <a:r>
                <a:rPr lang="en-US" sz="1600" b="1" dirty="0" smtClean="0">
                  <a:solidFill>
                    <a:schemeClr val="bg1">
                      <a:lumMod val="100000"/>
                    </a:schemeClr>
                  </a:solidFill>
                  <a:latin typeface="Georgia" panose="02040502050405020303" pitchFamily="18" charset="0"/>
                </a:rPr>
                <a:t>APP</a:t>
              </a:r>
              <a:endParaRPr lang="en-US" sz="1600" b="1" dirty="0">
                <a:solidFill>
                  <a:schemeClr val="bg1">
                    <a:lumMod val="100000"/>
                  </a:schemeClr>
                </a:solidFill>
                <a:latin typeface="Georgia" panose="02040502050405020303" pitchFamily="18" charset="0"/>
              </a:endParaRPr>
            </a:p>
          </p:txBody>
        </p:sp>
        <p:sp>
          <p:nvSpPr>
            <p:cNvPr id="21" name="ïşḻïďê-矩形: 剪去顶角 20">
              <a:extLst>
                <a:ext uri="{FF2B5EF4-FFF2-40B4-BE49-F238E27FC236}">
                  <a16:creationId xmlns:a16="http://schemas.microsoft.com/office/drawing/2014/main" xmlns:lc="http://schemas.openxmlformats.org/drawingml/2006/lockedCanvas" xmlns="" id="{69924278-BD3B-4ED9-AA7A-161884701DC2}"/>
                </a:ext>
              </a:extLst>
            </p:cNvPr>
            <p:cNvSpPr/>
            <p:nvPr/>
          </p:nvSpPr>
          <p:spPr>
            <a:xfrm>
              <a:off x="741250" y="4002883"/>
              <a:ext cx="4802587" cy="1232921"/>
            </a:xfrm>
            <a:prstGeom prst="snip2SameRect">
              <a:avLst>
                <a:gd name="adj1" fmla="val 0"/>
                <a:gd name="adj2" fmla="val 0"/>
              </a:avLst>
            </a:prstGeom>
            <a:ln>
              <a:noFill/>
            </a:ln>
          </p:spPr>
          <p:txBody>
            <a:bodyPr wrap="square" anchor="t">
              <a:noAutofit/>
            </a:bodyPr>
            <a:lstStyle/>
            <a:p>
              <a:pPr marL="285750" indent="-285750">
                <a:lnSpc>
                  <a:spcPct val="150000"/>
                </a:lnSpc>
                <a:buFont typeface="Wingdings" panose="05000000000000000000" pitchFamily="2" charset="2"/>
                <a:buChar char="p"/>
                <a:tabLst>
                  <a:tab pos="228594" algn="l"/>
                </a:tabLst>
                <a:defRPr/>
              </a:pPr>
              <a:r>
                <a:rPr lang="en-US" altLang="zh-CN" sz="1400" dirty="0">
                  <a:latin typeface="Georgia" panose="02040502050405020303" pitchFamily="18" charset="0"/>
                </a:rPr>
                <a:t>Online M</a:t>
              </a:r>
              <a:r>
                <a:rPr lang="en-US" altLang="zh-CN" sz="1400" dirty="0" smtClean="0">
                  <a:latin typeface="Georgia" panose="02040502050405020303" pitchFamily="18" charset="0"/>
                </a:rPr>
                <a:t>essage and File Interface</a:t>
              </a:r>
            </a:p>
            <a:p>
              <a:pPr marL="285750" indent="-285750">
                <a:lnSpc>
                  <a:spcPct val="150000"/>
                </a:lnSpc>
                <a:buFont typeface="Wingdings" panose="05000000000000000000" pitchFamily="2" charset="2"/>
                <a:buChar char="p"/>
                <a:tabLst>
                  <a:tab pos="228594" algn="l"/>
                </a:tabLst>
                <a:defRPr/>
              </a:pPr>
              <a:r>
                <a:rPr lang="en-US" altLang="zh-CN" sz="1400" dirty="0" smtClean="0">
                  <a:latin typeface="Georgia" panose="02040502050405020303" pitchFamily="18" charset="0"/>
                </a:rPr>
                <a:t>Account Verification</a:t>
              </a:r>
            </a:p>
            <a:p>
              <a:pPr marL="285750" indent="-285750">
                <a:lnSpc>
                  <a:spcPct val="150000"/>
                </a:lnSpc>
                <a:buFont typeface="Wingdings" panose="05000000000000000000" pitchFamily="2" charset="2"/>
                <a:buChar char="p"/>
                <a:tabLst>
                  <a:tab pos="228594" algn="l"/>
                </a:tabLst>
                <a:defRPr/>
              </a:pPr>
              <a:r>
                <a:rPr lang="en-US" altLang="zh-CN" sz="1400" dirty="0" smtClean="0">
                  <a:latin typeface="Georgia" panose="02040502050405020303" pitchFamily="18" charset="0"/>
                </a:rPr>
                <a:t>Payment </a:t>
              </a:r>
              <a:r>
                <a:rPr lang="en-US" altLang="zh-CN" sz="1400" dirty="0">
                  <a:latin typeface="Georgia" panose="02040502050405020303" pitchFamily="18" charset="0"/>
                </a:rPr>
                <a:t>Authorization</a:t>
              </a:r>
            </a:p>
            <a:p>
              <a:pPr marL="285750" indent="-285750">
                <a:lnSpc>
                  <a:spcPct val="150000"/>
                </a:lnSpc>
                <a:buFont typeface="Wingdings" panose="05000000000000000000" pitchFamily="2" charset="2"/>
                <a:buChar char="p"/>
                <a:tabLst>
                  <a:tab pos="228594" algn="l"/>
                </a:tabLst>
                <a:defRPr/>
              </a:pPr>
              <a:r>
                <a:rPr lang="en-US" altLang="zh-CN" sz="1400" dirty="0">
                  <a:latin typeface="Georgia" panose="02040502050405020303" pitchFamily="18" charset="0"/>
                </a:rPr>
                <a:t>Cancellation</a:t>
              </a:r>
            </a:p>
            <a:p>
              <a:pPr marL="285750" indent="-285750">
                <a:lnSpc>
                  <a:spcPct val="150000"/>
                </a:lnSpc>
                <a:buFont typeface="Wingdings" panose="05000000000000000000" pitchFamily="2" charset="2"/>
                <a:buChar char="p"/>
                <a:tabLst>
                  <a:tab pos="228594" algn="l"/>
                </a:tabLst>
                <a:defRPr/>
              </a:pPr>
              <a:r>
                <a:rPr lang="en-US" altLang="zh-CN" sz="1400" dirty="0">
                  <a:latin typeface="Georgia" panose="02040502050405020303" pitchFamily="18" charset="0"/>
                </a:rPr>
                <a:t>Refund</a:t>
              </a:r>
            </a:p>
            <a:p>
              <a:pPr marL="285750" indent="-285750">
                <a:lnSpc>
                  <a:spcPct val="150000"/>
                </a:lnSpc>
                <a:buFont typeface="Wingdings" panose="05000000000000000000" pitchFamily="2" charset="2"/>
                <a:buChar char="p"/>
                <a:tabLst>
                  <a:tab pos="228594" algn="l"/>
                </a:tabLst>
                <a:defRPr/>
              </a:pPr>
              <a:r>
                <a:rPr lang="en-US" altLang="zh-CN" sz="1400" dirty="0" smtClean="0">
                  <a:latin typeface="Georgia" panose="02040502050405020303" pitchFamily="18" charset="0"/>
                </a:rPr>
                <a:t>Reversal</a:t>
              </a:r>
              <a:endParaRPr lang="en-US" altLang="zh-CN" sz="1400" dirty="0">
                <a:latin typeface="Georgia" panose="02040502050405020303" pitchFamily="18" charset="0"/>
              </a:endParaRPr>
            </a:p>
          </p:txBody>
        </p:sp>
        <p:sp>
          <p:nvSpPr>
            <p:cNvPr id="22" name="ïşḻïďê-矩形: 剪去顶角 20">
              <a:extLst>
                <a:ext uri="{FF2B5EF4-FFF2-40B4-BE49-F238E27FC236}">
                  <a16:creationId xmlns:a16="http://schemas.microsoft.com/office/drawing/2014/main" xmlns:lc="http://schemas.openxmlformats.org/drawingml/2006/lockedCanvas" xmlns="" id="{69924278-BD3B-4ED9-AA7A-161884701DC2}"/>
                </a:ext>
              </a:extLst>
            </p:cNvPr>
            <p:cNvSpPr/>
            <p:nvPr/>
          </p:nvSpPr>
          <p:spPr>
            <a:xfrm>
              <a:off x="7182535" y="4002883"/>
              <a:ext cx="4192352" cy="1232921"/>
            </a:xfrm>
            <a:prstGeom prst="snip2SameRect">
              <a:avLst>
                <a:gd name="adj1" fmla="val 0"/>
                <a:gd name="adj2" fmla="val 0"/>
              </a:avLst>
            </a:prstGeom>
            <a:ln>
              <a:noFill/>
            </a:ln>
          </p:spPr>
          <p:txBody>
            <a:bodyPr wrap="square" anchor="t">
              <a:noAutofit/>
            </a:bodyPr>
            <a:lstStyle/>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Card</a:t>
              </a:r>
              <a:r>
                <a:rPr lang="en-US" altLang="zh-CN" sz="1400" dirty="0">
                  <a:latin typeface="Georgia" panose="02040502050405020303" pitchFamily="18" charset="0"/>
                </a:rPr>
                <a:t>/</a:t>
              </a:r>
              <a:r>
                <a:rPr lang="en-US" altLang="zh-CN" sz="1400" dirty="0" smtClean="0">
                  <a:latin typeface="Georgia" panose="02040502050405020303" pitchFamily="18" charset="0"/>
                </a:rPr>
                <a:t>Account Verification</a:t>
              </a:r>
            </a:p>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Consumer &amp; Merchant-Presented</a:t>
              </a:r>
            </a:p>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EMV &amp; URL Request and Decode</a:t>
              </a:r>
            </a:p>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Additional Processing</a:t>
              </a:r>
            </a:p>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Transaction Notification</a:t>
              </a:r>
            </a:p>
            <a:p>
              <a:pPr marL="285750" indent="-285750">
                <a:lnSpc>
                  <a:spcPct val="150000"/>
                </a:lnSpc>
                <a:buFont typeface="Wingdings" panose="05000000000000000000" pitchFamily="2" charset="2"/>
                <a:buChar char="p"/>
                <a:tabLst>
                  <a:tab pos="228594" algn="l"/>
                </a:tabLst>
              </a:pPr>
              <a:r>
                <a:rPr lang="en-US" altLang="zh-CN" sz="1400" dirty="0" smtClean="0">
                  <a:latin typeface="Georgia" panose="02040502050405020303" pitchFamily="18" charset="0"/>
                </a:rPr>
                <a:t>Transaction Inquiry</a:t>
              </a:r>
            </a:p>
            <a:p>
              <a:pPr marL="285750" indent="-285750">
                <a:lnSpc>
                  <a:spcPct val="150000"/>
                </a:lnSpc>
                <a:buFont typeface="Wingdings" panose="05000000000000000000" pitchFamily="2" charset="2"/>
                <a:buChar char="p"/>
                <a:tabLst>
                  <a:tab pos="228594" algn="l"/>
                </a:tabLst>
              </a:pPr>
              <a:endParaRPr lang="en-US" altLang="zh-CN" sz="1400" dirty="0">
                <a:latin typeface="Georgia" panose="02040502050405020303" pitchFamily="18" charset="0"/>
              </a:endParaRPr>
            </a:p>
          </p:txBody>
        </p:sp>
      </p:grpSp>
      <p:sp>
        <p:nvSpPr>
          <p:cNvPr id="23" name="矩形 22"/>
          <p:cNvSpPr/>
          <p:nvPr/>
        </p:nvSpPr>
        <p:spPr>
          <a:xfrm>
            <a:off x="3343450" y="1635646"/>
            <a:ext cx="1039067" cy="369332"/>
          </a:xfrm>
          <a:prstGeom prst="rect">
            <a:avLst/>
          </a:prstGeom>
        </p:spPr>
        <p:txBody>
          <a:bodyPr wrap="none">
            <a:spAutoFit/>
          </a:bodyPr>
          <a:lstStyle/>
          <a:p>
            <a:pPr fontAlgn="auto">
              <a:spcBef>
                <a:spcPts val="0"/>
              </a:spcBef>
              <a:spcAft>
                <a:spcPts val="0"/>
              </a:spcAft>
            </a:pPr>
            <a:r>
              <a:rPr lang="en-US" altLang="zh-CN" b="1" dirty="0" smtClean="0">
                <a:solidFill>
                  <a:schemeClr val="bg1"/>
                </a:solidFill>
                <a:latin typeface="Georgia" panose="02040502050405020303" pitchFamily="18" charset="0"/>
                <a:ea typeface="宋体"/>
              </a:rPr>
              <a:t>System</a:t>
            </a:r>
            <a:endParaRPr lang="en-US" altLang="zh-CN" b="1" dirty="0">
              <a:solidFill>
                <a:schemeClr val="bg1"/>
              </a:solidFill>
              <a:latin typeface="Georgia" panose="02040502050405020303" pitchFamily="18" charset="0"/>
              <a:ea typeface="宋体"/>
            </a:endParaRPr>
          </a:p>
        </p:txBody>
      </p:sp>
    </p:spTree>
    <p:extLst>
      <p:ext uri="{BB962C8B-B14F-4D97-AF65-F5344CB8AC3E}">
        <p14:creationId xmlns:p14="http://schemas.microsoft.com/office/powerpoint/2010/main" val="667983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 name="6b11329d-0b40-4a0f-9c9c-26cd1d07c8ad"/>
          <p:cNvGrpSpPr>
            <a:grpSpLocks noChangeAspect="1"/>
          </p:cNvGrpSpPr>
          <p:nvPr/>
        </p:nvGrpSpPr>
        <p:grpSpPr>
          <a:xfrm>
            <a:off x="2655976" y="699542"/>
            <a:ext cx="6092488" cy="3956957"/>
            <a:chOff x="4779390" y="1146501"/>
            <a:chExt cx="7377737" cy="4791704"/>
          </a:xfrm>
        </p:grpSpPr>
        <p:grpSp>
          <p:nvGrpSpPr>
            <p:cNvPr id="125" name="组合 124"/>
            <p:cNvGrpSpPr/>
            <p:nvPr/>
          </p:nvGrpSpPr>
          <p:grpSpPr>
            <a:xfrm>
              <a:off x="4779390" y="2289893"/>
              <a:ext cx="2213637" cy="2697565"/>
              <a:chOff x="2935205" y="2176810"/>
              <a:chExt cx="2213637" cy="2697565"/>
            </a:xfrm>
          </p:grpSpPr>
          <p:cxnSp>
            <p:nvCxnSpPr>
              <p:cNvPr id="153" name="iS1ide-Straight Connector 33"/>
              <p:cNvCxnSpPr>
                <a:cxnSpLocks/>
              </p:cNvCxnSpPr>
              <p:nvPr/>
            </p:nvCxnSpPr>
            <p:spPr>
              <a:xfrm flipH="1">
                <a:off x="2935205" y="2176810"/>
                <a:ext cx="1993841" cy="1385368"/>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4" name="iS1ide-Straight Connector 34"/>
              <p:cNvCxnSpPr>
                <a:cxnSpLocks/>
                <a:endCxn id="149" idx="16"/>
              </p:cNvCxnSpPr>
              <p:nvPr/>
            </p:nvCxnSpPr>
            <p:spPr>
              <a:xfrm flipH="1" flipV="1">
                <a:off x="3192505" y="3475880"/>
                <a:ext cx="1956337" cy="139849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127" name="iS1ide-Oval 28"/>
            <p:cNvSpPr/>
            <p:nvPr/>
          </p:nvSpPr>
          <p:spPr>
            <a:xfrm>
              <a:off x="6749182" y="1778189"/>
              <a:ext cx="637568" cy="637568"/>
            </a:xfrm>
            <a:prstGeom prst="ellipse">
              <a:avLst/>
            </a:prstGeom>
            <a:solidFill>
              <a:schemeClr val="bg1">
                <a:lumMod val="9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dirty="0"/>
            </a:p>
          </p:txBody>
        </p:sp>
        <p:grpSp>
          <p:nvGrpSpPr>
            <p:cNvPr id="128" name="组合 127"/>
            <p:cNvGrpSpPr/>
            <p:nvPr/>
          </p:nvGrpSpPr>
          <p:grpSpPr>
            <a:xfrm>
              <a:off x="4779390" y="3239267"/>
              <a:ext cx="636555" cy="636555"/>
              <a:chOff x="6572347" y="3466735"/>
              <a:chExt cx="846150" cy="846150"/>
            </a:xfrm>
          </p:grpSpPr>
          <p:sp>
            <p:nvSpPr>
              <p:cNvPr id="148" name="iS1ide-Oval 26"/>
              <p:cNvSpPr/>
              <p:nvPr/>
            </p:nvSpPr>
            <p:spPr>
              <a:xfrm>
                <a:off x="6572347" y="3466735"/>
                <a:ext cx="846150" cy="846150"/>
              </a:xfrm>
              <a:prstGeom prst="ellipse">
                <a:avLst/>
              </a:prstGeom>
              <a:solidFill>
                <a:srgbClr val="44525F"/>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49" name="iS1ide-university7"/>
              <p:cNvSpPr>
                <a:spLocks/>
              </p:cNvSpPr>
              <p:nvPr/>
            </p:nvSpPr>
            <p:spPr bwMode="auto">
              <a:xfrm>
                <a:off x="6734458" y="3617426"/>
                <a:ext cx="519901" cy="524838"/>
              </a:xfrm>
              <a:custGeom>
                <a:avLst/>
                <a:gdLst>
                  <a:gd name="connsiteX0" fmla="*/ 248178 w 601358"/>
                  <a:gd name="connsiteY0" fmla="*/ 346343 h 607074"/>
                  <a:gd name="connsiteX1" fmla="*/ 231132 w 601358"/>
                  <a:gd name="connsiteY1" fmla="*/ 363372 h 607074"/>
                  <a:gd name="connsiteX2" fmla="*/ 231132 w 601358"/>
                  <a:gd name="connsiteY2" fmla="*/ 398926 h 607074"/>
                  <a:gd name="connsiteX3" fmla="*/ 265109 w 601358"/>
                  <a:gd name="connsiteY3" fmla="*/ 398926 h 607074"/>
                  <a:gd name="connsiteX4" fmla="*/ 265109 w 601358"/>
                  <a:gd name="connsiteY4" fmla="*/ 363372 h 607074"/>
                  <a:gd name="connsiteX5" fmla="*/ 248178 w 601358"/>
                  <a:gd name="connsiteY5" fmla="*/ 346343 h 607074"/>
                  <a:gd name="connsiteX6" fmla="*/ 248178 w 601358"/>
                  <a:gd name="connsiteY6" fmla="*/ 323331 h 607074"/>
                  <a:gd name="connsiteX7" fmla="*/ 288259 w 601358"/>
                  <a:gd name="connsiteY7" fmla="*/ 363372 h 607074"/>
                  <a:gd name="connsiteX8" fmla="*/ 288259 w 601358"/>
                  <a:gd name="connsiteY8" fmla="*/ 448863 h 607074"/>
                  <a:gd name="connsiteX9" fmla="*/ 276741 w 601358"/>
                  <a:gd name="connsiteY9" fmla="*/ 460369 h 607074"/>
                  <a:gd name="connsiteX10" fmla="*/ 265224 w 601358"/>
                  <a:gd name="connsiteY10" fmla="*/ 448863 h 607074"/>
                  <a:gd name="connsiteX11" fmla="*/ 265224 w 601358"/>
                  <a:gd name="connsiteY11" fmla="*/ 421939 h 607074"/>
                  <a:gd name="connsiteX12" fmla="*/ 231132 w 601358"/>
                  <a:gd name="connsiteY12" fmla="*/ 421939 h 607074"/>
                  <a:gd name="connsiteX13" fmla="*/ 231132 w 601358"/>
                  <a:gd name="connsiteY13" fmla="*/ 448863 h 607074"/>
                  <a:gd name="connsiteX14" fmla="*/ 219615 w 601358"/>
                  <a:gd name="connsiteY14" fmla="*/ 460369 h 607074"/>
                  <a:gd name="connsiteX15" fmla="*/ 208097 w 601358"/>
                  <a:gd name="connsiteY15" fmla="*/ 448863 h 607074"/>
                  <a:gd name="connsiteX16" fmla="*/ 208097 w 601358"/>
                  <a:gd name="connsiteY16" fmla="*/ 363372 h 607074"/>
                  <a:gd name="connsiteX17" fmla="*/ 248178 w 601358"/>
                  <a:gd name="connsiteY17" fmla="*/ 323331 h 607074"/>
                  <a:gd name="connsiteX18" fmla="*/ 429337 w 601358"/>
                  <a:gd name="connsiteY18" fmla="*/ 322484 h 607074"/>
                  <a:gd name="connsiteX19" fmla="*/ 487165 w 601358"/>
                  <a:gd name="connsiteY19" fmla="*/ 322484 h 607074"/>
                  <a:gd name="connsiteX20" fmla="*/ 498685 w 601358"/>
                  <a:gd name="connsiteY20" fmla="*/ 333991 h 607074"/>
                  <a:gd name="connsiteX21" fmla="*/ 498685 w 601358"/>
                  <a:gd name="connsiteY21" fmla="*/ 353323 h 607074"/>
                  <a:gd name="connsiteX22" fmla="*/ 487165 w 601358"/>
                  <a:gd name="connsiteY22" fmla="*/ 364830 h 607074"/>
                  <a:gd name="connsiteX23" fmla="*/ 475646 w 601358"/>
                  <a:gd name="connsiteY23" fmla="*/ 353323 h 607074"/>
                  <a:gd name="connsiteX24" fmla="*/ 475646 w 601358"/>
                  <a:gd name="connsiteY24" fmla="*/ 345498 h 607074"/>
                  <a:gd name="connsiteX25" fmla="*/ 440856 w 601358"/>
                  <a:gd name="connsiteY25" fmla="*/ 345498 h 607074"/>
                  <a:gd name="connsiteX26" fmla="*/ 440856 w 601358"/>
                  <a:gd name="connsiteY26" fmla="*/ 380365 h 607074"/>
                  <a:gd name="connsiteX27" fmla="*/ 462053 w 601358"/>
                  <a:gd name="connsiteY27" fmla="*/ 380365 h 607074"/>
                  <a:gd name="connsiteX28" fmla="*/ 473572 w 601358"/>
                  <a:gd name="connsiteY28" fmla="*/ 391872 h 607074"/>
                  <a:gd name="connsiteX29" fmla="*/ 462053 w 601358"/>
                  <a:gd name="connsiteY29" fmla="*/ 403379 h 607074"/>
                  <a:gd name="connsiteX30" fmla="*/ 440856 w 601358"/>
                  <a:gd name="connsiteY30" fmla="*/ 403379 h 607074"/>
                  <a:gd name="connsiteX31" fmla="*/ 440856 w 601358"/>
                  <a:gd name="connsiteY31" fmla="*/ 438131 h 607074"/>
                  <a:gd name="connsiteX32" fmla="*/ 475646 w 601358"/>
                  <a:gd name="connsiteY32" fmla="*/ 438131 h 607074"/>
                  <a:gd name="connsiteX33" fmla="*/ 475646 w 601358"/>
                  <a:gd name="connsiteY33" fmla="*/ 433528 h 607074"/>
                  <a:gd name="connsiteX34" fmla="*/ 487165 w 601358"/>
                  <a:gd name="connsiteY34" fmla="*/ 422021 h 607074"/>
                  <a:gd name="connsiteX35" fmla="*/ 498685 w 601358"/>
                  <a:gd name="connsiteY35" fmla="*/ 433528 h 607074"/>
                  <a:gd name="connsiteX36" fmla="*/ 498685 w 601358"/>
                  <a:gd name="connsiteY36" fmla="*/ 449638 h 607074"/>
                  <a:gd name="connsiteX37" fmla="*/ 487165 w 601358"/>
                  <a:gd name="connsiteY37" fmla="*/ 461145 h 607074"/>
                  <a:gd name="connsiteX38" fmla="*/ 429337 w 601358"/>
                  <a:gd name="connsiteY38" fmla="*/ 461145 h 607074"/>
                  <a:gd name="connsiteX39" fmla="*/ 417817 w 601358"/>
                  <a:gd name="connsiteY39" fmla="*/ 449638 h 607074"/>
                  <a:gd name="connsiteX40" fmla="*/ 417817 w 601358"/>
                  <a:gd name="connsiteY40" fmla="*/ 333991 h 607074"/>
                  <a:gd name="connsiteX41" fmla="*/ 429337 w 601358"/>
                  <a:gd name="connsiteY41" fmla="*/ 322484 h 607074"/>
                  <a:gd name="connsiteX42" fmla="*/ 330337 w 601358"/>
                  <a:gd name="connsiteY42" fmla="*/ 322484 h 607074"/>
                  <a:gd name="connsiteX43" fmla="*/ 341861 w 601358"/>
                  <a:gd name="connsiteY43" fmla="*/ 333991 h 607074"/>
                  <a:gd name="connsiteX44" fmla="*/ 341861 w 601358"/>
                  <a:gd name="connsiteY44" fmla="*/ 438131 h 607074"/>
                  <a:gd name="connsiteX45" fmla="*/ 376776 w 601358"/>
                  <a:gd name="connsiteY45" fmla="*/ 438131 h 607074"/>
                  <a:gd name="connsiteX46" fmla="*/ 376776 w 601358"/>
                  <a:gd name="connsiteY46" fmla="*/ 433528 h 607074"/>
                  <a:gd name="connsiteX47" fmla="*/ 388300 w 601358"/>
                  <a:gd name="connsiteY47" fmla="*/ 422021 h 607074"/>
                  <a:gd name="connsiteX48" fmla="*/ 399823 w 601358"/>
                  <a:gd name="connsiteY48" fmla="*/ 433528 h 607074"/>
                  <a:gd name="connsiteX49" fmla="*/ 399823 w 601358"/>
                  <a:gd name="connsiteY49" fmla="*/ 449638 h 607074"/>
                  <a:gd name="connsiteX50" fmla="*/ 388300 w 601358"/>
                  <a:gd name="connsiteY50" fmla="*/ 461145 h 607074"/>
                  <a:gd name="connsiteX51" fmla="*/ 330337 w 601358"/>
                  <a:gd name="connsiteY51" fmla="*/ 461145 h 607074"/>
                  <a:gd name="connsiteX52" fmla="*/ 318814 w 601358"/>
                  <a:gd name="connsiteY52" fmla="*/ 449638 h 607074"/>
                  <a:gd name="connsiteX53" fmla="*/ 318814 w 601358"/>
                  <a:gd name="connsiteY53" fmla="*/ 333991 h 607074"/>
                  <a:gd name="connsiteX54" fmla="*/ 330337 w 601358"/>
                  <a:gd name="connsiteY54" fmla="*/ 322484 h 607074"/>
                  <a:gd name="connsiteX55" fmla="*/ 143107 w 601358"/>
                  <a:gd name="connsiteY55" fmla="*/ 322484 h 607074"/>
                  <a:gd name="connsiteX56" fmla="*/ 147484 w 601358"/>
                  <a:gd name="connsiteY56" fmla="*/ 322484 h 607074"/>
                  <a:gd name="connsiteX57" fmla="*/ 183541 w 601358"/>
                  <a:gd name="connsiteY57" fmla="*/ 358501 h 607074"/>
                  <a:gd name="connsiteX58" fmla="*/ 172021 w 601358"/>
                  <a:gd name="connsiteY58" fmla="*/ 370009 h 607074"/>
                  <a:gd name="connsiteX59" fmla="*/ 160502 w 601358"/>
                  <a:gd name="connsiteY59" fmla="*/ 358501 h 607074"/>
                  <a:gd name="connsiteX60" fmla="*/ 147484 w 601358"/>
                  <a:gd name="connsiteY60" fmla="*/ 345498 h 607074"/>
                  <a:gd name="connsiteX61" fmla="*/ 143107 w 601358"/>
                  <a:gd name="connsiteY61" fmla="*/ 345498 h 607074"/>
                  <a:gd name="connsiteX62" fmla="*/ 125712 w 601358"/>
                  <a:gd name="connsiteY62" fmla="*/ 362874 h 607074"/>
                  <a:gd name="connsiteX63" fmla="*/ 143107 w 601358"/>
                  <a:gd name="connsiteY63" fmla="*/ 380365 h 607074"/>
                  <a:gd name="connsiteX64" fmla="*/ 183541 w 601358"/>
                  <a:gd name="connsiteY64" fmla="*/ 420755 h 607074"/>
                  <a:gd name="connsiteX65" fmla="*/ 143107 w 601358"/>
                  <a:gd name="connsiteY65" fmla="*/ 461145 h 607074"/>
                  <a:gd name="connsiteX66" fmla="*/ 138730 w 601358"/>
                  <a:gd name="connsiteY66" fmla="*/ 461145 h 607074"/>
                  <a:gd name="connsiteX67" fmla="*/ 102673 w 601358"/>
                  <a:gd name="connsiteY67" fmla="*/ 425128 h 607074"/>
                  <a:gd name="connsiteX68" fmla="*/ 114193 w 601358"/>
                  <a:gd name="connsiteY68" fmla="*/ 413621 h 607074"/>
                  <a:gd name="connsiteX69" fmla="*/ 125712 w 601358"/>
                  <a:gd name="connsiteY69" fmla="*/ 425128 h 607074"/>
                  <a:gd name="connsiteX70" fmla="*/ 138730 w 601358"/>
                  <a:gd name="connsiteY70" fmla="*/ 438131 h 607074"/>
                  <a:gd name="connsiteX71" fmla="*/ 143107 w 601358"/>
                  <a:gd name="connsiteY71" fmla="*/ 438131 h 607074"/>
                  <a:gd name="connsiteX72" fmla="*/ 160502 w 601358"/>
                  <a:gd name="connsiteY72" fmla="*/ 420755 h 607074"/>
                  <a:gd name="connsiteX73" fmla="*/ 143107 w 601358"/>
                  <a:gd name="connsiteY73" fmla="*/ 403379 h 607074"/>
                  <a:gd name="connsiteX74" fmla="*/ 102673 w 601358"/>
                  <a:gd name="connsiteY74" fmla="*/ 362874 h 607074"/>
                  <a:gd name="connsiteX75" fmla="*/ 143107 w 601358"/>
                  <a:gd name="connsiteY75" fmla="*/ 322484 h 607074"/>
                  <a:gd name="connsiteX76" fmla="*/ 197480 w 601358"/>
                  <a:gd name="connsiteY76" fmla="*/ 213528 h 607074"/>
                  <a:gd name="connsiteX77" fmla="*/ 197480 w 601358"/>
                  <a:gd name="connsiteY77" fmla="*/ 268988 h 607074"/>
                  <a:gd name="connsiteX78" fmla="*/ 211766 w 601358"/>
                  <a:gd name="connsiteY78" fmla="*/ 268988 h 607074"/>
                  <a:gd name="connsiteX79" fmla="*/ 239532 w 601358"/>
                  <a:gd name="connsiteY79" fmla="*/ 241258 h 607074"/>
                  <a:gd name="connsiteX80" fmla="*/ 211766 w 601358"/>
                  <a:gd name="connsiteY80" fmla="*/ 213528 h 607074"/>
                  <a:gd name="connsiteX81" fmla="*/ 207043 w 601358"/>
                  <a:gd name="connsiteY81" fmla="*/ 213528 h 607074"/>
                  <a:gd name="connsiteX82" fmla="*/ 197480 w 601358"/>
                  <a:gd name="connsiteY82" fmla="*/ 149324 h 607074"/>
                  <a:gd name="connsiteX83" fmla="*/ 197480 w 601358"/>
                  <a:gd name="connsiteY83" fmla="*/ 190516 h 607074"/>
                  <a:gd name="connsiteX84" fmla="*/ 207043 w 601358"/>
                  <a:gd name="connsiteY84" fmla="*/ 190516 h 607074"/>
                  <a:gd name="connsiteX85" fmla="*/ 227781 w 601358"/>
                  <a:gd name="connsiteY85" fmla="*/ 169920 h 607074"/>
                  <a:gd name="connsiteX86" fmla="*/ 207043 w 601358"/>
                  <a:gd name="connsiteY86" fmla="*/ 149324 h 607074"/>
                  <a:gd name="connsiteX87" fmla="*/ 384723 w 601358"/>
                  <a:gd name="connsiteY87" fmla="*/ 126312 h 607074"/>
                  <a:gd name="connsiteX88" fmla="*/ 426991 w 601358"/>
                  <a:gd name="connsiteY88" fmla="*/ 168424 h 607074"/>
                  <a:gd name="connsiteX89" fmla="*/ 426991 w 601358"/>
                  <a:gd name="connsiteY89" fmla="*/ 171416 h 607074"/>
                  <a:gd name="connsiteX90" fmla="*/ 415474 w 601358"/>
                  <a:gd name="connsiteY90" fmla="*/ 182922 h 607074"/>
                  <a:gd name="connsiteX91" fmla="*/ 403956 w 601358"/>
                  <a:gd name="connsiteY91" fmla="*/ 171416 h 607074"/>
                  <a:gd name="connsiteX92" fmla="*/ 403956 w 601358"/>
                  <a:gd name="connsiteY92" fmla="*/ 168424 h 607074"/>
                  <a:gd name="connsiteX93" fmla="*/ 384723 w 601358"/>
                  <a:gd name="connsiteY93" fmla="*/ 149324 h 607074"/>
                  <a:gd name="connsiteX94" fmla="*/ 365489 w 601358"/>
                  <a:gd name="connsiteY94" fmla="*/ 168424 h 607074"/>
                  <a:gd name="connsiteX95" fmla="*/ 365489 w 601358"/>
                  <a:gd name="connsiteY95" fmla="*/ 249773 h 607074"/>
                  <a:gd name="connsiteX96" fmla="*/ 384723 w 601358"/>
                  <a:gd name="connsiteY96" fmla="*/ 268988 h 607074"/>
                  <a:gd name="connsiteX97" fmla="*/ 403956 w 601358"/>
                  <a:gd name="connsiteY97" fmla="*/ 249773 h 607074"/>
                  <a:gd name="connsiteX98" fmla="*/ 403956 w 601358"/>
                  <a:gd name="connsiteY98" fmla="*/ 248277 h 607074"/>
                  <a:gd name="connsiteX99" fmla="*/ 391863 w 601358"/>
                  <a:gd name="connsiteY99" fmla="*/ 248277 h 607074"/>
                  <a:gd name="connsiteX100" fmla="*/ 380346 w 601358"/>
                  <a:gd name="connsiteY100" fmla="*/ 236771 h 607074"/>
                  <a:gd name="connsiteX101" fmla="*/ 391863 w 601358"/>
                  <a:gd name="connsiteY101" fmla="*/ 225265 h 607074"/>
                  <a:gd name="connsiteX102" fmla="*/ 415474 w 601358"/>
                  <a:gd name="connsiteY102" fmla="*/ 225265 h 607074"/>
                  <a:gd name="connsiteX103" fmla="*/ 426991 w 601358"/>
                  <a:gd name="connsiteY103" fmla="*/ 236771 h 607074"/>
                  <a:gd name="connsiteX104" fmla="*/ 426991 w 601358"/>
                  <a:gd name="connsiteY104" fmla="*/ 249773 h 607074"/>
                  <a:gd name="connsiteX105" fmla="*/ 384723 w 601358"/>
                  <a:gd name="connsiteY105" fmla="*/ 292000 h 607074"/>
                  <a:gd name="connsiteX106" fmla="*/ 342454 w 601358"/>
                  <a:gd name="connsiteY106" fmla="*/ 249773 h 607074"/>
                  <a:gd name="connsiteX107" fmla="*/ 342454 w 601358"/>
                  <a:gd name="connsiteY107" fmla="*/ 168424 h 607074"/>
                  <a:gd name="connsiteX108" fmla="*/ 384723 w 601358"/>
                  <a:gd name="connsiteY108" fmla="*/ 126312 h 607074"/>
                  <a:gd name="connsiteX109" fmla="*/ 298668 w 601358"/>
                  <a:gd name="connsiteY109" fmla="*/ 126312 h 607074"/>
                  <a:gd name="connsiteX110" fmla="*/ 310205 w 601358"/>
                  <a:gd name="connsiteY110" fmla="*/ 137818 h 607074"/>
                  <a:gd name="connsiteX111" fmla="*/ 310205 w 601358"/>
                  <a:gd name="connsiteY111" fmla="*/ 280494 h 607074"/>
                  <a:gd name="connsiteX112" fmla="*/ 298668 w 601358"/>
                  <a:gd name="connsiteY112" fmla="*/ 292000 h 607074"/>
                  <a:gd name="connsiteX113" fmla="*/ 287130 w 601358"/>
                  <a:gd name="connsiteY113" fmla="*/ 280494 h 607074"/>
                  <a:gd name="connsiteX114" fmla="*/ 287130 w 601358"/>
                  <a:gd name="connsiteY114" fmla="*/ 137818 h 607074"/>
                  <a:gd name="connsiteX115" fmla="*/ 298668 w 601358"/>
                  <a:gd name="connsiteY115" fmla="*/ 126312 h 607074"/>
                  <a:gd name="connsiteX116" fmla="*/ 185959 w 601358"/>
                  <a:gd name="connsiteY116" fmla="*/ 126312 h 607074"/>
                  <a:gd name="connsiteX117" fmla="*/ 207043 w 601358"/>
                  <a:gd name="connsiteY117" fmla="*/ 126312 h 607074"/>
                  <a:gd name="connsiteX118" fmla="*/ 250823 w 601358"/>
                  <a:gd name="connsiteY118" fmla="*/ 169920 h 607074"/>
                  <a:gd name="connsiteX119" fmla="*/ 239762 w 601358"/>
                  <a:gd name="connsiteY119" fmla="*/ 198916 h 607074"/>
                  <a:gd name="connsiteX120" fmla="*/ 262574 w 601358"/>
                  <a:gd name="connsiteY120" fmla="*/ 241258 h 607074"/>
                  <a:gd name="connsiteX121" fmla="*/ 211766 w 601358"/>
                  <a:gd name="connsiteY121" fmla="*/ 292000 h 607074"/>
                  <a:gd name="connsiteX122" fmla="*/ 185959 w 601358"/>
                  <a:gd name="connsiteY122" fmla="*/ 292000 h 607074"/>
                  <a:gd name="connsiteX123" fmla="*/ 174438 w 601358"/>
                  <a:gd name="connsiteY123" fmla="*/ 280494 h 607074"/>
                  <a:gd name="connsiteX124" fmla="*/ 174438 w 601358"/>
                  <a:gd name="connsiteY124" fmla="*/ 202022 h 607074"/>
                  <a:gd name="connsiteX125" fmla="*/ 174438 w 601358"/>
                  <a:gd name="connsiteY125" fmla="*/ 137818 h 607074"/>
                  <a:gd name="connsiteX126" fmla="*/ 185959 w 601358"/>
                  <a:gd name="connsiteY126" fmla="*/ 126312 h 607074"/>
                  <a:gd name="connsiteX127" fmla="*/ 300737 w 601358"/>
                  <a:gd name="connsiteY127" fmla="*/ 23013 h 607074"/>
                  <a:gd name="connsiteX128" fmla="*/ 23045 w 601358"/>
                  <a:gd name="connsiteY128" fmla="*/ 300315 h 607074"/>
                  <a:gd name="connsiteX129" fmla="*/ 300737 w 601358"/>
                  <a:gd name="connsiteY129" fmla="*/ 577503 h 607074"/>
                  <a:gd name="connsiteX130" fmla="*/ 429327 w 601358"/>
                  <a:gd name="connsiteY130" fmla="*/ 546091 h 607074"/>
                  <a:gd name="connsiteX131" fmla="*/ 434628 w 601358"/>
                  <a:gd name="connsiteY131" fmla="*/ 544710 h 607074"/>
                  <a:gd name="connsiteX132" fmla="*/ 442117 w 601358"/>
                  <a:gd name="connsiteY132" fmla="*/ 547586 h 607074"/>
                  <a:gd name="connsiteX133" fmla="*/ 508026 w 601358"/>
                  <a:gd name="connsiteY133" fmla="*/ 579919 h 607074"/>
                  <a:gd name="connsiteX134" fmla="*/ 500652 w 601358"/>
                  <a:gd name="connsiteY134" fmla="*/ 495808 h 607074"/>
                  <a:gd name="connsiteX135" fmla="*/ 503647 w 601358"/>
                  <a:gd name="connsiteY135" fmla="*/ 489479 h 607074"/>
                  <a:gd name="connsiteX136" fmla="*/ 578313 w 601358"/>
                  <a:gd name="connsiteY136" fmla="*/ 300315 h 607074"/>
                  <a:gd name="connsiteX137" fmla="*/ 300737 w 601358"/>
                  <a:gd name="connsiteY137" fmla="*/ 23013 h 607074"/>
                  <a:gd name="connsiteX138" fmla="*/ 300737 w 601358"/>
                  <a:gd name="connsiteY138" fmla="*/ 0 h 607074"/>
                  <a:gd name="connsiteX139" fmla="*/ 601358 w 601358"/>
                  <a:gd name="connsiteY139" fmla="*/ 300315 h 607074"/>
                  <a:gd name="connsiteX140" fmla="*/ 523120 w 601358"/>
                  <a:gd name="connsiteY140" fmla="*/ 502251 h 607074"/>
                  <a:gd name="connsiteX141" fmla="*/ 537984 w 601358"/>
                  <a:gd name="connsiteY141" fmla="*/ 589124 h 607074"/>
                  <a:gd name="connsiteX142" fmla="*/ 538330 w 601358"/>
                  <a:gd name="connsiteY142" fmla="*/ 601436 h 607074"/>
                  <a:gd name="connsiteX143" fmla="*/ 528421 w 601358"/>
                  <a:gd name="connsiteY143" fmla="*/ 607074 h 607074"/>
                  <a:gd name="connsiteX144" fmla="*/ 527384 w 601358"/>
                  <a:gd name="connsiteY144" fmla="*/ 606959 h 607074"/>
                  <a:gd name="connsiteX145" fmla="*/ 433130 w 601358"/>
                  <a:gd name="connsiteY145" fmla="*/ 569909 h 607074"/>
                  <a:gd name="connsiteX146" fmla="*/ 300737 w 601358"/>
                  <a:gd name="connsiteY146" fmla="*/ 600516 h 607074"/>
                  <a:gd name="connsiteX147" fmla="*/ 0 w 601358"/>
                  <a:gd name="connsiteY147" fmla="*/ 300315 h 607074"/>
                  <a:gd name="connsiteX148" fmla="*/ 300737 w 601358"/>
                  <a:gd name="connsiteY148" fmla="*/ 0 h 60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1358" h="607074">
                    <a:moveTo>
                      <a:pt x="248178" y="346343"/>
                    </a:moveTo>
                    <a:cubicBezTo>
                      <a:pt x="238734" y="346343"/>
                      <a:pt x="231132" y="353937"/>
                      <a:pt x="231132" y="363372"/>
                    </a:cubicBezTo>
                    <a:lnTo>
                      <a:pt x="231132" y="398926"/>
                    </a:lnTo>
                    <a:lnTo>
                      <a:pt x="265109" y="398926"/>
                    </a:lnTo>
                    <a:lnTo>
                      <a:pt x="265109" y="363372"/>
                    </a:lnTo>
                    <a:cubicBezTo>
                      <a:pt x="265109" y="353937"/>
                      <a:pt x="257507" y="346343"/>
                      <a:pt x="248178" y="346343"/>
                    </a:cubicBezTo>
                    <a:close/>
                    <a:moveTo>
                      <a:pt x="248178" y="323331"/>
                    </a:moveTo>
                    <a:cubicBezTo>
                      <a:pt x="270176" y="323331"/>
                      <a:pt x="288259" y="341281"/>
                      <a:pt x="288259" y="363372"/>
                    </a:cubicBezTo>
                    <a:lnTo>
                      <a:pt x="288259" y="448863"/>
                    </a:lnTo>
                    <a:cubicBezTo>
                      <a:pt x="288259" y="455306"/>
                      <a:pt x="283076" y="460369"/>
                      <a:pt x="276741" y="460369"/>
                    </a:cubicBezTo>
                    <a:cubicBezTo>
                      <a:pt x="270292" y="460369"/>
                      <a:pt x="265224" y="455306"/>
                      <a:pt x="265224" y="448863"/>
                    </a:cubicBezTo>
                    <a:lnTo>
                      <a:pt x="265224" y="421939"/>
                    </a:lnTo>
                    <a:lnTo>
                      <a:pt x="231132" y="421939"/>
                    </a:lnTo>
                    <a:lnTo>
                      <a:pt x="231132" y="448863"/>
                    </a:lnTo>
                    <a:cubicBezTo>
                      <a:pt x="231132" y="455306"/>
                      <a:pt x="225949" y="460369"/>
                      <a:pt x="219615" y="460369"/>
                    </a:cubicBezTo>
                    <a:cubicBezTo>
                      <a:pt x="213280" y="460369"/>
                      <a:pt x="208097" y="455306"/>
                      <a:pt x="208097" y="448863"/>
                    </a:cubicBezTo>
                    <a:lnTo>
                      <a:pt x="208097" y="363372"/>
                    </a:lnTo>
                    <a:cubicBezTo>
                      <a:pt x="208097" y="341281"/>
                      <a:pt x="226064" y="323331"/>
                      <a:pt x="248178" y="323331"/>
                    </a:cubicBezTo>
                    <a:close/>
                    <a:moveTo>
                      <a:pt x="429337" y="322484"/>
                    </a:moveTo>
                    <a:lnTo>
                      <a:pt x="487165" y="322484"/>
                    </a:lnTo>
                    <a:cubicBezTo>
                      <a:pt x="493616" y="322484"/>
                      <a:pt x="498685" y="327662"/>
                      <a:pt x="498685" y="333991"/>
                    </a:cubicBezTo>
                    <a:lnTo>
                      <a:pt x="498685" y="353323"/>
                    </a:lnTo>
                    <a:cubicBezTo>
                      <a:pt x="498685" y="359652"/>
                      <a:pt x="493616" y="364830"/>
                      <a:pt x="487165" y="364830"/>
                    </a:cubicBezTo>
                    <a:cubicBezTo>
                      <a:pt x="480830" y="364830"/>
                      <a:pt x="475646" y="359652"/>
                      <a:pt x="475646" y="353323"/>
                    </a:cubicBezTo>
                    <a:lnTo>
                      <a:pt x="475646" y="345498"/>
                    </a:lnTo>
                    <a:lnTo>
                      <a:pt x="440856" y="345498"/>
                    </a:lnTo>
                    <a:lnTo>
                      <a:pt x="440856" y="380365"/>
                    </a:lnTo>
                    <a:lnTo>
                      <a:pt x="462053" y="380365"/>
                    </a:lnTo>
                    <a:cubicBezTo>
                      <a:pt x="468388" y="380365"/>
                      <a:pt x="473572" y="385428"/>
                      <a:pt x="473572" y="391872"/>
                    </a:cubicBezTo>
                    <a:cubicBezTo>
                      <a:pt x="473572" y="398201"/>
                      <a:pt x="468388" y="403379"/>
                      <a:pt x="462053" y="403379"/>
                    </a:cubicBezTo>
                    <a:lnTo>
                      <a:pt x="440856" y="403379"/>
                    </a:lnTo>
                    <a:lnTo>
                      <a:pt x="440856" y="438131"/>
                    </a:lnTo>
                    <a:lnTo>
                      <a:pt x="475646" y="438131"/>
                    </a:lnTo>
                    <a:lnTo>
                      <a:pt x="475646" y="433528"/>
                    </a:lnTo>
                    <a:cubicBezTo>
                      <a:pt x="475646" y="427199"/>
                      <a:pt x="480830" y="422021"/>
                      <a:pt x="487165" y="422021"/>
                    </a:cubicBezTo>
                    <a:cubicBezTo>
                      <a:pt x="493616" y="422021"/>
                      <a:pt x="498685" y="427199"/>
                      <a:pt x="498685" y="433528"/>
                    </a:cubicBezTo>
                    <a:lnTo>
                      <a:pt x="498685" y="449638"/>
                    </a:lnTo>
                    <a:cubicBezTo>
                      <a:pt x="498685" y="455967"/>
                      <a:pt x="493616" y="461145"/>
                      <a:pt x="487165" y="461145"/>
                    </a:cubicBezTo>
                    <a:lnTo>
                      <a:pt x="429337" y="461145"/>
                    </a:lnTo>
                    <a:cubicBezTo>
                      <a:pt x="423001" y="461145"/>
                      <a:pt x="417817" y="455967"/>
                      <a:pt x="417817" y="449638"/>
                    </a:cubicBezTo>
                    <a:lnTo>
                      <a:pt x="417817" y="333991"/>
                    </a:lnTo>
                    <a:cubicBezTo>
                      <a:pt x="417817" y="327662"/>
                      <a:pt x="423001" y="322484"/>
                      <a:pt x="429337" y="322484"/>
                    </a:cubicBezTo>
                    <a:close/>
                    <a:moveTo>
                      <a:pt x="330337" y="322484"/>
                    </a:moveTo>
                    <a:cubicBezTo>
                      <a:pt x="336790" y="322484"/>
                      <a:pt x="341861" y="327662"/>
                      <a:pt x="341861" y="333991"/>
                    </a:cubicBezTo>
                    <a:lnTo>
                      <a:pt x="341861" y="438131"/>
                    </a:lnTo>
                    <a:lnTo>
                      <a:pt x="376776" y="438131"/>
                    </a:lnTo>
                    <a:lnTo>
                      <a:pt x="376776" y="433528"/>
                    </a:lnTo>
                    <a:cubicBezTo>
                      <a:pt x="376776" y="427199"/>
                      <a:pt x="381847" y="422021"/>
                      <a:pt x="388300" y="422021"/>
                    </a:cubicBezTo>
                    <a:cubicBezTo>
                      <a:pt x="394638" y="422021"/>
                      <a:pt x="399823" y="427199"/>
                      <a:pt x="399823" y="433528"/>
                    </a:cubicBezTo>
                    <a:lnTo>
                      <a:pt x="399823" y="449638"/>
                    </a:lnTo>
                    <a:cubicBezTo>
                      <a:pt x="399823" y="455967"/>
                      <a:pt x="394638" y="461145"/>
                      <a:pt x="388300" y="461145"/>
                    </a:cubicBezTo>
                    <a:lnTo>
                      <a:pt x="330337" y="461145"/>
                    </a:lnTo>
                    <a:cubicBezTo>
                      <a:pt x="324000" y="461145"/>
                      <a:pt x="318814" y="455967"/>
                      <a:pt x="318814" y="449638"/>
                    </a:cubicBezTo>
                    <a:lnTo>
                      <a:pt x="318814" y="333991"/>
                    </a:lnTo>
                    <a:cubicBezTo>
                      <a:pt x="318814" y="327662"/>
                      <a:pt x="324000" y="322484"/>
                      <a:pt x="330337" y="322484"/>
                    </a:cubicBezTo>
                    <a:close/>
                    <a:moveTo>
                      <a:pt x="143107" y="322484"/>
                    </a:moveTo>
                    <a:lnTo>
                      <a:pt x="147484" y="322484"/>
                    </a:lnTo>
                    <a:cubicBezTo>
                      <a:pt x="167413" y="322484"/>
                      <a:pt x="183541" y="338709"/>
                      <a:pt x="183541" y="358501"/>
                    </a:cubicBezTo>
                    <a:cubicBezTo>
                      <a:pt x="183541" y="364830"/>
                      <a:pt x="178472" y="370009"/>
                      <a:pt x="172021" y="370009"/>
                    </a:cubicBezTo>
                    <a:cubicBezTo>
                      <a:pt x="165686" y="370009"/>
                      <a:pt x="160502" y="364830"/>
                      <a:pt x="160502" y="358501"/>
                    </a:cubicBezTo>
                    <a:cubicBezTo>
                      <a:pt x="160502" y="351367"/>
                      <a:pt x="154742" y="345498"/>
                      <a:pt x="147484" y="345498"/>
                    </a:cubicBezTo>
                    <a:lnTo>
                      <a:pt x="143107" y="345498"/>
                    </a:lnTo>
                    <a:cubicBezTo>
                      <a:pt x="133546" y="345498"/>
                      <a:pt x="125712" y="353323"/>
                      <a:pt x="125712" y="362874"/>
                    </a:cubicBezTo>
                    <a:cubicBezTo>
                      <a:pt x="125712" y="372540"/>
                      <a:pt x="133546" y="380365"/>
                      <a:pt x="143107" y="380365"/>
                    </a:cubicBezTo>
                    <a:cubicBezTo>
                      <a:pt x="165455" y="380365"/>
                      <a:pt x="183541" y="398431"/>
                      <a:pt x="183541" y="420755"/>
                    </a:cubicBezTo>
                    <a:cubicBezTo>
                      <a:pt x="183541" y="442964"/>
                      <a:pt x="165455" y="461145"/>
                      <a:pt x="143107" y="461145"/>
                    </a:cubicBezTo>
                    <a:lnTo>
                      <a:pt x="138730" y="461145"/>
                    </a:lnTo>
                    <a:cubicBezTo>
                      <a:pt x="118801" y="461145"/>
                      <a:pt x="102673" y="444920"/>
                      <a:pt x="102673" y="425128"/>
                    </a:cubicBezTo>
                    <a:cubicBezTo>
                      <a:pt x="102673" y="418799"/>
                      <a:pt x="107857" y="413621"/>
                      <a:pt x="114193" y="413621"/>
                    </a:cubicBezTo>
                    <a:cubicBezTo>
                      <a:pt x="120528" y="413621"/>
                      <a:pt x="125712" y="418799"/>
                      <a:pt x="125712" y="425128"/>
                    </a:cubicBezTo>
                    <a:cubicBezTo>
                      <a:pt x="125712" y="432262"/>
                      <a:pt x="131587" y="438131"/>
                      <a:pt x="138730" y="438131"/>
                    </a:cubicBezTo>
                    <a:lnTo>
                      <a:pt x="143107" y="438131"/>
                    </a:lnTo>
                    <a:cubicBezTo>
                      <a:pt x="152784" y="438131"/>
                      <a:pt x="160502" y="430306"/>
                      <a:pt x="160502" y="420755"/>
                    </a:cubicBezTo>
                    <a:cubicBezTo>
                      <a:pt x="160502" y="411089"/>
                      <a:pt x="152784" y="403379"/>
                      <a:pt x="143107" y="403379"/>
                    </a:cubicBezTo>
                    <a:cubicBezTo>
                      <a:pt x="120874" y="403379"/>
                      <a:pt x="102673" y="385198"/>
                      <a:pt x="102673" y="362874"/>
                    </a:cubicBezTo>
                    <a:cubicBezTo>
                      <a:pt x="102673" y="340665"/>
                      <a:pt x="120874" y="322484"/>
                      <a:pt x="143107" y="322484"/>
                    </a:cubicBezTo>
                    <a:close/>
                    <a:moveTo>
                      <a:pt x="197480" y="213528"/>
                    </a:moveTo>
                    <a:lnTo>
                      <a:pt x="197480" y="268988"/>
                    </a:lnTo>
                    <a:lnTo>
                      <a:pt x="211766" y="268988"/>
                    </a:lnTo>
                    <a:cubicBezTo>
                      <a:pt x="227089" y="268988"/>
                      <a:pt x="239532" y="256561"/>
                      <a:pt x="239532" y="241258"/>
                    </a:cubicBezTo>
                    <a:cubicBezTo>
                      <a:pt x="239532" y="225955"/>
                      <a:pt x="227089" y="213528"/>
                      <a:pt x="211766" y="213528"/>
                    </a:cubicBezTo>
                    <a:lnTo>
                      <a:pt x="207043" y="213528"/>
                    </a:lnTo>
                    <a:close/>
                    <a:moveTo>
                      <a:pt x="197480" y="149324"/>
                    </a:moveTo>
                    <a:lnTo>
                      <a:pt x="197480" y="190516"/>
                    </a:lnTo>
                    <a:lnTo>
                      <a:pt x="207043" y="190516"/>
                    </a:lnTo>
                    <a:cubicBezTo>
                      <a:pt x="218448" y="190516"/>
                      <a:pt x="227781" y="181311"/>
                      <a:pt x="227781" y="169920"/>
                    </a:cubicBezTo>
                    <a:cubicBezTo>
                      <a:pt x="227781" y="158529"/>
                      <a:pt x="218448" y="149324"/>
                      <a:pt x="207043" y="149324"/>
                    </a:cubicBezTo>
                    <a:close/>
                    <a:moveTo>
                      <a:pt x="384723" y="126312"/>
                    </a:moveTo>
                    <a:cubicBezTo>
                      <a:pt x="407987" y="126312"/>
                      <a:pt x="426991" y="145182"/>
                      <a:pt x="426991" y="168424"/>
                    </a:cubicBezTo>
                    <a:lnTo>
                      <a:pt x="426991" y="171416"/>
                    </a:lnTo>
                    <a:cubicBezTo>
                      <a:pt x="426991" y="177744"/>
                      <a:pt x="421808" y="182922"/>
                      <a:pt x="415474" y="182922"/>
                    </a:cubicBezTo>
                    <a:cubicBezTo>
                      <a:pt x="409024" y="182922"/>
                      <a:pt x="403956" y="177744"/>
                      <a:pt x="403956" y="171416"/>
                    </a:cubicBezTo>
                    <a:lnTo>
                      <a:pt x="403956" y="168424"/>
                    </a:lnTo>
                    <a:cubicBezTo>
                      <a:pt x="403956" y="157839"/>
                      <a:pt x="395318" y="149324"/>
                      <a:pt x="384723" y="149324"/>
                    </a:cubicBezTo>
                    <a:cubicBezTo>
                      <a:pt x="374127" y="149324"/>
                      <a:pt x="365489" y="157839"/>
                      <a:pt x="365489" y="168424"/>
                    </a:cubicBezTo>
                    <a:lnTo>
                      <a:pt x="365489" y="249773"/>
                    </a:lnTo>
                    <a:cubicBezTo>
                      <a:pt x="365489" y="260358"/>
                      <a:pt x="374127" y="268988"/>
                      <a:pt x="384723" y="268988"/>
                    </a:cubicBezTo>
                    <a:cubicBezTo>
                      <a:pt x="395318" y="268988"/>
                      <a:pt x="403956" y="260358"/>
                      <a:pt x="403956" y="249773"/>
                    </a:cubicBezTo>
                    <a:lnTo>
                      <a:pt x="403956" y="248277"/>
                    </a:lnTo>
                    <a:lnTo>
                      <a:pt x="391863" y="248277"/>
                    </a:lnTo>
                    <a:cubicBezTo>
                      <a:pt x="385529" y="248277"/>
                      <a:pt x="380346" y="243214"/>
                      <a:pt x="380346" y="236771"/>
                    </a:cubicBezTo>
                    <a:cubicBezTo>
                      <a:pt x="380346" y="230442"/>
                      <a:pt x="385529" y="225265"/>
                      <a:pt x="391863" y="225265"/>
                    </a:cubicBezTo>
                    <a:lnTo>
                      <a:pt x="415474" y="225265"/>
                    </a:lnTo>
                    <a:cubicBezTo>
                      <a:pt x="421808" y="225265"/>
                      <a:pt x="426991" y="230442"/>
                      <a:pt x="426991" y="236771"/>
                    </a:cubicBezTo>
                    <a:lnTo>
                      <a:pt x="426991" y="249773"/>
                    </a:lnTo>
                    <a:cubicBezTo>
                      <a:pt x="426991" y="273015"/>
                      <a:pt x="407987" y="292000"/>
                      <a:pt x="384723" y="292000"/>
                    </a:cubicBezTo>
                    <a:cubicBezTo>
                      <a:pt x="361458" y="292000"/>
                      <a:pt x="342454" y="273015"/>
                      <a:pt x="342454" y="249773"/>
                    </a:cubicBezTo>
                    <a:lnTo>
                      <a:pt x="342454" y="168424"/>
                    </a:lnTo>
                    <a:cubicBezTo>
                      <a:pt x="342454" y="145182"/>
                      <a:pt x="361458" y="126312"/>
                      <a:pt x="384723" y="126312"/>
                    </a:cubicBezTo>
                    <a:close/>
                    <a:moveTo>
                      <a:pt x="298668" y="126312"/>
                    </a:moveTo>
                    <a:cubicBezTo>
                      <a:pt x="305013" y="126312"/>
                      <a:pt x="310205" y="131375"/>
                      <a:pt x="310205" y="137818"/>
                    </a:cubicBezTo>
                    <a:lnTo>
                      <a:pt x="310205" y="280494"/>
                    </a:lnTo>
                    <a:cubicBezTo>
                      <a:pt x="310205" y="286822"/>
                      <a:pt x="305013" y="292000"/>
                      <a:pt x="298668" y="292000"/>
                    </a:cubicBezTo>
                    <a:cubicBezTo>
                      <a:pt x="292322" y="292000"/>
                      <a:pt x="287130" y="286822"/>
                      <a:pt x="287130" y="280494"/>
                    </a:cubicBezTo>
                    <a:lnTo>
                      <a:pt x="287130" y="137818"/>
                    </a:lnTo>
                    <a:cubicBezTo>
                      <a:pt x="287130" y="131375"/>
                      <a:pt x="292322" y="126312"/>
                      <a:pt x="298668" y="126312"/>
                    </a:cubicBezTo>
                    <a:close/>
                    <a:moveTo>
                      <a:pt x="185959" y="126312"/>
                    </a:moveTo>
                    <a:lnTo>
                      <a:pt x="207043" y="126312"/>
                    </a:lnTo>
                    <a:cubicBezTo>
                      <a:pt x="231237" y="126312"/>
                      <a:pt x="250823" y="145873"/>
                      <a:pt x="250823" y="169920"/>
                    </a:cubicBezTo>
                    <a:cubicBezTo>
                      <a:pt x="250823" y="181081"/>
                      <a:pt x="246560" y="191207"/>
                      <a:pt x="239762" y="198916"/>
                    </a:cubicBezTo>
                    <a:cubicBezTo>
                      <a:pt x="253472" y="208006"/>
                      <a:pt x="262574" y="223539"/>
                      <a:pt x="262574" y="241258"/>
                    </a:cubicBezTo>
                    <a:cubicBezTo>
                      <a:pt x="262574" y="269218"/>
                      <a:pt x="239762" y="292000"/>
                      <a:pt x="211766" y="292000"/>
                    </a:cubicBezTo>
                    <a:lnTo>
                      <a:pt x="185959" y="292000"/>
                    </a:lnTo>
                    <a:cubicBezTo>
                      <a:pt x="179623" y="292000"/>
                      <a:pt x="174438" y="286822"/>
                      <a:pt x="174438" y="280494"/>
                    </a:cubicBezTo>
                    <a:lnTo>
                      <a:pt x="174438" y="202022"/>
                    </a:lnTo>
                    <a:lnTo>
                      <a:pt x="174438" y="137818"/>
                    </a:lnTo>
                    <a:cubicBezTo>
                      <a:pt x="174438" y="131375"/>
                      <a:pt x="179623" y="126312"/>
                      <a:pt x="185959" y="126312"/>
                    </a:cubicBezTo>
                    <a:close/>
                    <a:moveTo>
                      <a:pt x="300737" y="23013"/>
                    </a:moveTo>
                    <a:cubicBezTo>
                      <a:pt x="147603" y="23013"/>
                      <a:pt x="23045" y="147396"/>
                      <a:pt x="23045" y="300315"/>
                    </a:cubicBezTo>
                    <a:cubicBezTo>
                      <a:pt x="23045" y="453119"/>
                      <a:pt x="147603" y="577503"/>
                      <a:pt x="300737" y="577503"/>
                    </a:cubicBezTo>
                    <a:cubicBezTo>
                      <a:pt x="345444" y="577503"/>
                      <a:pt x="389921" y="566687"/>
                      <a:pt x="429327" y="546091"/>
                    </a:cubicBezTo>
                    <a:cubicBezTo>
                      <a:pt x="430941" y="545170"/>
                      <a:pt x="432784" y="544710"/>
                      <a:pt x="434628" y="544710"/>
                    </a:cubicBezTo>
                    <a:cubicBezTo>
                      <a:pt x="437393" y="544710"/>
                      <a:pt x="440043" y="545745"/>
                      <a:pt x="442117" y="547586"/>
                    </a:cubicBezTo>
                    <a:cubicBezTo>
                      <a:pt x="463549" y="565997"/>
                      <a:pt x="489936" y="575317"/>
                      <a:pt x="508026" y="579919"/>
                    </a:cubicBezTo>
                    <a:cubicBezTo>
                      <a:pt x="494660" y="542294"/>
                      <a:pt x="500421" y="497994"/>
                      <a:pt x="500652" y="495808"/>
                    </a:cubicBezTo>
                    <a:cubicBezTo>
                      <a:pt x="500997" y="493392"/>
                      <a:pt x="502034" y="491205"/>
                      <a:pt x="503647" y="489479"/>
                    </a:cubicBezTo>
                    <a:cubicBezTo>
                      <a:pt x="551811" y="437931"/>
                      <a:pt x="578313" y="370734"/>
                      <a:pt x="578313" y="300315"/>
                    </a:cubicBezTo>
                    <a:cubicBezTo>
                      <a:pt x="578313" y="147396"/>
                      <a:pt x="453755" y="23013"/>
                      <a:pt x="300737" y="23013"/>
                    </a:cubicBezTo>
                    <a:close/>
                    <a:moveTo>
                      <a:pt x="300737" y="0"/>
                    </a:moveTo>
                    <a:cubicBezTo>
                      <a:pt x="466545" y="0"/>
                      <a:pt x="601358" y="134739"/>
                      <a:pt x="601358" y="300315"/>
                    </a:cubicBezTo>
                    <a:cubicBezTo>
                      <a:pt x="601358" y="375337"/>
                      <a:pt x="573589" y="446906"/>
                      <a:pt x="523120" y="502251"/>
                    </a:cubicBezTo>
                    <a:cubicBezTo>
                      <a:pt x="521968" y="515254"/>
                      <a:pt x="519318" y="561394"/>
                      <a:pt x="537984" y="589124"/>
                    </a:cubicBezTo>
                    <a:cubicBezTo>
                      <a:pt x="540519" y="592806"/>
                      <a:pt x="540635" y="597524"/>
                      <a:pt x="538330" y="601436"/>
                    </a:cubicBezTo>
                    <a:cubicBezTo>
                      <a:pt x="536256" y="604888"/>
                      <a:pt x="532569" y="607074"/>
                      <a:pt x="528421" y="607074"/>
                    </a:cubicBezTo>
                    <a:cubicBezTo>
                      <a:pt x="528075" y="607074"/>
                      <a:pt x="527729" y="606959"/>
                      <a:pt x="527384" y="606959"/>
                    </a:cubicBezTo>
                    <a:cubicBezTo>
                      <a:pt x="525079" y="606729"/>
                      <a:pt x="474150" y="601551"/>
                      <a:pt x="433130" y="569909"/>
                    </a:cubicBezTo>
                    <a:cubicBezTo>
                      <a:pt x="392225" y="589930"/>
                      <a:pt x="346596" y="600516"/>
                      <a:pt x="300737" y="600516"/>
                    </a:cubicBezTo>
                    <a:cubicBezTo>
                      <a:pt x="134928" y="600516"/>
                      <a:pt x="0" y="465891"/>
                      <a:pt x="0" y="300315"/>
                    </a:cubicBezTo>
                    <a:cubicBezTo>
                      <a:pt x="0" y="134739"/>
                      <a:pt x="134928" y="0"/>
                      <a:pt x="300737" y="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grpSp>
        <p:grpSp>
          <p:nvGrpSpPr>
            <p:cNvPr id="129" name="组合 128"/>
            <p:cNvGrpSpPr/>
            <p:nvPr/>
          </p:nvGrpSpPr>
          <p:grpSpPr>
            <a:xfrm>
              <a:off x="6750817" y="4808840"/>
              <a:ext cx="637569" cy="637569"/>
              <a:chOff x="7356420" y="4426720"/>
              <a:chExt cx="847497" cy="847497"/>
            </a:xfrm>
          </p:grpSpPr>
          <p:sp>
            <p:nvSpPr>
              <p:cNvPr id="146" name="iS1ide-Oval 24"/>
              <p:cNvSpPr/>
              <p:nvPr/>
            </p:nvSpPr>
            <p:spPr>
              <a:xfrm>
                <a:off x="7356420" y="4426720"/>
                <a:ext cx="847497" cy="847497"/>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47" name="iS1ide-AutoShape 75"/>
              <p:cNvSpPr>
                <a:spLocks/>
              </p:cNvSpPr>
              <p:nvPr/>
            </p:nvSpPr>
            <p:spPr bwMode="auto">
              <a:xfrm>
                <a:off x="7506761" y="4586808"/>
                <a:ext cx="548721" cy="468594"/>
              </a:xfrm>
              <a:custGeom>
                <a:avLst/>
                <a:gdLst>
                  <a:gd name="T0" fmla="*/ 320 w 753"/>
                  <a:gd name="T1" fmla="*/ 41 h 644"/>
                  <a:gd name="T2" fmla="*/ 356 w 753"/>
                  <a:gd name="T3" fmla="*/ 33 h 644"/>
                  <a:gd name="T4" fmla="*/ 384 w 753"/>
                  <a:gd name="T5" fmla="*/ 5 h 644"/>
                  <a:gd name="T6" fmla="*/ 403 w 753"/>
                  <a:gd name="T7" fmla="*/ 37 h 644"/>
                  <a:gd name="T8" fmla="*/ 438 w 753"/>
                  <a:gd name="T9" fmla="*/ 55 h 644"/>
                  <a:gd name="T10" fmla="*/ 413 w 753"/>
                  <a:gd name="T11" fmla="*/ 83 h 644"/>
                  <a:gd name="T12" fmla="*/ 407 w 753"/>
                  <a:gd name="T13" fmla="*/ 121 h 644"/>
                  <a:gd name="T14" fmla="*/ 373 w 753"/>
                  <a:gd name="T15" fmla="*/ 107 h 644"/>
                  <a:gd name="T16" fmla="*/ 335 w 753"/>
                  <a:gd name="T17" fmla="*/ 113 h 644"/>
                  <a:gd name="T18" fmla="*/ 338 w 753"/>
                  <a:gd name="T19" fmla="*/ 76 h 644"/>
                  <a:gd name="T20" fmla="*/ 650 w 753"/>
                  <a:gd name="T21" fmla="*/ 321 h 644"/>
                  <a:gd name="T22" fmla="*/ 690 w 753"/>
                  <a:gd name="T23" fmla="*/ 604 h 644"/>
                  <a:gd name="T24" fmla="*/ 690 w 753"/>
                  <a:gd name="T25" fmla="*/ 644 h 644"/>
                  <a:gd name="T26" fmla="*/ 43 w 753"/>
                  <a:gd name="T27" fmla="*/ 624 h 644"/>
                  <a:gd name="T28" fmla="*/ 103 w 753"/>
                  <a:gd name="T29" fmla="*/ 604 h 644"/>
                  <a:gd name="T30" fmla="*/ 0 w 753"/>
                  <a:gd name="T31" fmla="*/ 198 h 644"/>
                  <a:gd name="T32" fmla="*/ 115 w 753"/>
                  <a:gd name="T33" fmla="*/ 93 h 644"/>
                  <a:gd name="T34" fmla="*/ 267 w 753"/>
                  <a:gd name="T35" fmla="*/ 89 h 644"/>
                  <a:gd name="T36" fmla="*/ 377 w 753"/>
                  <a:gd name="T37" fmla="*/ 163 h 644"/>
                  <a:gd name="T38" fmla="*/ 486 w 753"/>
                  <a:gd name="T39" fmla="*/ 89 h 644"/>
                  <a:gd name="T40" fmla="*/ 638 w 753"/>
                  <a:gd name="T41" fmla="*/ 93 h 644"/>
                  <a:gd name="T42" fmla="*/ 753 w 753"/>
                  <a:gd name="T43" fmla="*/ 198 h 644"/>
                  <a:gd name="T44" fmla="*/ 610 w 753"/>
                  <a:gd name="T45" fmla="*/ 604 h 644"/>
                  <a:gd name="T46" fmla="*/ 544 w 753"/>
                  <a:gd name="T47" fmla="*/ 291 h 644"/>
                  <a:gd name="T48" fmla="*/ 377 w 753"/>
                  <a:gd name="T49" fmla="*/ 291 h 644"/>
                  <a:gd name="T50" fmla="*/ 209 w 753"/>
                  <a:gd name="T51" fmla="*/ 291 h 644"/>
                  <a:gd name="T52" fmla="*/ 143 w 753"/>
                  <a:gd name="T53" fmla="*/ 604 h 644"/>
                  <a:gd name="T54" fmla="*/ 412 w 753"/>
                  <a:gd name="T55" fmla="*/ 377 h 644"/>
                  <a:gd name="T56" fmla="*/ 567 w 753"/>
                  <a:gd name="T57" fmla="*/ 357 h 644"/>
                  <a:gd name="T58" fmla="*/ 587 w 753"/>
                  <a:gd name="T59" fmla="*/ 604 h 644"/>
                  <a:gd name="T60" fmla="*/ 389 w 753"/>
                  <a:gd name="T61" fmla="*/ 377 h 644"/>
                  <a:gd name="T62" fmla="*/ 369 w 753"/>
                  <a:gd name="T63" fmla="*/ 561 h 644"/>
                  <a:gd name="T64" fmla="*/ 166 w 753"/>
                  <a:gd name="T65" fmla="*/ 541 h 644"/>
                  <a:gd name="T66" fmla="*/ 186 w 753"/>
                  <a:gd name="T67" fmla="*/ 357 h 644"/>
                  <a:gd name="T68" fmla="*/ 389 w 753"/>
                  <a:gd name="T69" fmla="*/ 377 h 644"/>
                  <a:gd name="T70" fmla="*/ 206 w 753"/>
                  <a:gd name="T71" fmla="*/ 397 h 644"/>
                  <a:gd name="T72" fmla="*/ 349 w 753"/>
                  <a:gd name="T73" fmla="*/ 521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3" h="644">
                    <a:moveTo>
                      <a:pt x="316" y="55"/>
                    </a:moveTo>
                    <a:cubicBezTo>
                      <a:pt x="311" y="50"/>
                      <a:pt x="314" y="42"/>
                      <a:pt x="320" y="41"/>
                    </a:cubicBezTo>
                    <a:lnTo>
                      <a:pt x="350" y="37"/>
                    </a:lnTo>
                    <a:cubicBezTo>
                      <a:pt x="353" y="37"/>
                      <a:pt x="355" y="35"/>
                      <a:pt x="356" y="33"/>
                    </a:cubicBezTo>
                    <a:lnTo>
                      <a:pt x="370" y="5"/>
                    </a:lnTo>
                    <a:cubicBezTo>
                      <a:pt x="373" y="0"/>
                      <a:pt x="381" y="0"/>
                      <a:pt x="384" y="5"/>
                    </a:cubicBezTo>
                    <a:lnTo>
                      <a:pt x="397" y="33"/>
                    </a:lnTo>
                    <a:cubicBezTo>
                      <a:pt x="398" y="35"/>
                      <a:pt x="400" y="37"/>
                      <a:pt x="403" y="37"/>
                    </a:cubicBezTo>
                    <a:lnTo>
                      <a:pt x="433" y="41"/>
                    </a:lnTo>
                    <a:cubicBezTo>
                      <a:pt x="440" y="42"/>
                      <a:pt x="442" y="50"/>
                      <a:pt x="438" y="55"/>
                    </a:cubicBezTo>
                    <a:lnTo>
                      <a:pt x="416" y="76"/>
                    </a:lnTo>
                    <a:cubicBezTo>
                      <a:pt x="414" y="78"/>
                      <a:pt x="413" y="80"/>
                      <a:pt x="413" y="83"/>
                    </a:cubicBezTo>
                    <a:lnTo>
                      <a:pt x="419" y="113"/>
                    </a:lnTo>
                    <a:cubicBezTo>
                      <a:pt x="420" y="119"/>
                      <a:pt x="413" y="124"/>
                      <a:pt x="407" y="121"/>
                    </a:cubicBezTo>
                    <a:lnTo>
                      <a:pt x="380" y="107"/>
                    </a:lnTo>
                    <a:cubicBezTo>
                      <a:pt x="378" y="106"/>
                      <a:pt x="375" y="106"/>
                      <a:pt x="373" y="107"/>
                    </a:cubicBezTo>
                    <a:lnTo>
                      <a:pt x="346" y="121"/>
                    </a:lnTo>
                    <a:cubicBezTo>
                      <a:pt x="340" y="124"/>
                      <a:pt x="334" y="119"/>
                      <a:pt x="335" y="113"/>
                    </a:cubicBezTo>
                    <a:lnTo>
                      <a:pt x="340" y="83"/>
                    </a:lnTo>
                    <a:cubicBezTo>
                      <a:pt x="340" y="80"/>
                      <a:pt x="339" y="78"/>
                      <a:pt x="338" y="76"/>
                    </a:cubicBezTo>
                    <a:lnTo>
                      <a:pt x="316" y="55"/>
                    </a:lnTo>
                    <a:close/>
                    <a:moveTo>
                      <a:pt x="650" y="321"/>
                    </a:moveTo>
                    <a:lnTo>
                      <a:pt x="650" y="604"/>
                    </a:lnTo>
                    <a:lnTo>
                      <a:pt x="690" y="604"/>
                    </a:lnTo>
                    <a:cubicBezTo>
                      <a:pt x="701" y="604"/>
                      <a:pt x="710" y="613"/>
                      <a:pt x="710" y="624"/>
                    </a:cubicBezTo>
                    <a:cubicBezTo>
                      <a:pt x="710" y="635"/>
                      <a:pt x="701" y="644"/>
                      <a:pt x="690" y="644"/>
                    </a:cubicBezTo>
                    <a:lnTo>
                      <a:pt x="63" y="644"/>
                    </a:lnTo>
                    <a:cubicBezTo>
                      <a:pt x="52" y="644"/>
                      <a:pt x="43" y="635"/>
                      <a:pt x="43" y="624"/>
                    </a:cubicBezTo>
                    <a:cubicBezTo>
                      <a:pt x="43" y="613"/>
                      <a:pt x="52" y="604"/>
                      <a:pt x="63" y="604"/>
                    </a:cubicBezTo>
                    <a:lnTo>
                      <a:pt x="103" y="604"/>
                    </a:lnTo>
                    <a:lnTo>
                      <a:pt x="103" y="321"/>
                    </a:lnTo>
                    <a:cubicBezTo>
                      <a:pt x="45" y="311"/>
                      <a:pt x="0" y="259"/>
                      <a:pt x="0" y="198"/>
                    </a:cubicBezTo>
                    <a:cubicBezTo>
                      <a:pt x="0" y="192"/>
                      <a:pt x="3" y="186"/>
                      <a:pt x="7" y="182"/>
                    </a:cubicBezTo>
                    <a:lnTo>
                      <a:pt x="115" y="93"/>
                    </a:lnTo>
                    <a:cubicBezTo>
                      <a:pt x="119" y="90"/>
                      <a:pt x="123" y="89"/>
                      <a:pt x="128" y="89"/>
                    </a:cubicBezTo>
                    <a:lnTo>
                      <a:pt x="267" y="89"/>
                    </a:lnTo>
                    <a:cubicBezTo>
                      <a:pt x="275" y="89"/>
                      <a:pt x="283" y="94"/>
                      <a:pt x="286" y="101"/>
                    </a:cubicBezTo>
                    <a:cubicBezTo>
                      <a:pt x="301" y="139"/>
                      <a:pt x="336" y="163"/>
                      <a:pt x="377" y="163"/>
                    </a:cubicBezTo>
                    <a:cubicBezTo>
                      <a:pt x="417" y="163"/>
                      <a:pt x="453" y="139"/>
                      <a:pt x="468" y="101"/>
                    </a:cubicBezTo>
                    <a:cubicBezTo>
                      <a:pt x="471" y="94"/>
                      <a:pt x="478" y="89"/>
                      <a:pt x="486" y="89"/>
                    </a:cubicBezTo>
                    <a:lnTo>
                      <a:pt x="626" y="89"/>
                    </a:lnTo>
                    <a:cubicBezTo>
                      <a:pt x="630" y="89"/>
                      <a:pt x="635" y="90"/>
                      <a:pt x="638" y="93"/>
                    </a:cubicBezTo>
                    <a:lnTo>
                      <a:pt x="746" y="182"/>
                    </a:lnTo>
                    <a:cubicBezTo>
                      <a:pt x="751" y="186"/>
                      <a:pt x="753" y="192"/>
                      <a:pt x="753" y="198"/>
                    </a:cubicBezTo>
                    <a:cubicBezTo>
                      <a:pt x="753" y="259"/>
                      <a:pt x="709" y="311"/>
                      <a:pt x="650" y="321"/>
                    </a:cubicBezTo>
                    <a:close/>
                    <a:moveTo>
                      <a:pt x="610" y="604"/>
                    </a:moveTo>
                    <a:lnTo>
                      <a:pt x="610" y="322"/>
                    </a:lnTo>
                    <a:cubicBezTo>
                      <a:pt x="585" y="318"/>
                      <a:pt x="563" y="308"/>
                      <a:pt x="544" y="291"/>
                    </a:cubicBezTo>
                    <a:cubicBezTo>
                      <a:pt x="521" y="312"/>
                      <a:pt x="492" y="323"/>
                      <a:pt x="460" y="323"/>
                    </a:cubicBezTo>
                    <a:cubicBezTo>
                      <a:pt x="429" y="323"/>
                      <a:pt x="399" y="312"/>
                      <a:pt x="377" y="291"/>
                    </a:cubicBezTo>
                    <a:cubicBezTo>
                      <a:pt x="354" y="312"/>
                      <a:pt x="324" y="323"/>
                      <a:pt x="293" y="323"/>
                    </a:cubicBezTo>
                    <a:cubicBezTo>
                      <a:pt x="262" y="323"/>
                      <a:pt x="232" y="312"/>
                      <a:pt x="209" y="291"/>
                    </a:cubicBezTo>
                    <a:cubicBezTo>
                      <a:pt x="191" y="308"/>
                      <a:pt x="168" y="318"/>
                      <a:pt x="143" y="322"/>
                    </a:cubicBezTo>
                    <a:lnTo>
                      <a:pt x="143" y="604"/>
                    </a:lnTo>
                    <a:lnTo>
                      <a:pt x="412" y="604"/>
                    </a:lnTo>
                    <a:lnTo>
                      <a:pt x="412" y="377"/>
                    </a:lnTo>
                    <a:cubicBezTo>
                      <a:pt x="412" y="366"/>
                      <a:pt x="421" y="357"/>
                      <a:pt x="432" y="357"/>
                    </a:cubicBezTo>
                    <a:lnTo>
                      <a:pt x="567" y="357"/>
                    </a:lnTo>
                    <a:cubicBezTo>
                      <a:pt x="578" y="357"/>
                      <a:pt x="587" y="366"/>
                      <a:pt x="587" y="377"/>
                    </a:cubicBezTo>
                    <a:lnTo>
                      <a:pt x="587" y="604"/>
                    </a:lnTo>
                    <a:lnTo>
                      <a:pt x="610" y="604"/>
                    </a:lnTo>
                    <a:close/>
                    <a:moveTo>
                      <a:pt x="389" y="377"/>
                    </a:moveTo>
                    <a:lnTo>
                      <a:pt x="389" y="541"/>
                    </a:lnTo>
                    <a:cubicBezTo>
                      <a:pt x="389" y="552"/>
                      <a:pt x="380" y="561"/>
                      <a:pt x="369" y="561"/>
                    </a:cubicBezTo>
                    <a:lnTo>
                      <a:pt x="186" y="561"/>
                    </a:lnTo>
                    <a:cubicBezTo>
                      <a:pt x="175" y="561"/>
                      <a:pt x="166" y="552"/>
                      <a:pt x="166" y="541"/>
                    </a:cubicBezTo>
                    <a:lnTo>
                      <a:pt x="166" y="377"/>
                    </a:lnTo>
                    <a:cubicBezTo>
                      <a:pt x="166" y="366"/>
                      <a:pt x="175" y="357"/>
                      <a:pt x="186" y="357"/>
                    </a:cubicBezTo>
                    <a:lnTo>
                      <a:pt x="369" y="357"/>
                    </a:lnTo>
                    <a:cubicBezTo>
                      <a:pt x="380" y="357"/>
                      <a:pt x="389" y="366"/>
                      <a:pt x="389" y="377"/>
                    </a:cubicBezTo>
                    <a:close/>
                    <a:moveTo>
                      <a:pt x="349" y="397"/>
                    </a:moveTo>
                    <a:lnTo>
                      <a:pt x="206" y="397"/>
                    </a:lnTo>
                    <a:lnTo>
                      <a:pt x="206" y="521"/>
                    </a:lnTo>
                    <a:lnTo>
                      <a:pt x="349" y="521"/>
                    </a:lnTo>
                    <a:lnTo>
                      <a:pt x="349" y="397"/>
                    </a:lnTo>
                    <a:close/>
                  </a:path>
                </a:pathLst>
              </a:custGeom>
              <a:solidFill>
                <a:schemeClr val="bg1"/>
              </a:solidFill>
              <a:ln>
                <a:noFill/>
              </a:ln>
              <a:effectLst/>
              <a:extLst/>
            </p:spPr>
            <p:txBody>
              <a:bodyPr lIns="121888" tIns="121888" rIns="121888" bIns="12188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hangingPunct="0">
                  <a:spcBef>
                    <a:spcPct val="0"/>
                  </a:spcBef>
                  <a:spcAft>
                    <a:spcPct val="0"/>
                  </a:spcAft>
                </a:pPr>
                <a:endParaRPr lang="zh-CN" altLang="zh-CN" sz="480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grpSp>
        <p:grpSp>
          <p:nvGrpSpPr>
            <p:cNvPr id="130" name="组合 129"/>
            <p:cNvGrpSpPr/>
            <p:nvPr/>
          </p:nvGrpSpPr>
          <p:grpSpPr>
            <a:xfrm>
              <a:off x="7472644" y="1146501"/>
              <a:ext cx="4597286" cy="1178361"/>
              <a:chOff x="89350" y="1685793"/>
              <a:chExt cx="5864467" cy="1178361"/>
            </a:xfrm>
          </p:grpSpPr>
          <p:sp>
            <p:nvSpPr>
              <p:cNvPr id="144" name="iS1ide-TextBox 5"/>
              <p:cNvSpPr txBox="1"/>
              <p:nvPr/>
            </p:nvSpPr>
            <p:spPr>
              <a:xfrm>
                <a:off x="89350" y="2177830"/>
                <a:ext cx="5864467" cy="686324"/>
              </a:xfrm>
              <a:prstGeom prst="rect">
                <a:avLst/>
              </a:prstGeom>
              <a:noFill/>
            </p:spPr>
            <p:txBody>
              <a:bodyPr wrap="square" lIns="0" tIns="0" rIns="0" bIns="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defTabSz="685784">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Online Message and File Interface</a:t>
                </a:r>
              </a:p>
              <a:p>
                <a:pPr marL="171450" indent="-171450" defTabSz="685784">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Payment Transactions</a:t>
                </a:r>
              </a:p>
              <a:p>
                <a:pPr marL="171450" indent="-171450" defTabSz="685784">
                  <a:spcBef>
                    <a:spcPct val="0"/>
                  </a:spcBef>
                  <a:buFont typeface="Wingdings" panose="05000000000000000000" pitchFamily="2" charset="2"/>
                  <a:buChar char="p"/>
                  <a:defRPr/>
                </a:pPr>
                <a:r>
                  <a:rPr lang="en-US" altLang="zh-CN" sz="1150" dirty="0">
                    <a:latin typeface="Georgia" panose="02040502050405020303" pitchFamily="18" charset="0"/>
                    <a:cs typeface="+mn-ea"/>
                    <a:sym typeface="+mn-lt"/>
                  </a:rPr>
                  <a:t>T</a:t>
                </a:r>
                <a:r>
                  <a:rPr lang="en-US" altLang="zh-CN" sz="1150" dirty="0" smtClean="0">
                    <a:latin typeface="Georgia" panose="02040502050405020303" pitchFamily="18" charset="0"/>
                    <a:cs typeface="+mn-ea"/>
                    <a:sym typeface="+mn-lt"/>
                  </a:rPr>
                  <a:t>ransaction Status Inquiry</a:t>
                </a:r>
              </a:p>
              <a:p>
                <a:pPr marL="171450" indent="-171450" defTabSz="685784">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Cancellation and Refund using </a:t>
                </a:r>
                <a:r>
                  <a:rPr lang="en-US" altLang="zh-CN" sz="1150" dirty="0">
                    <a:latin typeface="Georgia" panose="02040502050405020303" pitchFamily="18" charset="0"/>
                    <a:cs typeface="+mn-ea"/>
                    <a:sym typeface="+mn-lt"/>
                  </a:rPr>
                  <a:t>QRC voucher </a:t>
                </a:r>
                <a:r>
                  <a:rPr lang="en-US" altLang="zh-CN" sz="1150" dirty="0" smtClean="0">
                    <a:latin typeface="Georgia" panose="02040502050405020303" pitchFamily="18" charset="0"/>
                    <a:cs typeface="+mn-ea"/>
                    <a:sym typeface="+mn-lt"/>
                  </a:rPr>
                  <a:t>number</a:t>
                </a:r>
                <a:endParaRPr lang="en-US" altLang="zh-CN" sz="1150" dirty="0">
                  <a:latin typeface="Georgia" panose="02040502050405020303" pitchFamily="18" charset="0"/>
                  <a:cs typeface="+mn-ea"/>
                  <a:sym typeface="+mn-lt"/>
                </a:endParaRPr>
              </a:p>
            </p:txBody>
          </p:sp>
          <p:sp>
            <p:nvSpPr>
              <p:cNvPr id="145" name="iS1ide-Rectangle 23"/>
              <p:cNvSpPr/>
              <p:nvPr/>
            </p:nvSpPr>
            <p:spPr>
              <a:xfrm>
                <a:off x="89352" y="1685793"/>
                <a:ext cx="3288631" cy="306376"/>
              </a:xfrm>
              <a:prstGeom prst="rect">
                <a:avLst/>
              </a:prstGeom>
            </p:spPr>
            <p:txBody>
              <a:bodyPr wrap="non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4">
                  <a:spcBef>
                    <a:spcPct val="0"/>
                  </a:spcBef>
                  <a:defRPr/>
                </a:pPr>
                <a:r>
                  <a:rPr lang="en-US" altLang="zh-CN" sz="1200" b="1" dirty="0" smtClean="0">
                    <a:solidFill>
                      <a:srgbClr val="C00000"/>
                    </a:solidFill>
                    <a:latin typeface="Georgia" panose="02040502050405020303" pitchFamily="18" charset="0"/>
                    <a:cs typeface="+mn-ea"/>
                    <a:sym typeface="+mn-lt"/>
                  </a:rPr>
                  <a:t>Acquirer Host System</a:t>
                </a:r>
                <a:endParaRPr lang="en-US" altLang="zh-CN" sz="1200" b="1" dirty="0">
                  <a:solidFill>
                    <a:srgbClr val="C00000"/>
                  </a:solidFill>
                  <a:latin typeface="Georgia" panose="02040502050405020303" pitchFamily="18" charset="0"/>
                  <a:cs typeface="+mn-ea"/>
                  <a:sym typeface="+mn-lt"/>
                </a:endParaRPr>
              </a:p>
            </p:txBody>
          </p:sp>
        </p:grpSp>
        <p:grpSp>
          <p:nvGrpSpPr>
            <p:cNvPr id="131" name="组合 130"/>
            <p:cNvGrpSpPr/>
            <p:nvPr/>
          </p:nvGrpSpPr>
          <p:grpSpPr>
            <a:xfrm>
              <a:off x="6299693" y="2758498"/>
              <a:ext cx="5717176" cy="2050344"/>
              <a:chOff x="-116703" y="2288319"/>
              <a:chExt cx="7293041" cy="2050344"/>
            </a:xfrm>
          </p:grpSpPr>
          <p:sp>
            <p:nvSpPr>
              <p:cNvPr id="142" name="iS1ide-TextBox 5"/>
              <p:cNvSpPr txBox="1"/>
              <p:nvPr/>
            </p:nvSpPr>
            <p:spPr>
              <a:xfrm>
                <a:off x="-116703" y="2552388"/>
                <a:ext cx="7293041" cy="1786275"/>
              </a:xfrm>
              <a:prstGeom prst="rect">
                <a:avLst/>
              </a:prstGeom>
              <a:noFill/>
            </p:spPr>
            <p:txBody>
              <a:bodyPr wrap="square" lIns="0" tIns="0" rIns="0" bIns="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defTabSz="685784">
                  <a:lnSpc>
                    <a:spcPct val="120000"/>
                  </a:lnSpc>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Merchant Enrollment</a:t>
                </a:r>
              </a:p>
              <a:p>
                <a:pPr marL="171450" indent="-171450" defTabSz="685784">
                  <a:lnSpc>
                    <a:spcPct val="120000"/>
                  </a:lnSpc>
                  <a:spcBef>
                    <a:spcPct val="0"/>
                  </a:spcBef>
                  <a:buFont typeface="Wingdings" panose="05000000000000000000" pitchFamily="2" charset="2"/>
                  <a:buChar char="p"/>
                  <a:defRPr/>
                </a:pPr>
                <a:r>
                  <a:rPr lang="en-US" altLang="zh-CN" sz="1150" dirty="0">
                    <a:latin typeface="Georgia" panose="02040502050405020303" pitchFamily="18" charset="0"/>
                    <a:cs typeface="+mn-ea"/>
                    <a:sym typeface="+mn-lt"/>
                  </a:rPr>
                  <a:t>QR Code generation and </a:t>
                </a:r>
                <a:r>
                  <a:rPr lang="en-US" altLang="zh-CN" sz="1150" dirty="0" smtClean="0">
                    <a:latin typeface="Georgia" panose="02040502050405020303" pitchFamily="18" charset="0"/>
                    <a:cs typeface="+mn-ea"/>
                    <a:sym typeface="+mn-lt"/>
                  </a:rPr>
                  <a:t>management </a:t>
                </a:r>
                <a:r>
                  <a:rPr lang="en-US" altLang="zh-CN" sz="1150" dirty="0">
                    <a:latin typeface="Georgia" panose="02040502050405020303" pitchFamily="18" charset="0"/>
                    <a:cs typeface="+mn-ea"/>
                    <a:sym typeface="+mn-lt"/>
                  </a:rPr>
                  <a:t>(Static/Dynamic</a:t>
                </a:r>
                <a:r>
                  <a:rPr lang="en-US" altLang="zh-CN" sz="1150" dirty="0" smtClean="0">
                    <a:latin typeface="Georgia" panose="02040502050405020303" pitchFamily="18" charset="0"/>
                    <a:cs typeface="+mn-ea"/>
                    <a:sym typeface="+mn-lt"/>
                  </a:rPr>
                  <a:t>)</a:t>
                </a:r>
                <a:endParaRPr lang="en-US" altLang="zh-CN" sz="1150" dirty="0">
                  <a:latin typeface="Georgia" panose="02040502050405020303" pitchFamily="18" charset="0"/>
                  <a:cs typeface="+mn-ea"/>
                  <a:sym typeface="+mn-lt"/>
                </a:endParaRPr>
              </a:p>
              <a:p>
                <a:pPr marL="171450" indent="-171450" defTabSz="685784">
                  <a:lnSpc>
                    <a:spcPct val="120000"/>
                  </a:lnSpc>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Merchant </a:t>
                </a:r>
                <a:r>
                  <a:rPr lang="en-US" altLang="zh-CN" sz="1150" dirty="0">
                    <a:latin typeface="Georgia" panose="02040502050405020303" pitchFamily="18" charset="0"/>
                    <a:cs typeface="+mn-ea"/>
                    <a:sym typeface="+mn-lt"/>
                  </a:rPr>
                  <a:t>Payment Notification</a:t>
                </a:r>
              </a:p>
              <a:p>
                <a:pPr marL="171450" indent="-171450" defTabSz="685784">
                  <a:lnSpc>
                    <a:spcPct val="120000"/>
                  </a:lnSpc>
                  <a:spcBef>
                    <a:spcPct val="0"/>
                  </a:spcBef>
                  <a:buFont typeface="Wingdings" panose="05000000000000000000" pitchFamily="2" charset="2"/>
                  <a:buChar char="p"/>
                  <a:defRPr/>
                </a:pPr>
                <a:r>
                  <a:rPr lang="en-US" altLang="zh-CN" sz="1150" dirty="0">
                    <a:latin typeface="Georgia" panose="02040502050405020303" pitchFamily="18" charset="0"/>
                    <a:cs typeface="+mn-ea"/>
                    <a:sym typeface="+mn-lt"/>
                  </a:rPr>
                  <a:t>Cancellation/Refund </a:t>
                </a:r>
                <a:r>
                  <a:rPr lang="en-US" altLang="zh-CN" sz="1150" dirty="0" smtClean="0">
                    <a:latin typeface="Georgia" panose="02040502050405020303" pitchFamily="18" charset="0"/>
                    <a:cs typeface="+mn-ea"/>
                    <a:sym typeface="+mn-lt"/>
                  </a:rPr>
                  <a:t>using </a:t>
                </a:r>
                <a:r>
                  <a:rPr lang="en-US" altLang="zh-CN" sz="1150" dirty="0">
                    <a:latin typeface="Georgia" panose="02040502050405020303" pitchFamily="18" charset="0"/>
                    <a:cs typeface="+mn-ea"/>
                    <a:sym typeface="+mn-lt"/>
                  </a:rPr>
                  <a:t>QRC voucher number</a:t>
                </a:r>
              </a:p>
              <a:p>
                <a:pPr marL="171450" indent="-171450" defTabSz="685784">
                  <a:lnSpc>
                    <a:spcPct val="120000"/>
                  </a:lnSpc>
                  <a:spcBef>
                    <a:spcPct val="0"/>
                  </a:spcBef>
                  <a:buFont typeface="Wingdings" panose="05000000000000000000" pitchFamily="2" charset="2"/>
                  <a:buChar char="p"/>
                  <a:defRPr/>
                </a:pPr>
                <a:r>
                  <a:rPr lang="en-US" altLang="zh-CN" sz="1150" dirty="0" smtClean="0">
                    <a:latin typeface="Georgia" panose="02040502050405020303" pitchFamily="18" charset="0"/>
                    <a:cs typeface="+mn-ea"/>
                    <a:sym typeface="+mn-lt"/>
                  </a:rPr>
                  <a:t>Statistics </a:t>
                </a:r>
                <a:r>
                  <a:rPr lang="en-US" altLang="zh-CN" sz="1150" dirty="0">
                    <a:latin typeface="Georgia" panose="02040502050405020303" pitchFamily="18" charset="0"/>
                    <a:cs typeface="+mn-ea"/>
                    <a:sym typeface="+mn-lt"/>
                  </a:rPr>
                  <a:t>and Reporting</a:t>
                </a:r>
              </a:p>
              <a:p>
                <a:pPr marL="171450" indent="-171450" defTabSz="685784">
                  <a:lnSpc>
                    <a:spcPct val="120000"/>
                  </a:lnSpc>
                  <a:spcBef>
                    <a:spcPct val="0"/>
                  </a:spcBef>
                  <a:buFont typeface="Wingdings" panose="05000000000000000000" pitchFamily="2" charset="2"/>
                  <a:buChar char="p"/>
                  <a:defRPr/>
                </a:pPr>
                <a:endParaRPr lang="en-US" altLang="zh-CN" sz="1150" dirty="0">
                  <a:latin typeface="Georgia" panose="02040502050405020303" pitchFamily="18" charset="0"/>
                  <a:cs typeface="+mn-ea"/>
                  <a:sym typeface="+mn-lt"/>
                </a:endParaRPr>
              </a:p>
            </p:txBody>
          </p:sp>
          <p:sp>
            <p:nvSpPr>
              <p:cNvPr id="143" name="iS1ide-Rectangle 21"/>
              <p:cNvSpPr/>
              <p:nvPr/>
            </p:nvSpPr>
            <p:spPr>
              <a:xfrm>
                <a:off x="-116701" y="2288319"/>
                <a:ext cx="3288626" cy="306375"/>
              </a:xfrm>
              <a:prstGeom prst="rect">
                <a:avLst/>
              </a:prstGeom>
            </p:spPr>
            <p:txBody>
              <a:bodyPr wrap="non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4">
                  <a:spcBef>
                    <a:spcPct val="0"/>
                  </a:spcBef>
                  <a:defRPr/>
                </a:pPr>
                <a:r>
                  <a:rPr lang="en-US" altLang="zh-CN" sz="1200" b="1" dirty="0" smtClean="0">
                    <a:solidFill>
                      <a:schemeClr val="accent1">
                        <a:lumMod val="75000"/>
                      </a:schemeClr>
                    </a:solidFill>
                    <a:latin typeface="Georgia" panose="02040502050405020303" pitchFamily="18" charset="0"/>
                    <a:cs typeface="+mn-ea"/>
                    <a:sym typeface="+mn-lt"/>
                  </a:rPr>
                  <a:t>Merchant Management Server</a:t>
                </a:r>
                <a:endParaRPr lang="en-US" altLang="zh-CN" sz="1200" b="1" dirty="0">
                  <a:solidFill>
                    <a:schemeClr val="accent1">
                      <a:lumMod val="75000"/>
                    </a:schemeClr>
                  </a:solidFill>
                  <a:latin typeface="Georgia" panose="02040502050405020303" pitchFamily="18" charset="0"/>
                  <a:cs typeface="+mn-ea"/>
                  <a:sym typeface="+mn-lt"/>
                </a:endParaRPr>
              </a:p>
            </p:txBody>
          </p:sp>
        </p:grpSp>
        <p:grpSp>
          <p:nvGrpSpPr>
            <p:cNvPr id="132" name="组合 131"/>
            <p:cNvGrpSpPr/>
            <p:nvPr/>
          </p:nvGrpSpPr>
          <p:grpSpPr>
            <a:xfrm>
              <a:off x="7541939" y="4808841"/>
              <a:ext cx="4615188" cy="1129364"/>
              <a:chOff x="175709" y="1634987"/>
              <a:chExt cx="6048998" cy="1129364"/>
            </a:xfrm>
          </p:grpSpPr>
          <p:sp>
            <p:nvSpPr>
              <p:cNvPr id="140" name="iS1ide-TextBox 5"/>
              <p:cNvSpPr txBox="1"/>
              <p:nvPr/>
            </p:nvSpPr>
            <p:spPr>
              <a:xfrm>
                <a:off x="199174" y="2286719"/>
                <a:ext cx="6025533" cy="477632"/>
              </a:xfrm>
              <a:prstGeom prst="rect">
                <a:avLst/>
              </a:prstGeom>
              <a:noFill/>
            </p:spPr>
            <p:txBody>
              <a:bodyPr wrap="square" lIns="0" tIns="0" rIns="0" bIns="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4">
                  <a:lnSpc>
                    <a:spcPct val="120000"/>
                  </a:lnSpc>
                  <a:spcBef>
                    <a:spcPct val="0"/>
                  </a:spcBef>
                  <a:defRPr/>
                </a:pPr>
                <a:r>
                  <a:rPr lang="en-US" altLang="zh-CN" sz="1100" dirty="0" smtClean="0">
                    <a:latin typeface="Georgia" panose="02040502050405020303" pitchFamily="18" charset="0"/>
                  </a:rPr>
                  <a:t>POS Terminal,  </a:t>
                </a:r>
                <a:r>
                  <a:rPr lang="en-US" altLang="zh-CN" sz="1100" dirty="0">
                    <a:latin typeface="Georgia" panose="02040502050405020303" pitchFamily="18" charset="0"/>
                  </a:rPr>
                  <a:t>Merchant MIS,  Merchant </a:t>
                </a:r>
                <a:r>
                  <a:rPr lang="en-US" altLang="zh-CN" sz="1100" dirty="0" smtClean="0">
                    <a:latin typeface="Georgia" panose="02040502050405020303" pitchFamily="18" charset="0"/>
                  </a:rPr>
                  <a:t>APP,E-Commerce Website</a:t>
                </a:r>
                <a:r>
                  <a:rPr lang="en-US" altLang="zh-CN" sz="1100" dirty="0">
                    <a:latin typeface="Georgia" panose="02040502050405020303" pitchFamily="18" charset="0"/>
                  </a:rPr>
                  <a:t>, TV </a:t>
                </a:r>
                <a:r>
                  <a:rPr lang="en-US" altLang="zh-CN" sz="1100" dirty="0" smtClean="0">
                    <a:latin typeface="Georgia" panose="02040502050405020303" pitchFamily="18" charset="0"/>
                  </a:rPr>
                  <a:t>E-Commerce System</a:t>
                </a:r>
                <a:r>
                  <a:rPr lang="en-US" altLang="zh-CN" sz="1100" dirty="0">
                    <a:latin typeface="Georgia" panose="02040502050405020303" pitchFamily="18" charset="0"/>
                  </a:rPr>
                  <a:t>, Multi-media </a:t>
                </a:r>
                <a:r>
                  <a:rPr lang="en-US" altLang="zh-CN" sz="1100" dirty="0" smtClean="0">
                    <a:latin typeface="Georgia" panose="02040502050405020303" pitchFamily="18" charset="0"/>
                  </a:rPr>
                  <a:t>Terminals</a:t>
                </a:r>
                <a:r>
                  <a:rPr lang="en-US" altLang="zh-CN" sz="1100" dirty="0">
                    <a:latin typeface="Georgia" panose="02040502050405020303" pitchFamily="18" charset="0"/>
                  </a:rPr>
                  <a:t>, </a:t>
                </a:r>
                <a:r>
                  <a:rPr lang="en-US" altLang="zh-CN" sz="1100" dirty="0" smtClean="0">
                    <a:latin typeface="Georgia" panose="02040502050405020303" pitchFamily="18" charset="0"/>
                  </a:rPr>
                  <a:t>Vending Machines </a:t>
                </a:r>
                <a:r>
                  <a:rPr lang="en-US" altLang="zh-CN" sz="1100" dirty="0">
                    <a:latin typeface="Georgia" panose="02040502050405020303" pitchFamily="18" charset="0"/>
                  </a:rPr>
                  <a:t>etc. </a:t>
                </a:r>
              </a:p>
              <a:p>
                <a:pPr defTabSz="685784">
                  <a:lnSpc>
                    <a:spcPct val="120000"/>
                  </a:lnSpc>
                  <a:spcBef>
                    <a:spcPct val="0"/>
                  </a:spcBef>
                  <a:defRPr/>
                </a:pPr>
                <a:endParaRPr lang="zh-CN" altLang="en-US" sz="1100" dirty="0">
                  <a:latin typeface="Georgia" panose="02040502050405020303" pitchFamily="18" charset="0"/>
                  <a:cs typeface="+mn-ea"/>
                  <a:sym typeface="+mn-lt"/>
                </a:endParaRPr>
              </a:p>
            </p:txBody>
          </p:sp>
          <p:sp>
            <p:nvSpPr>
              <p:cNvPr id="141" name="iS1ide-Rectangle 19"/>
              <p:cNvSpPr/>
              <p:nvPr/>
            </p:nvSpPr>
            <p:spPr>
              <a:xfrm>
                <a:off x="175709" y="1634987"/>
                <a:ext cx="3288630" cy="306375"/>
              </a:xfrm>
              <a:prstGeom prst="rect">
                <a:avLst/>
              </a:prstGeom>
            </p:spPr>
            <p:txBody>
              <a:bodyPr wrap="non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84">
                  <a:spcBef>
                    <a:spcPct val="0"/>
                  </a:spcBef>
                  <a:defRPr/>
                </a:pPr>
                <a:r>
                  <a:rPr lang="en-US" altLang="zh-CN" sz="1200" b="1" dirty="0" smtClean="0">
                    <a:solidFill>
                      <a:schemeClr val="accent3"/>
                    </a:solidFill>
                    <a:latin typeface="Georgia" panose="02040502050405020303" pitchFamily="18" charset="0"/>
                    <a:cs typeface="+mn-ea"/>
                    <a:sym typeface="+mn-lt"/>
                  </a:rPr>
                  <a:t>Merchant Client</a:t>
                </a:r>
                <a:endParaRPr lang="en-US" altLang="zh-CN" sz="1200" b="1" dirty="0">
                  <a:solidFill>
                    <a:schemeClr val="accent3"/>
                  </a:solidFill>
                  <a:latin typeface="Georgia" panose="02040502050405020303" pitchFamily="18" charset="0"/>
                  <a:cs typeface="+mn-ea"/>
                  <a:sym typeface="+mn-lt"/>
                </a:endParaRPr>
              </a:p>
            </p:txBody>
          </p:sp>
        </p:grpSp>
      </p:grpSp>
      <p:sp>
        <p:nvSpPr>
          <p:cNvPr id="36"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smtClean="0">
                <a:latin typeface="Georgia" panose="02040502050405020303" pitchFamily="18" charset="0"/>
                <a:ea typeface="黑体" pitchFamily="49" charset="-122"/>
              </a:rPr>
              <a:t>Implementation of Acquirer</a:t>
            </a:r>
            <a:endParaRPr lang="zh-CN" altLang="en-US" b="1" dirty="0">
              <a:latin typeface="Georgia" panose="02040502050405020303" pitchFamily="18" charset="0"/>
              <a:ea typeface="黑体" pitchFamily="49" charset="-122"/>
            </a:endParaRPr>
          </a:p>
        </p:txBody>
      </p:sp>
      <p:pic>
        <p:nvPicPr>
          <p:cNvPr id="11266" name="Picture 2" descr="C:\Users\zhengzuyi\Desktop\___.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3821" y="1246156"/>
            <a:ext cx="376436" cy="376436"/>
          </a:xfrm>
          <a:prstGeom prst="rect">
            <a:avLst/>
          </a:prstGeom>
          <a:noFill/>
          <a:extLst>
            <a:ext uri="{909E8E84-426E-40DD-AFC4-6F175D3DCCD1}">
              <a14:hiddenFill xmlns:a14="http://schemas.microsoft.com/office/drawing/2010/main">
                <a:solidFill>
                  <a:srgbClr val="FFFFFF"/>
                </a:solidFill>
              </a14:hiddenFill>
            </a:ext>
          </a:extLst>
        </p:spPr>
      </p:pic>
      <p:pic>
        <p:nvPicPr>
          <p:cNvPr id="11267" name="Picture 3" descr="C:\Users\zhengzuyi\Desktop\13365664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65888" y="1167742"/>
            <a:ext cx="1998000" cy="1332000"/>
          </a:xfrm>
          <a:prstGeom prst="diamond">
            <a:avLst/>
          </a:prstGeom>
          <a:noFill/>
          <a:extLst>
            <a:ext uri="{909E8E84-426E-40DD-AFC4-6F175D3DCCD1}">
              <a14:hiddenFill xmlns:a14="http://schemas.microsoft.com/office/drawing/2010/main">
                <a:solidFill>
                  <a:srgbClr val="FFFFFF"/>
                </a:solidFill>
              </a14:hiddenFill>
            </a:ext>
          </a:extLst>
        </p:spPr>
      </p:pic>
      <p:pic>
        <p:nvPicPr>
          <p:cNvPr id="11268" name="Picture 4" descr="C:\Users\zhengzuyi\Desktop\16341728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3760" y="2034199"/>
            <a:ext cx="1998000" cy="1332000"/>
          </a:xfrm>
          <a:prstGeom prst="diamond">
            <a:avLst/>
          </a:prstGeom>
          <a:noFill/>
          <a:extLst>
            <a:ext uri="{909E8E84-426E-40DD-AFC4-6F175D3DCCD1}">
              <a14:hiddenFill xmlns:a14="http://schemas.microsoft.com/office/drawing/2010/main">
                <a:solidFill>
                  <a:srgbClr val="FFFFFF"/>
                </a:solidFill>
              </a14:hiddenFill>
            </a:ext>
          </a:extLst>
        </p:spPr>
      </p:pic>
      <p:pic>
        <p:nvPicPr>
          <p:cNvPr id="11269" name="Picture 5" descr="C:\Users\zhengzuyi\Desktop\30263876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65888" y="2895934"/>
            <a:ext cx="1998000" cy="133200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292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467544" y="1285909"/>
            <a:ext cx="685799" cy="53187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041775" y="1249725"/>
            <a:ext cx="685799" cy="530351"/>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401827" y="1576993"/>
            <a:ext cx="342899" cy="243839"/>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528010" y="2265080"/>
            <a:ext cx="1032189" cy="759460"/>
          </a:xfrm>
          <a:custGeom>
            <a:avLst/>
            <a:gdLst/>
            <a:ahLst/>
            <a:cxnLst/>
            <a:rect l="l" t="t" r="r" b="b"/>
            <a:pathLst>
              <a:path w="1135380" h="759460">
                <a:moveTo>
                  <a:pt x="0" y="75895"/>
                </a:moveTo>
                <a:lnTo>
                  <a:pt x="5965" y="46355"/>
                </a:lnTo>
                <a:lnTo>
                  <a:pt x="22231" y="22231"/>
                </a:lnTo>
                <a:lnTo>
                  <a:pt x="46355" y="5965"/>
                </a:lnTo>
                <a:lnTo>
                  <a:pt x="75895" y="0"/>
                </a:lnTo>
                <a:lnTo>
                  <a:pt x="1059484" y="0"/>
                </a:lnTo>
                <a:lnTo>
                  <a:pt x="1089024" y="5965"/>
                </a:lnTo>
                <a:lnTo>
                  <a:pt x="1113148" y="22231"/>
                </a:lnTo>
                <a:lnTo>
                  <a:pt x="1129414" y="46355"/>
                </a:lnTo>
                <a:lnTo>
                  <a:pt x="1135380" y="75895"/>
                </a:lnTo>
                <a:lnTo>
                  <a:pt x="1135380" y="683056"/>
                </a:lnTo>
                <a:lnTo>
                  <a:pt x="1129414" y="712596"/>
                </a:lnTo>
                <a:lnTo>
                  <a:pt x="1113148" y="736720"/>
                </a:lnTo>
                <a:lnTo>
                  <a:pt x="1089024" y="752986"/>
                </a:lnTo>
                <a:lnTo>
                  <a:pt x="1059484" y="758952"/>
                </a:lnTo>
                <a:lnTo>
                  <a:pt x="75895" y="758952"/>
                </a:lnTo>
                <a:lnTo>
                  <a:pt x="46355" y="752986"/>
                </a:lnTo>
                <a:lnTo>
                  <a:pt x="22231" y="736720"/>
                </a:lnTo>
                <a:lnTo>
                  <a:pt x="5965" y="712596"/>
                </a:lnTo>
                <a:lnTo>
                  <a:pt x="0" y="683056"/>
                </a:lnTo>
                <a:lnTo>
                  <a:pt x="0" y="75895"/>
                </a:lnTo>
                <a:close/>
              </a:path>
            </a:pathLst>
          </a:custGeom>
          <a:ln w="25908">
            <a:solidFill>
              <a:srgbClr val="589390"/>
            </a:solidFill>
          </a:ln>
        </p:spPr>
        <p:txBody>
          <a:bodyPr wrap="square" lIns="0" tIns="0" rIns="0" bIns="0" rtlCol="0"/>
          <a:lstStyle/>
          <a:p>
            <a:endParaRPr/>
          </a:p>
        </p:txBody>
      </p:sp>
      <p:sp>
        <p:nvSpPr>
          <p:cNvPr id="8" name="object 8"/>
          <p:cNvSpPr txBox="1"/>
          <p:nvPr/>
        </p:nvSpPr>
        <p:spPr>
          <a:xfrm>
            <a:off x="587553" y="2406592"/>
            <a:ext cx="925830" cy="484505"/>
          </a:xfrm>
          <a:prstGeom prst="rect">
            <a:avLst/>
          </a:prstGeom>
        </p:spPr>
        <p:txBody>
          <a:bodyPr vert="horz" wrap="square" lIns="0" tIns="0" rIns="0" bIns="0" rtlCol="0">
            <a:spAutoFit/>
          </a:bodyPr>
          <a:lstStyle/>
          <a:p>
            <a:pPr algn="ctr">
              <a:lnSpc>
                <a:spcPts val="1130"/>
              </a:lnSpc>
            </a:pPr>
            <a:r>
              <a:rPr sz="1200" spc="-5" dirty="0">
                <a:latin typeface="Georgia"/>
                <a:cs typeface="Georgia"/>
              </a:rPr>
              <a:t>Merchant</a:t>
            </a:r>
            <a:endParaRPr sz="1200" dirty="0">
              <a:latin typeface="Georgia"/>
              <a:cs typeface="Georgia"/>
            </a:endParaRPr>
          </a:p>
          <a:p>
            <a:pPr marL="12065" marR="5080" indent="1905" algn="ctr">
              <a:lnSpc>
                <a:spcPts val="1220"/>
              </a:lnSpc>
              <a:spcBef>
                <a:spcPts val="120"/>
              </a:spcBef>
            </a:pPr>
            <a:r>
              <a:rPr sz="1200" spc="-5" dirty="0">
                <a:latin typeface="Georgia"/>
                <a:cs typeface="Georgia"/>
              </a:rPr>
              <a:t>system/APP  </a:t>
            </a:r>
            <a:r>
              <a:rPr sz="1200" dirty="0">
                <a:latin typeface="Georgia"/>
                <a:cs typeface="Georgia"/>
              </a:rPr>
              <a:t>D</a:t>
            </a:r>
            <a:r>
              <a:rPr sz="1200" spc="-10" dirty="0">
                <a:latin typeface="Georgia"/>
                <a:cs typeface="Georgia"/>
              </a:rPr>
              <a:t>e</a:t>
            </a:r>
            <a:r>
              <a:rPr sz="1200" spc="-5" dirty="0">
                <a:latin typeface="Georgia"/>
                <a:cs typeface="Georgia"/>
              </a:rPr>
              <a:t>v</a:t>
            </a:r>
            <a:r>
              <a:rPr sz="1200" spc="-10" dirty="0">
                <a:latin typeface="Georgia"/>
                <a:cs typeface="Georgia"/>
              </a:rPr>
              <a:t>e</a:t>
            </a:r>
            <a:r>
              <a:rPr sz="1200" spc="-5" dirty="0">
                <a:latin typeface="Georgia"/>
                <a:cs typeface="Georgia"/>
              </a:rPr>
              <a:t>l</a:t>
            </a:r>
            <a:r>
              <a:rPr sz="1200" dirty="0">
                <a:latin typeface="Georgia"/>
                <a:cs typeface="Georgia"/>
              </a:rPr>
              <a:t>o</a:t>
            </a:r>
            <a:r>
              <a:rPr sz="1200" spc="-10" dirty="0">
                <a:latin typeface="Georgia"/>
                <a:cs typeface="Georgia"/>
              </a:rPr>
              <a:t>p</a:t>
            </a:r>
            <a:r>
              <a:rPr sz="1200" spc="-5" dirty="0">
                <a:latin typeface="Georgia"/>
                <a:cs typeface="Georgia"/>
              </a:rPr>
              <a:t>m</a:t>
            </a:r>
            <a:r>
              <a:rPr sz="1200" spc="-10" dirty="0">
                <a:latin typeface="Georgia"/>
                <a:cs typeface="Georgia"/>
              </a:rPr>
              <a:t>en</a:t>
            </a:r>
            <a:r>
              <a:rPr sz="1200" spc="-5" dirty="0">
                <a:latin typeface="Georgia"/>
                <a:cs typeface="Georgia"/>
              </a:rPr>
              <a:t>t</a:t>
            </a:r>
            <a:endParaRPr sz="1200" dirty="0">
              <a:latin typeface="Georgia"/>
              <a:cs typeface="Georgia"/>
            </a:endParaRPr>
          </a:p>
        </p:txBody>
      </p:sp>
      <p:sp>
        <p:nvSpPr>
          <p:cNvPr id="9" name="object 9"/>
          <p:cNvSpPr/>
          <p:nvPr/>
        </p:nvSpPr>
        <p:spPr>
          <a:xfrm>
            <a:off x="1672215" y="2503586"/>
            <a:ext cx="241300" cy="281940"/>
          </a:xfrm>
          <a:custGeom>
            <a:avLst/>
            <a:gdLst/>
            <a:ahLst/>
            <a:cxnLst/>
            <a:rect l="l" t="t" r="r" b="b"/>
            <a:pathLst>
              <a:path w="241300" h="281939">
                <a:moveTo>
                  <a:pt x="120396" y="0"/>
                </a:moveTo>
                <a:lnTo>
                  <a:pt x="120396" y="56387"/>
                </a:lnTo>
                <a:lnTo>
                  <a:pt x="0" y="56387"/>
                </a:lnTo>
                <a:lnTo>
                  <a:pt x="0" y="225551"/>
                </a:lnTo>
                <a:lnTo>
                  <a:pt x="120396" y="225551"/>
                </a:lnTo>
                <a:lnTo>
                  <a:pt x="120396" y="281940"/>
                </a:lnTo>
                <a:lnTo>
                  <a:pt x="240792" y="140969"/>
                </a:lnTo>
                <a:lnTo>
                  <a:pt x="120396" y="0"/>
                </a:lnTo>
                <a:close/>
              </a:path>
            </a:pathLst>
          </a:custGeom>
          <a:solidFill>
            <a:srgbClr val="B7CECD"/>
          </a:solidFill>
        </p:spPr>
        <p:txBody>
          <a:bodyPr wrap="square" lIns="0" tIns="0" rIns="0" bIns="0" rtlCol="0"/>
          <a:lstStyle/>
          <a:p>
            <a:endParaRPr/>
          </a:p>
        </p:txBody>
      </p:sp>
      <p:sp>
        <p:nvSpPr>
          <p:cNvPr id="10" name="object 10"/>
          <p:cNvSpPr/>
          <p:nvPr/>
        </p:nvSpPr>
        <p:spPr>
          <a:xfrm>
            <a:off x="2014353" y="2265080"/>
            <a:ext cx="1134110" cy="759460"/>
          </a:xfrm>
          <a:custGeom>
            <a:avLst/>
            <a:gdLst/>
            <a:ahLst/>
            <a:cxnLst/>
            <a:rect l="l" t="t" r="r" b="b"/>
            <a:pathLst>
              <a:path w="1134110" h="759460">
                <a:moveTo>
                  <a:pt x="0" y="75895"/>
                </a:moveTo>
                <a:lnTo>
                  <a:pt x="5965" y="46355"/>
                </a:lnTo>
                <a:lnTo>
                  <a:pt x="22231" y="22231"/>
                </a:lnTo>
                <a:lnTo>
                  <a:pt x="46355" y="5965"/>
                </a:lnTo>
                <a:lnTo>
                  <a:pt x="75895" y="0"/>
                </a:lnTo>
                <a:lnTo>
                  <a:pt x="1057960" y="0"/>
                </a:lnTo>
                <a:lnTo>
                  <a:pt x="1087500" y="5965"/>
                </a:lnTo>
                <a:lnTo>
                  <a:pt x="1111624" y="22231"/>
                </a:lnTo>
                <a:lnTo>
                  <a:pt x="1127890" y="46355"/>
                </a:lnTo>
                <a:lnTo>
                  <a:pt x="1133856" y="75895"/>
                </a:lnTo>
                <a:lnTo>
                  <a:pt x="1133856" y="683056"/>
                </a:lnTo>
                <a:lnTo>
                  <a:pt x="1127890" y="712596"/>
                </a:lnTo>
                <a:lnTo>
                  <a:pt x="1111624" y="736720"/>
                </a:lnTo>
                <a:lnTo>
                  <a:pt x="1087500" y="752986"/>
                </a:lnTo>
                <a:lnTo>
                  <a:pt x="1057960" y="758952"/>
                </a:lnTo>
                <a:lnTo>
                  <a:pt x="75895" y="758952"/>
                </a:lnTo>
                <a:lnTo>
                  <a:pt x="46355" y="752986"/>
                </a:lnTo>
                <a:lnTo>
                  <a:pt x="22231" y="736720"/>
                </a:lnTo>
                <a:lnTo>
                  <a:pt x="5965" y="712596"/>
                </a:lnTo>
                <a:lnTo>
                  <a:pt x="0" y="683056"/>
                </a:lnTo>
                <a:lnTo>
                  <a:pt x="0" y="75895"/>
                </a:lnTo>
                <a:close/>
              </a:path>
            </a:pathLst>
          </a:custGeom>
          <a:ln w="25908">
            <a:solidFill>
              <a:srgbClr val="589390"/>
            </a:solidFill>
          </a:ln>
        </p:spPr>
        <p:txBody>
          <a:bodyPr wrap="square" lIns="0" tIns="0" rIns="0" bIns="0" rtlCol="0"/>
          <a:lstStyle/>
          <a:p>
            <a:endParaRPr/>
          </a:p>
        </p:txBody>
      </p:sp>
      <p:sp>
        <p:nvSpPr>
          <p:cNvPr id="11" name="object 11"/>
          <p:cNvSpPr txBox="1"/>
          <p:nvPr/>
        </p:nvSpPr>
        <p:spPr>
          <a:xfrm>
            <a:off x="2135225" y="2484222"/>
            <a:ext cx="889635" cy="329565"/>
          </a:xfrm>
          <a:prstGeom prst="rect">
            <a:avLst/>
          </a:prstGeom>
        </p:spPr>
        <p:txBody>
          <a:bodyPr vert="horz" wrap="square" lIns="0" tIns="0" rIns="0" bIns="0" rtlCol="0">
            <a:spAutoFit/>
          </a:bodyPr>
          <a:lstStyle/>
          <a:p>
            <a:pPr marL="12700" marR="5080" indent="188595">
              <a:lnSpc>
                <a:spcPts val="1240"/>
              </a:lnSpc>
            </a:pPr>
            <a:r>
              <a:rPr sz="1200" spc="-5" dirty="0">
                <a:latin typeface="Georgia"/>
                <a:cs typeface="Georgia"/>
              </a:rPr>
              <a:t>System  M</a:t>
            </a:r>
            <a:r>
              <a:rPr sz="1200" dirty="0">
                <a:latin typeface="Georgia"/>
                <a:cs typeface="Georgia"/>
              </a:rPr>
              <a:t>o</a:t>
            </a:r>
            <a:r>
              <a:rPr sz="1200" spc="-10" dirty="0">
                <a:latin typeface="Georgia"/>
                <a:cs typeface="Georgia"/>
              </a:rPr>
              <a:t>di</a:t>
            </a:r>
            <a:r>
              <a:rPr sz="1200" dirty="0">
                <a:latin typeface="Georgia"/>
                <a:cs typeface="Georgia"/>
              </a:rPr>
              <a:t>f</a:t>
            </a:r>
            <a:r>
              <a:rPr sz="1200" spc="-5" dirty="0">
                <a:latin typeface="Georgia"/>
                <a:cs typeface="Georgia"/>
              </a:rPr>
              <a:t>i</a:t>
            </a:r>
            <a:r>
              <a:rPr sz="1200" spc="-10" dirty="0">
                <a:latin typeface="Georgia"/>
                <a:cs typeface="Georgia"/>
              </a:rPr>
              <a:t>ca</a:t>
            </a:r>
            <a:r>
              <a:rPr sz="1200" dirty="0">
                <a:latin typeface="Georgia"/>
                <a:cs typeface="Georgia"/>
              </a:rPr>
              <a:t>t</a:t>
            </a:r>
            <a:r>
              <a:rPr sz="1200" spc="-5" dirty="0">
                <a:latin typeface="Georgia"/>
                <a:cs typeface="Georgia"/>
              </a:rPr>
              <a:t>i</a:t>
            </a:r>
            <a:r>
              <a:rPr sz="1200" dirty="0">
                <a:latin typeface="Georgia"/>
                <a:cs typeface="Georgia"/>
              </a:rPr>
              <a:t>on</a:t>
            </a:r>
            <a:endParaRPr sz="1200">
              <a:latin typeface="Georgia"/>
              <a:cs typeface="Georgia"/>
            </a:endParaRPr>
          </a:p>
        </p:txBody>
      </p:sp>
      <p:sp>
        <p:nvSpPr>
          <p:cNvPr id="12" name="object 12"/>
          <p:cNvSpPr/>
          <p:nvPr/>
        </p:nvSpPr>
        <p:spPr>
          <a:xfrm>
            <a:off x="3261747" y="2503586"/>
            <a:ext cx="241300" cy="281940"/>
          </a:xfrm>
          <a:custGeom>
            <a:avLst/>
            <a:gdLst/>
            <a:ahLst/>
            <a:cxnLst/>
            <a:rect l="l" t="t" r="r" b="b"/>
            <a:pathLst>
              <a:path w="241300" h="281939">
                <a:moveTo>
                  <a:pt x="120396" y="0"/>
                </a:moveTo>
                <a:lnTo>
                  <a:pt x="120396" y="56387"/>
                </a:lnTo>
                <a:lnTo>
                  <a:pt x="0" y="56387"/>
                </a:lnTo>
                <a:lnTo>
                  <a:pt x="0" y="225551"/>
                </a:lnTo>
                <a:lnTo>
                  <a:pt x="120396" y="225551"/>
                </a:lnTo>
                <a:lnTo>
                  <a:pt x="120396" y="281940"/>
                </a:lnTo>
                <a:lnTo>
                  <a:pt x="240792" y="140969"/>
                </a:lnTo>
                <a:lnTo>
                  <a:pt x="120396" y="0"/>
                </a:lnTo>
                <a:close/>
              </a:path>
            </a:pathLst>
          </a:custGeom>
          <a:solidFill>
            <a:srgbClr val="B7CECD"/>
          </a:solidFill>
        </p:spPr>
        <p:txBody>
          <a:bodyPr wrap="square" lIns="0" tIns="0" rIns="0" bIns="0" rtlCol="0"/>
          <a:lstStyle/>
          <a:p>
            <a:endParaRPr/>
          </a:p>
        </p:txBody>
      </p:sp>
      <p:sp>
        <p:nvSpPr>
          <p:cNvPr id="13" name="object 13"/>
          <p:cNvSpPr/>
          <p:nvPr/>
        </p:nvSpPr>
        <p:spPr>
          <a:xfrm>
            <a:off x="3602360" y="2265080"/>
            <a:ext cx="1135380" cy="759460"/>
          </a:xfrm>
          <a:custGeom>
            <a:avLst/>
            <a:gdLst/>
            <a:ahLst/>
            <a:cxnLst/>
            <a:rect l="l" t="t" r="r" b="b"/>
            <a:pathLst>
              <a:path w="1135379" h="759460">
                <a:moveTo>
                  <a:pt x="0" y="75895"/>
                </a:moveTo>
                <a:lnTo>
                  <a:pt x="5965" y="46355"/>
                </a:lnTo>
                <a:lnTo>
                  <a:pt x="22231" y="22231"/>
                </a:lnTo>
                <a:lnTo>
                  <a:pt x="46355" y="5965"/>
                </a:lnTo>
                <a:lnTo>
                  <a:pt x="75895" y="0"/>
                </a:lnTo>
                <a:lnTo>
                  <a:pt x="1059484" y="0"/>
                </a:lnTo>
                <a:lnTo>
                  <a:pt x="1089024" y="5965"/>
                </a:lnTo>
                <a:lnTo>
                  <a:pt x="1113148" y="22231"/>
                </a:lnTo>
                <a:lnTo>
                  <a:pt x="1129414" y="46355"/>
                </a:lnTo>
                <a:lnTo>
                  <a:pt x="1135380" y="75895"/>
                </a:lnTo>
                <a:lnTo>
                  <a:pt x="1135380" y="683056"/>
                </a:lnTo>
                <a:lnTo>
                  <a:pt x="1129414" y="712596"/>
                </a:lnTo>
                <a:lnTo>
                  <a:pt x="1113148" y="736720"/>
                </a:lnTo>
                <a:lnTo>
                  <a:pt x="1089024" y="752986"/>
                </a:lnTo>
                <a:lnTo>
                  <a:pt x="1059484" y="758952"/>
                </a:lnTo>
                <a:lnTo>
                  <a:pt x="75895" y="758952"/>
                </a:lnTo>
                <a:lnTo>
                  <a:pt x="46355" y="752986"/>
                </a:lnTo>
                <a:lnTo>
                  <a:pt x="22231" y="736720"/>
                </a:lnTo>
                <a:lnTo>
                  <a:pt x="5965" y="712596"/>
                </a:lnTo>
                <a:lnTo>
                  <a:pt x="0" y="683056"/>
                </a:lnTo>
                <a:lnTo>
                  <a:pt x="0" y="75895"/>
                </a:lnTo>
                <a:close/>
              </a:path>
            </a:pathLst>
          </a:custGeom>
          <a:ln w="25908">
            <a:solidFill>
              <a:srgbClr val="589390"/>
            </a:solidFill>
          </a:ln>
        </p:spPr>
        <p:txBody>
          <a:bodyPr wrap="square" lIns="0" tIns="0" rIns="0" bIns="0" rtlCol="0"/>
          <a:lstStyle/>
          <a:p>
            <a:endParaRPr/>
          </a:p>
        </p:txBody>
      </p:sp>
      <p:sp>
        <p:nvSpPr>
          <p:cNvPr id="14" name="object 14"/>
          <p:cNvSpPr txBox="1"/>
          <p:nvPr/>
        </p:nvSpPr>
        <p:spPr>
          <a:xfrm>
            <a:off x="3727231" y="2484222"/>
            <a:ext cx="882650" cy="329565"/>
          </a:xfrm>
          <a:prstGeom prst="rect">
            <a:avLst/>
          </a:prstGeom>
        </p:spPr>
        <p:txBody>
          <a:bodyPr vert="horz" wrap="square" lIns="0" tIns="0" rIns="0" bIns="0" rtlCol="0">
            <a:spAutoFit/>
          </a:bodyPr>
          <a:lstStyle/>
          <a:p>
            <a:pPr marL="117475" marR="5080" indent="-105410">
              <a:lnSpc>
                <a:spcPts val="1240"/>
              </a:lnSpc>
            </a:pPr>
            <a:r>
              <a:rPr sz="1200" spc="-5" dirty="0">
                <a:latin typeface="Georgia"/>
                <a:cs typeface="Georgia"/>
              </a:rPr>
              <a:t>Product</a:t>
            </a:r>
            <a:r>
              <a:rPr sz="1200" spc="-60" dirty="0">
                <a:latin typeface="Georgia"/>
                <a:cs typeface="Georgia"/>
              </a:rPr>
              <a:t> </a:t>
            </a:r>
            <a:r>
              <a:rPr sz="1200" spc="-5" dirty="0">
                <a:latin typeface="Georgia"/>
                <a:cs typeface="Georgia"/>
              </a:rPr>
              <a:t>Test  &amp;</a:t>
            </a:r>
            <a:r>
              <a:rPr sz="1200" spc="-95" dirty="0">
                <a:latin typeface="Georgia"/>
                <a:cs typeface="Georgia"/>
              </a:rPr>
              <a:t> </a:t>
            </a:r>
            <a:r>
              <a:rPr sz="1200" spc="-5" dirty="0">
                <a:latin typeface="Georgia"/>
                <a:cs typeface="Georgia"/>
              </a:rPr>
              <a:t>Launch</a:t>
            </a:r>
            <a:endParaRPr sz="1200">
              <a:latin typeface="Georgia"/>
              <a:cs typeface="Georgia"/>
            </a:endParaRPr>
          </a:p>
        </p:txBody>
      </p:sp>
      <p:sp>
        <p:nvSpPr>
          <p:cNvPr id="15" name="object 15"/>
          <p:cNvSpPr/>
          <p:nvPr/>
        </p:nvSpPr>
        <p:spPr>
          <a:xfrm>
            <a:off x="5117601" y="2262031"/>
            <a:ext cx="1021080" cy="762509"/>
          </a:xfrm>
          <a:custGeom>
            <a:avLst/>
            <a:gdLst/>
            <a:ahLst/>
            <a:cxnLst/>
            <a:rect l="l" t="t" r="r" b="b"/>
            <a:pathLst>
              <a:path w="1021079" h="802005">
                <a:moveTo>
                  <a:pt x="0" y="80162"/>
                </a:moveTo>
                <a:lnTo>
                  <a:pt x="6299" y="48959"/>
                </a:lnTo>
                <a:lnTo>
                  <a:pt x="23479" y="23479"/>
                </a:lnTo>
                <a:lnTo>
                  <a:pt x="48959" y="6299"/>
                </a:lnTo>
                <a:lnTo>
                  <a:pt x="80162" y="0"/>
                </a:lnTo>
                <a:lnTo>
                  <a:pt x="940917" y="0"/>
                </a:lnTo>
                <a:lnTo>
                  <a:pt x="972120" y="6299"/>
                </a:lnTo>
                <a:lnTo>
                  <a:pt x="997600" y="23479"/>
                </a:lnTo>
                <a:lnTo>
                  <a:pt x="1014780" y="48959"/>
                </a:lnTo>
                <a:lnTo>
                  <a:pt x="1021080" y="80162"/>
                </a:lnTo>
                <a:lnTo>
                  <a:pt x="1021080" y="721461"/>
                </a:lnTo>
                <a:lnTo>
                  <a:pt x="1014780" y="752664"/>
                </a:lnTo>
                <a:lnTo>
                  <a:pt x="997600" y="778144"/>
                </a:lnTo>
                <a:lnTo>
                  <a:pt x="972120" y="795324"/>
                </a:lnTo>
                <a:lnTo>
                  <a:pt x="940917" y="801624"/>
                </a:lnTo>
                <a:lnTo>
                  <a:pt x="80162" y="801624"/>
                </a:lnTo>
                <a:lnTo>
                  <a:pt x="48959" y="795324"/>
                </a:lnTo>
                <a:lnTo>
                  <a:pt x="23479" y="778144"/>
                </a:lnTo>
                <a:lnTo>
                  <a:pt x="6299" y="752664"/>
                </a:lnTo>
                <a:lnTo>
                  <a:pt x="0" y="721461"/>
                </a:lnTo>
                <a:lnTo>
                  <a:pt x="0" y="80162"/>
                </a:lnTo>
                <a:close/>
              </a:path>
            </a:pathLst>
          </a:custGeom>
          <a:ln w="25908">
            <a:solidFill>
              <a:srgbClr val="92D050"/>
            </a:solidFill>
          </a:ln>
        </p:spPr>
        <p:txBody>
          <a:bodyPr wrap="square" lIns="0" tIns="0" rIns="0" bIns="0" rtlCol="0"/>
          <a:lstStyle/>
          <a:p>
            <a:endParaRPr/>
          </a:p>
        </p:txBody>
      </p:sp>
      <p:sp>
        <p:nvSpPr>
          <p:cNvPr id="16" name="object 16"/>
          <p:cNvSpPr txBox="1"/>
          <p:nvPr/>
        </p:nvSpPr>
        <p:spPr>
          <a:xfrm>
            <a:off x="5342121" y="2535720"/>
            <a:ext cx="602615" cy="184666"/>
          </a:xfrm>
          <a:prstGeom prst="rect">
            <a:avLst/>
          </a:prstGeom>
        </p:spPr>
        <p:txBody>
          <a:bodyPr vert="horz" wrap="square" lIns="0" tIns="0" rIns="0" bIns="0" rtlCol="0">
            <a:spAutoFit/>
          </a:bodyPr>
          <a:lstStyle/>
          <a:p>
            <a:pPr marL="12700">
              <a:lnSpc>
                <a:spcPct val="100000"/>
              </a:lnSpc>
            </a:pPr>
            <a:r>
              <a:rPr sz="1200" spc="-5" dirty="0">
                <a:latin typeface="Georgia"/>
                <a:cs typeface="Georgia"/>
              </a:rPr>
              <a:t>App</a:t>
            </a:r>
            <a:r>
              <a:rPr sz="1200" spc="-85" dirty="0">
                <a:latin typeface="Georgia"/>
                <a:cs typeface="Georgia"/>
              </a:rPr>
              <a:t> </a:t>
            </a:r>
            <a:r>
              <a:rPr sz="1200" spc="-5" dirty="0">
                <a:latin typeface="Georgia"/>
                <a:cs typeface="Georgia"/>
              </a:rPr>
              <a:t>Dev</a:t>
            </a:r>
            <a:endParaRPr sz="1200" dirty="0">
              <a:latin typeface="Georgia"/>
              <a:cs typeface="Georgia"/>
            </a:endParaRPr>
          </a:p>
        </p:txBody>
      </p:sp>
      <p:sp>
        <p:nvSpPr>
          <p:cNvPr id="17" name="object 17"/>
          <p:cNvSpPr/>
          <p:nvPr/>
        </p:nvSpPr>
        <p:spPr>
          <a:xfrm>
            <a:off x="6241550" y="2508158"/>
            <a:ext cx="241200" cy="280800"/>
          </a:xfrm>
          <a:custGeom>
            <a:avLst/>
            <a:gdLst/>
            <a:ahLst/>
            <a:cxnLst/>
            <a:rect l="l" t="t" r="r" b="b"/>
            <a:pathLst>
              <a:path w="216535" h="273050">
                <a:moveTo>
                  <a:pt x="108204" y="0"/>
                </a:moveTo>
                <a:lnTo>
                  <a:pt x="108204" y="54559"/>
                </a:lnTo>
                <a:lnTo>
                  <a:pt x="0" y="54559"/>
                </a:lnTo>
                <a:lnTo>
                  <a:pt x="0" y="218236"/>
                </a:lnTo>
                <a:lnTo>
                  <a:pt x="108204" y="218236"/>
                </a:lnTo>
                <a:lnTo>
                  <a:pt x="108204" y="272795"/>
                </a:lnTo>
                <a:lnTo>
                  <a:pt x="216408" y="136397"/>
                </a:lnTo>
                <a:lnTo>
                  <a:pt x="108204" y="0"/>
                </a:lnTo>
                <a:close/>
              </a:path>
            </a:pathLst>
          </a:custGeom>
          <a:solidFill>
            <a:srgbClr val="B7CECD"/>
          </a:solidFill>
        </p:spPr>
        <p:txBody>
          <a:bodyPr wrap="square" lIns="0" tIns="0" rIns="0" bIns="0" rtlCol="0"/>
          <a:lstStyle/>
          <a:p>
            <a:endParaRPr/>
          </a:p>
        </p:txBody>
      </p:sp>
      <p:sp>
        <p:nvSpPr>
          <p:cNvPr id="18" name="object 18"/>
          <p:cNvSpPr/>
          <p:nvPr/>
        </p:nvSpPr>
        <p:spPr>
          <a:xfrm>
            <a:off x="6548637" y="2262031"/>
            <a:ext cx="1021080" cy="767080"/>
          </a:xfrm>
          <a:custGeom>
            <a:avLst/>
            <a:gdLst/>
            <a:ahLst/>
            <a:cxnLst/>
            <a:rect l="l" t="t" r="r" b="b"/>
            <a:pathLst>
              <a:path w="1021079" h="767080">
                <a:moveTo>
                  <a:pt x="0" y="76657"/>
                </a:moveTo>
                <a:lnTo>
                  <a:pt x="6023" y="46816"/>
                </a:lnTo>
                <a:lnTo>
                  <a:pt x="22450" y="22450"/>
                </a:lnTo>
                <a:lnTo>
                  <a:pt x="46816" y="6023"/>
                </a:lnTo>
                <a:lnTo>
                  <a:pt x="76657" y="0"/>
                </a:lnTo>
                <a:lnTo>
                  <a:pt x="944422" y="0"/>
                </a:lnTo>
                <a:lnTo>
                  <a:pt x="974263" y="6023"/>
                </a:lnTo>
                <a:lnTo>
                  <a:pt x="998629" y="22450"/>
                </a:lnTo>
                <a:lnTo>
                  <a:pt x="1015056" y="46816"/>
                </a:lnTo>
                <a:lnTo>
                  <a:pt x="1021080" y="76657"/>
                </a:lnTo>
                <a:lnTo>
                  <a:pt x="1021080" y="689914"/>
                </a:lnTo>
                <a:lnTo>
                  <a:pt x="1015056" y="719755"/>
                </a:lnTo>
                <a:lnTo>
                  <a:pt x="998629" y="744121"/>
                </a:lnTo>
                <a:lnTo>
                  <a:pt x="974263" y="760548"/>
                </a:lnTo>
                <a:lnTo>
                  <a:pt x="944422" y="766572"/>
                </a:lnTo>
                <a:lnTo>
                  <a:pt x="76657" y="766572"/>
                </a:lnTo>
                <a:lnTo>
                  <a:pt x="46816" y="760548"/>
                </a:lnTo>
                <a:lnTo>
                  <a:pt x="22450" y="744121"/>
                </a:lnTo>
                <a:lnTo>
                  <a:pt x="6023" y="719755"/>
                </a:lnTo>
                <a:lnTo>
                  <a:pt x="0" y="689914"/>
                </a:lnTo>
                <a:lnTo>
                  <a:pt x="0" y="76657"/>
                </a:lnTo>
                <a:close/>
              </a:path>
            </a:pathLst>
          </a:custGeom>
          <a:ln w="25908">
            <a:solidFill>
              <a:srgbClr val="92D050"/>
            </a:solidFill>
          </a:ln>
        </p:spPr>
        <p:txBody>
          <a:bodyPr wrap="square" lIns="0" tIns="0" rIns="0" bIns="0" rtlCol="0"/>
          <a:lstStyle/>
          <a:p>
            <a:endParaRPr/>
          </a:p>
        </p:txBody>
      </p:sp>
      <p:sp>
        <p:nvSpPr>
          <p:cNvPr id="19" name="object 19"/>
          <p:cNvSpPr txBox="1"/>
          <p:nvPr/>
        </p:nvSpPr>
        <p:spPr>
          <a:xfrm>
            <a:off x="6613434" y="2484222"/>
            <a:ext cx="889635" cy="329565"/>
          </a:xfrm>
          <a:prstGeom prst="rect">
            <a:avLst/>
          </a:prstGeom>
        </p:spPr>
        <p:txBody>
          <a:bodyPr vert="horz" wrap="square" lIns="0" tIns="0" rIns="0" bIns="0" rtlCol="0">
            <a:spAutoFit/>
          </a:bodyPr>
          <a:lstStyle/>
          <a:p>
            <a:pPr marL="12700" marR="5080" indent="188595">
              <a:lnSpc>
                <a:spcPts val="1240"/>
              </a:lnSpc>
            </a:pPr>
            <a:r>
              <a:rPr sz="1200" spc="-5" dirty="0">
                <a:latin typeface="Georgia"/>
                <a:cs typeface="Georgia"/>
              </a:rPr>
              <a:t>System  M</a:t>
            </a:r>
            <a:r>
              <a:rPr sz="1200" dirty="0">
                <a:latin typeface="Georgia"/>
                <a:cs typeface="Georgia"/>
              </a:rPr>
              <a:t>o</a:t>
            </a:r>
            <a:r>
              <a:rPr sz="1200" spc="-10" dirty="0">
                <a:latin typeface="Georgia"/>
                <a:cs typeface="Georgia"/>
              </a:rPr>
              <a:t>di</a:t>
            </a:r>
            <a:r>
              <a:rPr sz="1200" dirty="0">
                <a:latin typeface="Georgia"/>
                <a:cs typeface="Georgia"/>
              </a:rPr>
              <a:t>f</a:t>
            </a:r>
            <a:r>
              <a:rPr sz="1200" spc="-5" dirty="0">
                <a:latin typeface="Georgia"/>
                <a:cs typeface="Georgia"/>
              </a:rPr>
              <a:t>i</a:t>
            </a:r>
            <a:r>
              <a:rPr sz="1200" spc="-10" dirty="0">
                <a:latin typeface="Georgia"/>
                <a:cs typeface="Georgia"/>
              </a:rPr>
              <a:t>ca</a:t>
            </a:r>
            <a:r>
              <a:rPr sz="1200" dirty="0">
                <a:latin typeface="Georgia"/>
                <a:cs typeface="Georgia"/>
              </a:rPr>
              <a:t>t</a:t>
            </a:r>
            <a:r>
              <a:rPr sz="1200" spc="-5" dirty="0">
                <a:latin typeface="Georgia"/>
                <a:cs typeface="Georgia"/>
              </a:rPr>
              <a:t>i</a:t>
            </a:r>
            <a:r>
              <a:rPr sz="1200" dirty="0">
                <a:latin typeface="Georgia"/>
                <a:cs typeface="Georgia"/>
              </a:rPr>
              <a:t>on</a:t>
            </a:r>
            <a:endParaRPr sz="1200">
              <a:latin typeface="Georgia"/>
              <a:cs typeface="Georgia"/>
            </a:endParaRPr>
          </a:p>
        </p:txBody>
      </p:sp>
      <p:sp>
        <p:nvSpPr>
          <p:cNvPr id="20" name="object 20"/>
          <p:cNvSpPr/>
          <p:nvPr/>
        </p:nvSpPr>
        <p:spPr>
          <a:xfrm>
            <a:off x="7671061" y="2508158"/>
            <a:ext cx="241200" cy="280800"/>
          </a:xfrm>
          <a:custGeom>
            <a:avLst/>
            <a:gdLst/>
            <a:ahLst/>
            <a:cxnLst/>
            <a:rect l="l" t="t" r="r" b="b"/>
            <a:pathLst>
              <a:path w="216534" h="273050">
                <a:moveTo>
                  <a:pt x="108204" y="0"/>
                </a:moveTo>
                <a:lnTo>
                  <a:pt x="108204" y="54559"/>
                </a:lnTo>
                <a:lnTo>
                  <a:pt x="0" y="54559"/>
                </a:lnTo>
                <a:lnTo>
                  <a:pt x="0" y="218236"/>
                </a:lnTo>
                <a:lnTo>
                  <a:pt x="108204" y="218236"/>
                </a:lnTo>
                <a:lnTo>
                  <a:pt x="108204" y="272795"/>
                </a:lnTo>
                <a:lnTo>
                  <a:pt x="216408" y="136397"/>
                </a:lnTo>
                <a:lnTo>
                  <a:pt x="108204" y="0"/>
                </a:lnTo>
                <a:close/>
              </a:path>
            </a:pathLst>
          </a:custGeom>
          <a:solidFill>
            <a:srgbClr val="B7CECD"/>
          </a:solidFill>
        </p:spPr>
        <p:txBody>
          <a:bodyPr wrap="square" lIns="0" tIns="0" rIns="0" bIns="0" rtlCol="0"/>
          <a:lstStyle/>
          <a:p>
            <a:endParaRPr/>
          </a:p>
        </p:txBody>
      </p:sp>
      <p:sp>
        <p:nvSpPr>
          <p:cNvPr id="21" name="object 21"/>
          <p:cNvSpPr/>
          <p:nvPr/>
        </p:nvSpPr>
        <p:spPr>
          <a:xfrm>
            <a:off x="7978149" y="2262031"/>
            <a:ext cx="1021080" cy="767080"/>
          </a:xfrm>
          <a:custGeom>
            <a:avLst/>
            <a:gdLst/>
            <a:ahLst/>
            <a:cxnLst/>
            <a:rect l="l" t="t" r="r" b="b"/>
            <a:pathLst>
              <a:path w="1021079" h="767080">
                <a:moveTo>
                  <a:pt x="0" y="76657"/>
                </a:moveTo>
                <a:lnTo>
                  <a:pt x="6023" y="46816"/>
                </a:lnTo>
                <a:lnTo>
                  <a:pt x="22450" y="22450"/>
                </a:lnTo>
                <a:lnTo>
                  <a:pt x="46816" y="6023"/>
                </a:lnTo>
                <a:lnTo>
                  <a:pt x="76657" y="0"/>
                </a:lnTo>
                <a:lnTo>
                  <a:pt x="944422" y="0"/>
                </a:lnTo>
                <a:lnTo>
                  <a:pt x="974263" y="6023"/>
                </a:lnTo>
                <a:lnTo>
                  <a:pt x="998629" y="22450"/>
                </a:lnTo>
                <a:lnTo>
                  <a:pt x="1015056" y="46816"/>
                </a:lnTo>
                <a:lnTo>
                  <a:pt x="1021080" y="76657"/>
                </a:lnTo>
                <a:lnTo>
                  <a:pt x="1021080" y="689914"/>
                </a:lnTo>
                <a:lnTo>
                  <a:pt x="1015056" y="719755"/>
                </a:lnTo>
                <a:lnTo>
                  <a:pt x="998629" y="744121"/>
                </a:lnTo>
                <a:lnTo>
                  <a:pt x="974263" y="760548"/>
                </a:lnTo>
                <a:lnTo>
                  <a:pt x="944422" y="766572"/>
                </a:lnTo>
                <a:lnTo>
                  <a:pt x="76657" y="766572"/>
                </a:lnTo>
                <a:lnTo>
                  <a:pt x="46816" y="760548"/>
                </a:lnTo>
                <a:lnTo>
                  <a:pt x="22450" y="744121"/>
                </a:lnTo>
                <a:lnTo>
                  <a:pt x="6023" y="719755"/>
                </a:lnTo>
                <a:lnTo>
                  <a:pt x="0" y="689914"/>
                </a:lnTo>
                <a:lnTo>
                  <a:pt x="0" y="76657"/>
                </a:lnTo>
                <a:close/>
              </a:path>
            </a:pathLst>
          </a:custGeom>
          <a:ln w="25908">
            <a:solidFill>
              <a:srgbClr val="92D050"/>
            </a:solidFill>
          </a:ln>
        </p:spPr>
        <p:txBody>
          <a:bodyPr wrap="square" lIns="0" tIns="0" rIns="0" bIns="0" rtlCol="0"/>
          <a:lstStyle/>
          <a:p>
            <a:endParaRPr/>
          </a:p>
        </p:txBody>
      </p:sp>
      <p:sp>
        <p:nvSpPr>
          <p:cNvPr id="22" name="object 22"/>
          <p:cNvSpPr txBox="1"/>
          <p:nvPr/>
        </p:nvSpPr>
        <p:spPr>
          <a:xfrm>
            <a:off x="8046543" y="2484222"/>
            <a:ext cx="882650" cy="329565"/>
          </a:xfrm>
          <a:prstGeom prst="rect">
            <a:avLst/>
          </a:prstGeom>
        </p:spPr>
        <p:txBody>
          <a:bodyPr vert="horz" wrap="square" lIns="0" tIns="0" rIns="0" bIns="0" rtlCol="0">
            <a:spAutoFit/>
          </a:bodyPr>
          <a:lstStyle/>
          <a:p>
            <a:pPr marL="99060" marR="5080" indent="-86995">
              <a:lnSpc>
                <a:spcPts val="1240"/>
              </a:lnSpc>
            </a:pPr>
            <a:r>
              <a:rPr sz="1200" spc="-5" dirty="0">
                <a:latin typeface="Georgia"/>
                <a:cs typeface="Georgia"/>
              </a:rPr>
              <a:t>Product</a:t>
            </a:r>
            <a:r>
              <a:rPr sz="1200" spc="-60" dirty="0">
                <a:latin typeface="Georgia"/>
                <a:cs typeface="Georgia"/>
              </a:rPr>
              <a:t> </a:t>
            </a:r>
            <a:r>
              <a:rPr sz="1200" spc="-5" dirty="0">
                <a:latin typeface="Georgia"/>
                <a:cs typeface="Georgia"/>
              </a:rPr>
              <a:t>Test  &amp;</a:t>
            </a:r>
            <a:r>
              <a:rPr sz="1200" spc="195" dirty="0">
                <a:latin typeface="Georgia"/>
                <a:cs typeface="Georgia"/>
              </a:rPr>
              <a:t> </a:t>
            </a:r>
            <a:r>
              <a:rPr sz="1200" spc="-5" dirty="0">
                <a:latin typeface="Georgia"/>
                <a:cs typeface="Georgia"/>
              </a:rPr>
              <a:t>Launch</a:t>
            </a:r>
            <a:endParaRPr sz="1200">
              <a:latin typeface="Georgia"/>
              <a:cs typeface="Georgia"/>
            </a:endParaRPr>
          </a:p>
        </p:txBody>
      </p:sp>
      <p:sp>
        <p:nvSpPr>
          <p:cNvPr id="23" name="object 23"/>
          <p:cNvSpPr txBox="1"/>
          <p:nvPr/>
        </p:nvSpPr>
        <p:spPr>
          <a:xfrm>
            <a:off x="524076" y="3434226"/>
            <a:ext cx="3797619" cy="1154162"/>
          </a:xfrm>
          <a:prstGeom prst="rect">
            <a:avLst/>
          </a:prstGeom>
        </p:spPr>
        <p:txBody>
          <a:bodyPr vert="horz" wrap="square" lIns="0" tIns="0" rIns="0" bIns="0" rtlCol="0">
            <a:spAutoFit/>
          </a:bodyPr>
          <a:lstStyle/>
          <a:p>
            <a:pPr marL="184785" indent="-172085">
              <a:lnSpc>
                <a:spcPct val="125000"/>
              </a:lnSpc>
              <a:buFont typeface="Wingdings"/>
              <a:buChar char=""/>
              <a:tabLst>
                <a:tab pos="185420" algn="l"/>
              </a:tabLst>
            </a:pPr>
            <a:r>
              <a:rPr lang="en-US" sz="1200" dirty="0">
                <a:solidFill>
                  <a:schemeClr val="tx1">
                    <a:lumMod val="75000"/>
                    <a:lumOff val="25000"/>
                  </a:schemeClr>
                </a:solidFill>
                <a:latin typeface="Georgia"/>
                <a:cs typeface="Georgia"/>
              </a:rPr>
              <a:t>Independent QRC acquiring </a:t>
            </a:r>
            <a:r>
              <a:rPr lang="en-US" sz="1200" dirty="0" smtClean="0">
                <a:solidFill>
                  <a:schemeClr val="tx1">
                    <a:lumMod val="75000"/>
                    <a:lumOff val="25000"/>
                  </a:schemeClr>
                </a:solidFill>
                <a:latin typeface="Georgia"/>
                <a:cs typeface="Georgia"/>
              </a:rPr>
              <a:t>license</a:t>
            </a:r>
          </a:p>
          <a:p>
            <a:pPr marL="641985" lvl="1" indent="-172085">
              <a:lnSpc>
                <a:spcPct val="125000"/>
              </a:lnSpc>
              <a:buFont typeface="Wingdings"/>
              <a:buChar char=""/>
              <a:tabLst>
                <a:tab pos="185420" algn="l"/>
              </a:tabLst>
            </a:pPr>
            <a:r>
              <a:rPr lang="en-US" sz="1200" dirty="0">
                <a:solidFill>
                  <a:schemeClr val="tx1">
                    <a:lumMod val="75000"/>
                    <a:lumOff val="25000"/>
                  </a:schemeClr>
                </a:solidFill>
                <a:latin typeface="Georgia"/>
                <a:cs typeface="Georgia"/>
              </a:rPr>
              <a:t>acquirers that </a:t>
            </a:r>
            <a:r>
              <a:rPr lang="en-US" sz="1200" dirty="0" smtClean="0">
                <a:solidFill>
                  <a:schemeClr val="tx1">
                    <a:lumMod val="75000"/>
                    <a:lumOff val="25000"/>
                  </a:schemeClr>
                </a:solidFill>
                <a:latin typeface="Georgia"/>
                <a:cs typeface="Georgia"/>
              </a:rPr>
              <a:t>obtained </a:t>
            </a:r>
            <a:r>
              <a:rPr lang="en-US" sz="1200" dirty="0">
                <a:solidFill>
                  <a:schemeClr val="tx1">
                    <a:lumMod val="75000"/>
                    <a:lumOff val="25000"/>
                  </a:schemeClr>
                </a:solidFill>
                <a:latin typeface="Georgia"/>
                <a:cs typeface="Georgia"/>
              </a:rPr>
              <a:t>POS license </a:t>
            </a:r>
            <a:r>
              <a:rPr lang="en-US" sz="1200" dirty="0" smtClean="0">
                <a:solidFill>
                  <a:schemeClr val="tx1">
                    <a:lumMod val="75000"/>
                    <a:lumOff val="25000"/>
                  </a:schemeClr>
                </a:solidFill>
                <a:latin typeface="Georgia"/>
                <a:cs typeface="Georgia"/>
              </a:rPr>
              <a:t>already can automatically enrolled with </a:t>
            </a:r>
            <a:r>
              <a:rPr lang="en-US" sz="1200" dirty="0">
                <a:solidFill>
                  <a:schemeClr val="tx1">
                    <a:lumMod val="75000"/>
                    <a:lumOff val="25000"/>
                  </a:schemeClr>
                </a:solidFill>
                <a:latin typeface="Georgia"/>
                <a:cs typeface="Georgia"/>
              </a:rPr>
              <a:t>QRC license</a:t>
            </a:r>
          </a:p>
          <a:p>
            <a:pPr marL="184785" indent="-172085">
              <a:lnSpc>
                <a:spcPct val="125000"/>
              </a:lnSpc>
              <a:buFont typeface="Wingdings"/>
              <a:buChar char=""/>
              <a:tabLst>
                <a:tab pos="185420" algn="l"/>
              </a:tabLst>
            </a:pPr>
            <a:r>
              <a:rPr sz="1200" dirty="0">
                <a:solidFill>
                  <a:schemeClr val="tx1">
                    <a:lumMod val="75000"/>
                    <a:lumOff val="25000"/>
                  </a:schemeClr>
                </a:solidFill>
                <a:latin typeface="Georgia"/>
                <a:cs typeface="Georgia"/>
              </a:rPr>
              <a:t>Pull Mode for Acquirer : Estimated 2- 3 months</a:t>
            </a:r>
            <a:endParaRPr lang="en-US" sz="1200" dirty="0">
              <a:solidFill>
                <a:schemeClr val="tx1">
                  <a:lumMod val="75000"/>
                  <a:lumOff val="25000"/>
                </a:schemeClr>
              </a:solidFill>
              <a:latin typeface="Georgia"/>
              <a:cs typeface="Georgia"/>
            </a:endParaRPr>
          </a:p>
          <a:p>
            <a:pPr marL="184785" indent="-172085">
              <a:lnSpc>
                <a:spcPct val="125000"/>
              </a:lnSpc>
              <a:buFont typeface="Wingdings"/>
              <a:buChar char=""/>
              <a:tabLst>
                <a:tab pos="185420" algn="l"/>
              </a:tabLst>
            </a:pPr>
            <a:r>
              <a:rPr sz="1200" dirty="0">
                <a:solidFill>
                  <a:schemeClr val="tx1">
                    <a:lumMod val="75000"/>
                    <a:lumOff val="25000"/>
                  </a:schemeClr>
                </a:solidFill>
                <a:latin typeface="Georgia"/>
                <a:cs typeface="Georgia"/>
              </a:rPr>
              <a:t>Push Mode for Acquirer : Estimated </a:t>
            </a:r>
            <a:r>
              <a:rPr lang="en-US" sz="1200" dirty="0">
                <a:solidFill>
                  <a:schemeClr val="tx1">
                    <a:lumMod val="75000"/>
                    <a:lumOff val="25000"/>
                  </a:schemeClr>
                </a:solidFill>
                <a:latin typeface="Georgia"/>
                <a:cs typeface="Georgia"/>
              </a:rPr>
              <a:t>2 </a:t>
            </a:r>
            <a:r>
              <a:rPr lang="en-US" altLang="zh-CN" sz="1200" dirty="0">
                <a:solidFill>
                  <a:schemeClr val="tx1">
                    <a:lumMod val="75000"/>
                    <a:lumOff val="25000"/>
                  </a:schemeClr>
                </a:solidFill>
                <a:latin typeface="Georgia"/>
                <a:cs typeface="Georgia"/>
              </a:rPr>
              <a:t>- 3</a:t>
            </a:r>
            <a:r>
              <a:rPr sz="1200" dirty="0">
                <a:solidFill>
                  <a:schemeClr val="tx1">
                    <a:lumMod val="75000"/>
                    <a:lumOff val="25000"/>
                  </a:schemeClr>
                </a:solidFill>
                <a:latin typeface="Georgia"/>
                <a:cs typeface="Georgia"/>
              </a:rPr>
              <a:t> months</a:t>
            </a:r>
          </a:p>
        </p:txBody>
      </p:sp>
      <p:sp>
        <p:nvSpPr>
          <p:cNvPr id="24" name="object 24"/>
          <p:cNvSpPr txBox="1"/>
          <p:nvPr/>
        </p:nvSpPr>
        <p:spPr>
          <a:xfrm>
            <a:off x="5104060" y="3436260"/>
            <a:ext cx="3555365" cy="670440"/>
          </a:xfrm>
          <a:prstGeom prst="rect">
            <a:avLst/>
          </a:prstGeom>
        </p:spPr>
        <p:txBody>
          <a:bodyPr vert="horz" wrap="square" lIns="0" tIns="0" rIns="0" bIns="0" rtlCol="0">
            <a:spAutoFit/>
          </a:bodyPr>
          <a:lstStyle/>
          <a:p>
            <a:pPr marL="184785" indent="-172085">
              <a:lnSpc>
                <a:spcPct val="125000"/>
              </a:lnSpc>
              <a:buFont typeface="Wingdings"/>
              <a:buChar char=""/>
              <a:tabLst>
                <a:tab pos="185420" algn="l"/>
              </a:tabLst>
            </a:pPr>
            <a:r>
              <a:rPr sz="1200" dirty="0">
                <a:solidFill>
                  <a:schemeClr val="tx1">
                    <a:lumMod val="75000"/>
                    <a:lumOff val="25000"/>
                  </a:schemeClr>
                </a:solidFill>
                <a:latin typeface="Georgia"/>
                <a:cs typeface="Georgia"/>
              </a:rPr>
              <a:t>For </a:t>
            </a:r>
            <a:r>
              <a:rPr sz="1200" spc="-5" dirty="0">
                <a:solidFill>
                  <a:schemeClr val="tx1">
                    <a:lumMod val="75000"/>
                    <a:lumOff val="25000"/>
                  </a:schemeClr>
                </a:solidFill>
                <a:latin typeface="Georgia"/>
                <a:cs typeface="Georgia"/>
              </a:rPr>
              <a:t>Issuer </a:t>
            </a:r>
            <a:r>
              <a:rPr sz="1200" dirty="0">
                <a:solidFill>
                  <a:schemeClr val="tx1">
                    <a:lumMod val="75000"/>
                    <a:lumOff val="25000"/>
                  </a:schemeClr>
                </a:solidFill>
                <a:latin typeface="Georgia"/>
                <a:cs typeface="Georgia"/>
              </a:rPr>
              <a:t>: </a:t>
            </a:r>
            <a:r>
              <a:rPr sz="1200" spc="-5" dirty="0">
                <a:solidFill>
                  <a:schemeClr val="tx1">
                    <a:lumMod val="75000"/>
                    <a:lumOff val="25000"/>
                  </a:schemeClr>
                </a:solidFill>
                <a:latin typeface="Georgia"/>
                <a:cs typeface="Georgia"/>
              </a:rPr>
              <a:t>Estimated </a:t>
            </a:r>
            <a:r>
              <a:rPr sz="1200" dirty="0">
                <a:solidFill>
                  <a:schemeClr val="tx1">
                    <a:lumMod val="75000"/>
                    <a:lumOff val="25000"/>
                  </a:schemeClr>
                </a:solidFill>
                <a:latin typeface="Georgia"/>
                <a:cs typeface="Georgia"/>
              </a:rPr>
              <a:t>3 – 4</a:t>
            </a:r>
            <a:r>
              <a:rPr sz="1200" spc="-85" dirty="0">
                <a:solidFill>
                  <a:schemeClr val="tx1">
                    <a:lumMod val="75000"/>
                    <a:lumOff val="25000"/>
                  </a:schemeClr>
                </a:solidFill>
                <a:latin typeface="Georgia"/>
                <a:cs typeface="Georgia"/>
              </a:rPr>
              <a:t> </a:t>
            </a:r>
            <a:r>
              <a:rPr sz="1200" spc="-5" dirty="0" smtClean="0">
                <a:solidFill>
                  <a:schemeClr val="tx1">
                    <a:lumMod val="75000"/>
                    <a:lumOff val="25000"/>
                  </a:schemeClr>
                </a:solidFill>
                <a:latin typeface="Georgia"/>
                <a:cs typeface="Georgia"/>
              </a:rPr>
              <a:t>months</a:t>
            </a:r>
            <a:endParaRPr lang="en-US" sz="1200" dirty="0">
              <a:solidFill>
                <a:schemeClr val="tx1">
                  <a:lumMod val="75000"/>
                  <a:lumOff val="25000"/>
                </a:schemeClr>
              </a:solidFill>
              <a:latin typeface="Georgia"/>
              <a:cs typeface="Georgia"/>
            </a:endParaRPr>
          </a:p>
          <a:p>
            <a:pPr marL="184785" indent="-172085">
              <a:lnSpc>
                <a:spcPct val="125000"/>
              </a:lnSpc>
              <a:buFont typeface="Wingdings"/>
              <a:buChar char=""/>
              <a:tabLst>
                <a:tab pos="185420" algn="l"/>
              </a:tabLst>
            </a:pPr>
            <a:r>
              <a:rPr sz="1200" dirty="0" smtClean="0">
                <a:solidFill>
                  <a:schemeClr val="tx1">
                    <a:lumMod val="75000"/>
                    <a:lumOff val="25000"/>
                  </a:schemeClr>
                </a:solidFill>
                <a:latin typeface="Georgia"/>
                <a:cs typeface="Georgia"/>
              </a:rPr>
              <a:t>With </a:t>
            </a:r>
            <a:r>
              <a:rPr sz="1200" spc="-5" dirty="0">
                <a:solidFill>
                  <a:schemeClr val="tx1">
                    <a:lumMod val="75000"/>
                    <a:lumOff val="25000"/>
                  </a:schemeClr>
                </a:solidFill>
                <a:latin typeface="Georgia"/>
                <a:cs typeface="Georgia"/>
              </a:rPr>
              <a:t>UPI QRC </a:t>
            </a:r>
            <a:r>
              <a:rPr lang="en-US" sz="1200" spc="-5" dirty="0">
                <a:solidFill>
                  <a:schemeClr val="tx1">
                    <a:lumMod val="75000"/>
                    <a:lumOff val="25000"/>
                  </a:schemeClr>
                </a:solidFill>
                <a:latin typeface="Georgia"/>
                <a:cs typeface="Georgia"/>
              </a:rPr>
              <a:t>API</a:t>
            </a:r>
            <a:r>
              <a:rPr sz="1200" spc="-5" dirty="0">
                <a:solidFill>
                  <a:schemeClr val="tx1">
                    <a:lumMod val="75000"/>
                    <a:lumOff val="25000"/>
                  </a:schemeClr>
                </a:solidFill>
                <a:latin typeface="Georgia"/>
                <a:cs typeface="Georgia"/>
              </a:rPr>
              <a:t>, the implementation time can  be largely</a:t>
            </a:r>
            <a:r>
              <a:rPr sz="1200" spc="-80" dirty="0">
                <a:solidFill>
                  <a:schemeClr val="tx1">
                    <a:lumMod val="75000"/>
                    <a:lumOff val="25000"/>
                  </a:schemeClr>
                </a:solidFill>
                <a:latin typeface="Georgia"/>
                <a:cs typeface="Georgia"/>
              </a:rPr>
              <a:t> </a:t>
            </a:r>
            <a:r>
              <a:rPr sz="1200" spc="-5" dirty="0">
                <a:solidFill>
                  <a:schemeClr val="tx1">
                    <a:lumMod val="75000"/>
                    <a:lumOff val="25000"/>
                  </a:schemeClr>
                </a:solidFill>
                <a:latin typeface="Georgia"/>
                <a:cs typeface="Georgia"/>
              </a:rPr>
              <a:t>reduced</a:t>
            </a:r>
            <a:endParaRPr sz="1200" dirty="0">
              <a:solidFill>
                <a:schemeClr val="tx1">
                  <a:lumMod val="75000"/>
                  <a:lumOff val="25000"/>
                </a:schemeClr>
              </a:solidFill>
              <a:latin typeface="Georgia"/>
              <a:cs typeface="Georgia"/>
            </a:endParaRPr>
          </a:p>
        </p:txBody>
      </p:sp>
      <p:sp>
        <p:nvSpPr>
          <p:cNvPr id="25" name="object 25"/>
          <p:cNvSpPr txBox="1"/>
          <p:nvPr/>
        </p:nvSpPr>
        <p:spPr>
          <a:xfrm>
            <a:off x="1185523" y="1428460"/>
            <a:ext cx="1074420" cy="276999"/>
          </a:xfrm>
          <a:prstGeom prst="rect">
            <a:avLst/>
          </a:prstGeom>
        </p:spPr>
        <p:txBody>
          <a:bodyPr vert="horz" wrap="square" lIns="0" tIns="0" rIns="0" bIns="0" rtlCol="0">
            <a:spAutoFit/>
          </a:bodyPr>
          <a:lstStyle/>
          <a:p>
            <a:pPr marL="12700">
              <a:lnSpc>
                <a:spcPct val="100000"/>
              </a:lnSpc>
            </a:pPr>
            <a:r>
              <a:rPr sz="1800" b="1" spc="-5" dirty="0">
                <a:solidFill>
                  <a:srgbClr val="0070C0"/>
                </a:solidFill>
                <a:latin typeface="Georgia"/>
                <a:cs typeface="Georgia"/>
              </a:rPr>
              <a:t>Acquirer</a:t>
            </a:r>
            <a:endParaRPr sz="1800" dirty="0">
              <a:solidFill>
                <a:srgbClr val="0070C0"/>
              </a:solidFill>
              <a:latin typeface="Georgia"/>
              <a:cs typeface="Georgia"/>
            </a:endParaRPr>
          </a:p>
        </p:txBody>
      </p:sp>
      <p:sp>
        <p:nvSpPr>
          <p:cNvPr id="26" name="object 26"/>
          <p:cNvSpPr txBox="1"/>
          <p:nvPr/>
        </p:nvSpPr>
        <p:spPr>
          <a:xfrm>
            <a:off x="5872429" y="1420036"/>
            <a:ext cx="768350" cy="276999"/>
          </a:xfrm>
          <a:prstGeom prst="rect">
            <a:avLst/>
          </a:prstGeom>
        </p:spPr>
        <p:txBody>
          <a:bodyPr vert="horz" wrap="square" lIns="0" tIns="0" rIns="0" bIns="0" rtlCol="0">
            <a:spAutoFit/>
          </a:bodyPr>
          <a:lstStyle/>
          <a:p>
            <a:pPr marL="12700">
              <a:lnSpc>
                <a:spcPct val="100000"/>
              </a:lnSpc>
            </a:pPr>
            <a:r>
              <a:rPr sz="1800" b="1" dirty="0">
                <a:solidFill>
                  <a:srgbClr val="0070C0"/>
                </a:solidFill>
                <a:latin typeface="Georgia"/>
                <a:cs typeface="Georgia"/>
              </a:rPr>
              <a:t>Iss</a:t>
            </a:r>
            <a:r>
              <a:rPr sz="1800" b="1" spc="5" dirty="0">
                <a:solidFill>
                  <a:srgbClr val="0070C0"/>
                </a:solidFill>
                <a:latin typeface="Georgia"/>
                <a:cs typeface="Georgia"/>
              </a:rPr>
              <a:t>u</a:t>
            </a:r>
            <a:r>
              <a:rPr sz="1800" b="1" dirty="0">
                <a:solidFill>
                  <a:srgbClr val="0070C0"/>
                </a:solidFill>
                <a:latin typeface="Georgia"/>
                <a:cs typeface="Georgia"/>
              </a:rPr>
              <a:t>er</a:t>
            </a:r>
            <a:endParaRPr sz="1800" dirty="0">
              <a:solidFill>
                <a:srgbClr val="0070C0"/>
              </a:solidFill>
              <a:latin typeface="Georgia"/>
              <a:cs typeface="Georgia"/>
            </a:endParaRPr>
          </a:p>
        </p:txBody>
      </p:sp>
      <p:sp>
        <p:nvSpPr>
          <p:cNvPr id="28" name="标题 1"/>
          <p:cNvSpPr txBox="1">
            <a:spLocks/>
          </p:cNvSpPr>
          <p:nvPr/>
        </p:nvSpPr>
        <p:spPr bwMode="auto">
          <a:xfrm>
            <a:off x="395297" y="123826"/>
            <a:ext cx="741734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eaLnBrk="1" hangingPunct="1"/>
            <a:r>
              <a:rPr lang="en-US" altLang="zh-CN" sz="2500" b="1" dirty="0">
                <a:solidFill>
                  <a:srgbClr val="2E5C9E"/>
                </a:solidFill>
                <a:latin typeface="Georgia" pitchFamily="18" charset="0"/>
                <a:ea typeface="黑体" pitchFamily="49" charset="-122"/>
              </a:rPr>
              <a:t>Product</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Implementation</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Guide</a:t>
            </a:r>
            <a:endParaRPr lang="zh-CN" altLang="en-US" sz="2500" b="1" dirty="0">
              <a:solidFill>
                <a:srgbClr val="2E5C9E"/>
              </a:solidFill>
              <a:latin typeface="Georgia" pitchFamily="18" charset="0"/>
              <a:ea typeface="黑体" pitchFamily="49" charset="-122"/>
            </a:endParaRPr>
          </a:p>
        </p:txBody>
      </p:sp>
    </p:spTree>
    <p:extLst>
      <p:ext uri="{BB962C8B-B14F-4D97-AF65-F5344CB8AC3E}">
        <p14:creationId xmlns:p14="http://schemas.microsoft.com/office/powerpoint/2010/main" val="5469158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1"/>
          <p:cNvSpPr txBox="1">
            <a:spLocks/>
          </p:cNvSpPr>
          <p:nvPr/>
        </p:nvSpPr>
        <p:spPr bwMode="auto">
          <a:xfrm>
            <a:off x="395297" y="123826"/>
            <a:ext cx="741734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eaLnBrk="1" hangingPunct="1"/>
            <a:r>
              <a:rPr lang="en-US" altLang="zh-CN" sz="2500" b="1" dirty="0">
                <a:solidFill>
                  <a:srgbClr val="2E5C9E"/>
                </a:solidFill>
                <a:latin typeface="Georgia" pitchFamily="18" charset="0"/>
                <a:ea typeface="黑体" pitchFamily="49" charset="-122"/>
              </a:rPr>
              <a:t>Product</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Implementation</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Guide</a:t>
            </a:r>
            <a:endParaRPr lang="zh-CN" altLang="en-US" sz="2500" b="1" dirty="0">
              <a:solidFill>
                <a:srgbClr val="2E5C9E"/>
              </a:solidFill>
              <a:latin typeface="Georgia"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37714537"/>
              </p:ext>
            </p:extLst>
          </p:nvPr>
        </p:nvGraphicFramePr>
        <p:xfrm>
          <a:off x="539552" y="627534"/>
          <a:ext cx="7848000" cy="4408125"/>
        </p:xfrm>
        <a:graphic>
          <a:graphicData uri="http://schemas.openxmlformats.org/drawingml/2006/table">
            <a:tbl>
              <a:tblPr>
                <a:tableStyleId>{6E25E649-3F16-4E02-A733-19D2CDBF48F0}</a:tableStyleId>
              </a:tblPr>
              <a:tblGrid>
                <a:gridCol w="3600000"/>
                <a:gridCol w="1368000"/>
                <a:gridCol w="2880000"/>
              </a:tblGrid>
              <a:tr h="360000">
                <a:tc>
                  <a:txBody>
                    <a:bodyPr/>
                    <a:lstStyle/>
                    <a:p>
                      <a:pPr algn="ctr" fontAlgn="ctr"/>
                      <a:r>
                        <a:rPr lang="en-US" sz="1100" b="1" u="none" strike="noStrike" dirty="0" smtClean="0">
                          <a:effectLst/>
                          <a:latin typeface="Georgia" panose="02040502050405020303" pitchFamily="18" charset="0"/>
                        </a:rPr>
                        <a:t>Specification</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smtClean="0">
                          <a:effectLst/>
                          <a:latin typeface="Georgia" panose="02040502050405020303" pitchFamily="18" charset="0"/>
                        </a:rPr>
                        <a:t>Target</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smtClean="0">
                          <a:solidFill>
                            <a:srgbClr val="000000"/>
                          </a:solidFill>
                          <a:effectLst/>
                          <a:latin typeface="Georgia" panose="02040502050405020303" pitchFamily="18" charset="0"/>
                        </a:rPr>
                        <a:t>Description</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r>
              <a:tr h="809625">
                <a:tc>
                  <a:txBody>
                    <a:bodyPr/>
                    <a:lstStyle/>
                    <a:p>
                      <a:pPr algn="ctr" fontAlgn="ctr"/>
                      <a:r>
                        <a:rPr lang="en-US" sz="1050" u="none" strike="noStrike" dirty="0">
                          <a:effectLst/>
                          <a:latin typeface="Georgia" panose="02040502050405020303" pitchFamily="18" charset="0"/>
                        </a:rPr>
                        <a:t>UPI QR Code Encoding </a:t>
                      </a:r>
                      <a:r>
                        <a:rPr lang="en-US" sz="1050" u="none" strike="noStrike" dirty="0" smtClean="0">
                          <a:effectLst/>
                          <a:latin typeface="Georgia" panose="02040502050405020303" pitchFamily="18" charset="0"/>
                        </a:rPr>
                        <a:t>Specification</a:t>
                      </a:r>
                      <a:endParaRPr lang="en-US" sz="1050" b="0" i="0" u="none" strike="noStrike" dirty="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sz="1050" b="0" i="0" u="none" strike="noStrike" dirty="0" smtClean="0">
                          <a:solidFill>
                            <a:srgbClr val="000000"/>
                          </a:solidFill>
                          <a:effectLst/>
                          <a:latin typeface="Georgia" panose="02040502050405020303" pitchFamily="18" charset="0"/>
                        </a:rPr>
                        <a:t>Acquirer/Issuer</a:t>
                      </a:r>
                      <a:endParaRPr lang="en-US" sz="1050" b="0" i="0" u="none" strike="noStrike" dirty="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l" fontAlgn="ctr"/>
                      <a:r>
                        <a:rPr lang="en-US" sz="1050" b="0" i="0" u="none" strike="noStrike" dirty="0" smtClean="0">
                          <a:solidFill>
                            <a:srgbClr val="000000"/>
                          </a:solidFill>
                          <a:effectLst/>
                          <a:latin typeface="Georgia" panose="02040502050405020303" pitchFamily="18" charset="0"/>
                        </a:rPr>
                        <a:t>The technical</a:t>
                      </a:r>
                      <a:r>
                        <a:rPr lang="en-US" sz="1050" b="0" i="0" u="none" strike="noStrike" baseline="0" dirty="0" smtClean="0">
                          <a:solidFill>
                            <a:srgbClr val="000000"/>
                          </a:solidFill>
                          <a:effectLst/>
                          <a:latin typeface="Georgia" panose="02040502050405020303" pitchFamily="18" charset="0"/>
                        </a:rPr>
                        <a:t> specification to help UPI partners  generate or </a:t>
                      </a:r>
                      <a:r>
                        <a:rPr lang="en-US" altLang="zh-CN" sz="1050" b="0" i="0" u="none" strike="noStrike" baseline="0" dirty="0" smtClean="0">
                          <a:solidFill>
                            <a:srgbClr val="000000"/>
                          </a:solidFill>
                          <a:effectLst/>
                          <a:latin typeface="Georgia" panose="02040502050405020303" pitchFamily="18" charset="0"/>
                        </a:rPr>
                        <a:t>parse </a:t>
                      </a:r>
                      <a:r>
                        <a:rPr lang="en-US" sz="1050" b="0" i="0" u="none" strike="noStrike" baseline="0" dirty="0" smtClean="0">
                          <a:solidFill>
                            <a:srgbClr val="000000"/>
                          </a:solidFill>
                          <a:effectLst/>
                          <a:latin typeface="Georgia" panose="02040502050405020303" pitchFamily="18" charset="0"/>
                        </a:rPr>
                        <a:t>the QR Code for consumer and merchants following </a:t>
                      </a:r>
                      <a:r>
                        <a:rPr lang="en-US" sz="1050" b="0" i="0" u="none" strike="noStrike" baseline="0" dirty="0" err="1" smtClean="0">
                          <a:solidFill>
                            <a:srgbClr val="000000"/>
                          </a:solidFill>
                          <a:effectLst/>
                          <a:latin typeface="Georgia" panose="02040502050405020303" pitchFamily="18" charset="0"/>
                        </a:rPr>
                        <a:t>EMVCo</a:t>
                      </a:r>
                      <a:r>
                        <a:rPr lang="en-US" sz="1050" b="0" i="0" u="none" strike="noStrike" baseline="0" dirty="0" smtClean="0">
                          <a:solidFill>
                            <a:srgbClr val="000000"/>
                          </a:solidFill>
                          <a:effectLst/>
                          <a:latin typeface="Georgia" panose="02040502050405020303" pitchFamily="18" charset="0"/>
                        </a:rPr>
                        <a:t> standard</a:t>
                      </a:r>
                      <a:endParaRPr lang="en-US" sz="1050" b="0" i="0" u="none" strike="noStrike" dirty="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r>
              <a:tr h="809625">
                <a:tc>
                  <a:txBody>
                    <a:bodyPr/>
                    <a:lstStyle/>
                    <a:p>
                      <a:pPr algn="ctr" fontAlgn="ctr"/>
                      <a:r>
                        <a:rPr lang="en-US" sz="1050" u="none" strike="noStrike" dirty="0">
                          <a:effectLst/>
                          <a:latin typeface="Georgia" panose="02040502050405020303" pitchFamily="18" charset="0"/>
                        </a:rPr>
                        <a:t>UPI Technical Specifications on Bankcard Interoperability </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Acquirer/Issuer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l" fontAlgn="ctr"/>
                      <a:r>
                        <a:rPr lang="en-US" sz="1050" b="0" i="0" u="none" strike="noStrike" dirty="0" smtClean="0">
                          <a:solidFill>
                            <a:srgbClr val="000000"/>
                          </a:solidFill>
                          <a:effectLst/>
                          <a:latin typeface="Georgia" panose="02040502050405020303" pitchFamily="18" charset="0"/>
                        </a:rPr>
                        <a:t>The</a:t>
                      </a:r>
                      <a:r>
                        <a:rPr lang="en-US" sz="1050" b="0" i="0" u="none" strike="noStrike" baseline="0" dirty="0" smtClean="0">
                          <a:solidFill>
                            <a:srgbClr val="000000"/>
                          </a:solidFill>
                          <a:effectLst/>
                          <a:latin typeface="Georgia" panose="02040502050405020303" pitchFamily="18" charset="0"/>
                        </a:rPr>
                        <a:t> technical specification to explain  data </a:t>
                      </a:r>
                      <a:r>
                        <a:rPr lang="en-US" altLang="zh-CN" sz="1050" b="0" i="0" u="none" strike="noStrike" baseline="0" dirty="0" smtClean="0">
                          <a:solidFill>
                            <a:srgbClr val="000000"/>
                          </a:solidFill>
                          <a:effectLst/>
                          <a:latin typeface="Georgia" panose="02040502050405020303" pitchFamily="18" charset="0"/>
                        </a:rPr>
                        <a:t>elements required by UPI system (UMPS) to transit UPI QR Code transaction.</a:t>
                      </a:r>
                      <a:endParaRPr lang="en-US" sz="1050" b="0" i="0" u="none" strike="noStrike" dirty="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en-US" sz="1050" u="none" strike="noStrike" dirty="0">
                          <a:effectLst/>
                          <a:latin typeface="Georgia" panose="02040502050405020303" pitchFamily="18" charset="0"/>
                        </a:rPr>
                        <a:t>UnionPay Mobile Payment Service Technical Specifications </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Issuer/APP Provider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l" fontAlgn="ctr"/>
                      <a:r>
                        <a:rPr lang="en-US" sz="1050" b="0" i="0" u="none" strike="noStrike" dirty="0" smtClean="0">
                          <a:solidFill>
                            <a:srgbClr val="000000"/>
                          </a:solidFill>
                          <a:effectLst/>
                          <a:latin typeface="Georgia" panose="02040502050405020303" pitchFamily="18" charset="0"/>
                        </a:rPr>
                        <a:t>The technical specification to help issuer or APP Provider</a:t>
                      </a:r>
                      <a:r>
                        <a:rPr lang="en-US" sz="1050" b="0" i="0" u="none" strike="noStrike" baseline="0" dirty="0" smtClean="0">
                          <a:solidFill>
                            <a:srgbClr val="000000"/>
                          </a:solidFill>
                          <a:effectLst/>
                          <a:latin typeface="Georgia" panose="02040502050405020303" pitchFamily="18" charset="0"/>
                        </a:rPr>
                        <a:t> develop the mobile APP and connect with UnionPay system</a:t>
                      </a:r>
                      <a:endParaRPr lang="en-US" sz="1050" b="0" i="0" u="none" strike="noStrike" dirty="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en-US" sz="1050" u="none" strike="noStrike" dirty="0">
                          <a:effectLst/>
                          <a:latin typeface="Georgia" panose="02040502050405020303" pitchFamily="18" charset="0"/>
                        </a:rPr>
                        <a:t>UnionPay Interface Specification of CUP QR and UMPS </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Issuer/APP</a:t>
                      </a:r>
                      <a:r>
                        <a:rPr lang="en-US" sz="1050" b="0" i="0" u="none" strike="noStrike" baseline="0" dirty="0" smtClean="0">
                          <a:solidFill>
                            <a:srgbClr val="000000"/>
                          </a:solidFill>
                          <a:effectLst/>
                          <a:latin typeface="Georgia" panose="02040502050405020303" pitchFamily="18" charset="0"/>
                        </a:rPr>
                        <a:t> Provider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l" fontAlgn="ctr"/>
                      <a:r>
                        <a:rPr lang="en-US" sz="1050" b="0" i="0" u="none" strike="noStrike" dirty="0" smtClean="0">
                          <a:solidFill>
                            <a:srgbClr val="000000"/>
                          </a:solidFill>
                          <a:effectLst/>
                          <a:latin typeface="Georgia" panose="02040502050405020303" pitchFamily="18" charset="0"/>
                        </a:rPr>
                        <a:t>The technical</a:t>
                      </a:r>
                      <a:r>
                        <a:rPr lang="en-US" sz="1050" b="0" i="0" u="none" strike="noStrike" baseline="0" dirty="0" smtClean="0">
                          <a:solidFill>
                            <a:srgbClr val="000000"/>
                          </a:solidFill>
                          <a:effectLst/>
                          <a:latin typeface="Georgia" panose="02040502050405020303" pitchFamily="18" charset="0"/>
                        </a:rPr>
                        <a:t> specification to help issuer or APP Provider from mainland of China connect the mobile APP with UnionPay system for cross-border QR Code business</a:t>
                      </a:r>
                      <a:endParaRPr lang="en-US" sz="1050" b="0" i="0" u="none" strike="noStrike" dirty="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fr-FR" sz="1050" u="none" strike="noStrike" dirty="0">
                          <a:effectLst/>
                          <a:latin typeface="Georgia" panose="02040502050405020303" pitchFamily="18" charset="0"/>
                        </a:rPr>
                        <a:t>UPI QR Code Payment (ISO 8583) Implementation </a:t>
                      </a:r>
                      <a:r>
                        <a:rPr lang="fr-FR" sz="1050" u="none" strike="noStrike" dirty="0" smtClean="0">
                          <a:effectLst/>
                          <a:latin typeface="Georgia" panose="02040502050405020303" pitchFamily="18" charset="0"/>
                        </a:rPr>
                        <a:t>Guide</a:t>
                      </a:r>
                      <a:endParaRPr lang="fr-FR"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Acquirer/Issuer</a:t>
                      </a:r>
                    </a:p>
                  </a:txBody>
                  <a:tcPr marL="9525" marR="9525" marT="9525"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The documents describes</a:t>
                      </a:r>
                      <a:r>
                        <a:rPr lang="en-US" altLang="zh-CN" sz="1050" b="0" i="0" u="none" strike="noStrike" baseline="0" dirty="0" smtClean="0">
                          <a:solidFill>
                            <a:srgbClr val="000000"/>
                          </a:solidFill>
                          <a:effectLst/>
                          <a:latin typeface="Georgia" panose="02040502050405020303" pitchFamily="18" charset="0"/>
                        </a:rPr>
                        <a:t> </a:t>
                      </a:r>
                      <a:r>
                        <a:rPr lang="en-US" altLang="zh-CN" sz="1050" b="0" i="0" u="none" strike="noStrike" dirty="0" smtClean="0">
                          <a:solidFill>
                            <a:srgbClr val="000000"/>
                          </a:solidFill>
                          <a:effectLst/>
                          <a:latin typeface="Georgia" panose="02040502050405020303" pitchFamily="18" charset="0"/>
                        </a:rPr>
                        <a:t> necessary changes of Partners to support</a:t>
                      </a:r>
                      <a:r>
                        <a:rPr lang="en-US" altLang="zh-CN" sz="1050" b="0" i="0" u="none" strike="noStrike" baseline="0" dirty="0" smtClean="0">
                          <a:solidFill>
                            <a:srgbClr val="000000"/>
                          </a:solidFill>
                          <a:effectLst/>
                          <a:latin typeface="Georgia" panose="02040502050405020303" pitchFamily="18" charset="0"/>
                        </a:rPr>
                        <a:t> QR Code payments </a:t>
                      </a:r>
                      <a:r>
                        <a:rPr lang="en-US" altLang="zh-CN" sz="1050" b="0" i="0" u="none" strike="noStrike" dirty="0" smtClean="0">
                          <a:solidFill>
                            <a:srgbClr val="000000"/>
                          </a:solidFill>
                          <a:effectLst/>
                          <a:latin typeface="Georgia" panose="02040502050405020303" pitchFamily="18" charset="0"/>
                        </a:rPr>
                        <a:t> through ISO 8583, including requirements for network access, the transaction process etc.</a:t>
                      </a:r>
                      <a:endParaRPr lang="en-US" altLang="zh-CN" sz="1050" b="0" i="0" u="none" strike="noStrike" dirty="0">
                        <a:solidFill>
                          <a:srgbClr val="000000"/>
                        </a:solidFill>
                        <a:effectLst/>
                        <a:latin typeface="Georgia" panose="02040502050405020303" pitchFamily="18" charset="0"/>
                      </a:endParaRPr>
                    </a:p>
                  </a:txBody>
                  <a:tcPr marL="9525" marR="9525" marT="9525" marB="0" anchor="ctr"/>
                </a:tc>
              </a:tr>
            </a:tbl>
          </a:graphicData>
        </a:graphic>
      </p:graphicFrame>
    </p:spTree>
    <p:extLst>
      <p:ext uri="{BB962C8B-B14F-4D97-AF65-F5344CB8AC3E}">
        <p14:creationId xmlns:p14="http://schemas.microsoft.com/office/powerpoint/2010/main" val="35991129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1"/>
          <p:cNvSpPr txBox="1">
            <a:spLocks/>
          </p:cNvSpPr>
          <p:nvPr/>
        </p:nvSpPr>
        <p:spPr bwMode="auto">
          <a:xfrm>
            <a:off x="395297" y="123826"/>
            <a:ext cx="741734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defRPr sz="1400">
                <a:solidFill>
                  <a:schemeClr val="tx1"/>
                </a:solidFill>
                <a:latin typeface="Verdana" pitchFamily="34" charset="0"/>
                <a:ea typeface="宋体" pitchFamily="2" charset="-122"/>
                <a:sym typeface="ＭＳ Ｐゴシック" pitchFamily="34" charset="-128"/>
              </a:defRPr>
            </a:lvl1pPr>
            <a:lvl2pPr marL="742950" indent="-285750">
              <a:defRPr sz="1400">
                <a:solidFill>
                  <a:schemeClr val="tx1"/>
                </a:solidFill>
                <a:latin typeface="Verdana" pitchFamily="34" charset="0"/>
                <a:ea typeface="宋体" pitchFamily="2" charset="-122"/>
                <a:sym typeface="ＭＳ Ｐゴシック" pitchFamily="34" charset="-128"/>
              </a:defRPr>
            </a:lvl2pPr>
            <a:lvl3pPr marL="1143000" indent="-228600">
              <a:defRPr sz="1400">
                <a:solidFill>
                  <a:schemeClr val="tx1"/>
                </a:solidFill>
                <a:latin typeface="Verdana" pitchFamily="34" charset="0"/>
                <a:ea typeface="宋体" pitchFamily="2" charset="-122"/>
                <a:sym typeface="ＭＳ Ｐゴシック" pitchFamily="34" charset="-128"/>
              </a:defRPr>
            </a:lvl3pPr>
            <a:lvl4pPr marL="1600200" indent="-228600">
              <a:defRPr sz="1400">
                <a:solidFill>
                  <a:schemeClr val="tx1"/>
                </a:solidFill>
                <a:latin typeface="Verdana" pitchFamily="34" charset="0"/>
                <a:ea typeface="宋体" pitchFamily="2" charset="-122"/>
                <a:sym typeface="ＭＳ Ｐゴシック" pitchFamily="34" charset="-128"/>
              </a:defRPr>
            </a:lvl4pPr>
            <a:lvl5pPr marL="2057400" indent="-228600">
              <a:defRPr sz="1400">
                <a:solidFill>
                  <a:schemeClr val="tx1"/>
                </a:solidFill>
                <a:latin typeface="Verdana" pitchFamily="34" charset="0"/>
                <a:ea typeface="宋体" pitchFamily="2" charset="-122"/>
                <a:sym typeface="ＭＳ Ｐゴシック" pitchFamily="34" charset="-128"/>
              </a:defRPr>
            </a:lvl5pPr>
            <a:lvl6pPr marL="25146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6pPr>
            <a:lvl7pPr marL="29718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7pPr>
            <a:lvl8pPr marL="34290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8pPr>
            <a:lvl9pPr marL="3886200" indent="-228600" eaLnBrk="0" fontAlgn="base" hangingPunct="0">
              <a:spcBef>
                <a:spcPct val="0"/>
              </a:spcBef>
              <a:spcAft>
                <a:spcPct val="0"/>
              </a:spcAft>
              <a:defRPr sz="1400">
                <a:solidFill>
                  <a:schemeClr val="tx1"/>
                </a:solidFill>
                <a:latin typeface="Verdana" pitchFamily="34" charset="0"/>
                <a:ea typeface="宋体" pitchFamily="2" charset="-122"/>
                <a:sym typeface="ＭＳ Ｐゴシック" pitchFamily="34" charset="-128"/>
              </a:defRPr>
            </a:lvl9pPr>
          </a:lstStyle>
          <a:p>
            <a:pPr eaLnBrk="1" hangingPunct="1"/>
            <a:r>
              <a:rPr lang="en-US" altLang="zh-CN" sz="2500" b="1" dirty="0">
                <a:solidFill>
                  <a:srgbClr val="2E5C9E"/>
                </a:solidFill>
                <a:latin typeface="Georgia" pitchFamily="18" charset="0"/>
                <a:ea typeface="黑体" pitchFamily="49" charset="-122"/>
              </a:rPr>
              <a:t>Product</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Implementation</a:t>
            </a:r>
            <a:r>
              <a:rPr lang="zh-CN" altLang="en-US" sz="2500" b="1" dirty="0">
                <a:solidFill>
                  <a:srgbClr val="2E5C9E"/>
                </a:solidFill>
                <a:latin typeface="Georgia" pitchFamily="18" charset="0"/>
                <a:ea typeface="黑体" pitchFamily="49" charset="-122"/>
              </a:rPr>
              <a:t> </a:t>
            </a:r>
            <a:r>
              <a:rPr lang="en-US" altLang="zh-CN" sz="2500" b="1" dirty="0">
                <a:solidFill>
                  <a:srgbClr val="2E5C9E"/>
                </a:solidFill>
                <a:latin typeface="Georgia" pitchFamily="18" charset="0"/>
                <a:ea typeface="黑体" pitchFamily="49" charset="-122"/>
              </a:rPr>
              <a:t>Guide</a:t>
            </a:r>
            <a:endParaRPr lang="zh-CN" altLang="en-US" sz="2500" b="1" dirty="0">
              <a:solidFill>
                <a:srgbClr val="2E5C9E"/>
              </a:solidFill>
              <a:latin typeface="Georgia"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703334673"/>
              </p:ext>
            </p:extLst>
          </p:nvPr>
        </p:nvGraphicFramePr>
        <p:xfrm>
          <a:off x="539552" y="627534"/>
          <a:ext cx="7848152" cy="4408165"/>
        </p:xfrm>
        <a:graphic>
          <a:graphicData uri="http://schemas.openxmlformats.org/drawingml/2006/table">
            <a:tbl>
              <a:tblPr>
                <a:tableStyleId>{6E25E649-3F16-4E02-A733-19D2CDBF48F0}</a:tableStyleId>
              </a:tblPr>
              <a:tblGrid>
                <a:gridCol w="3600000"/>
                <a:gridCol w="1368152"/>
                <a:gridCol w="2880000"/>
              </a:tblGrid>
              <a:tr h="360040">
                <a:tc>
                  <a:txBody>
                    <a:bodyPr/>
                    <a:lstStyle/>
                    <a:p>
                      <a:pPr algn="ctr" fontAlgn="ctr"/>
                      <a:r>
                        <a:rPr lang="en-US" sz="1100" b="1" u="none" strike="noStrike" dirty="0" smtClean="0">
                          <a:effectLst/>
                          <a:latin typeface="Georgia" panose="02040502050405020303" pitchFamily="18" charset="0"/>
                        </a:rPr>
                        <a:t>Specification</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sz="1100" b="1" u="none" strike="noStrike" dirty="0" smtClean="0">
                          <a:effectLst/>
                          <a:latin typeface="Georgia" panose="02040502050405020303" pitchFamily="18" charset="0"/>
                        </a:rPr>
                        <a:t>Target</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ctr"/>
                      <a:r>
                        <a:rPr lang="en-US" sz="1100" b="1" i="0" u="none" strike="noStrike" dirty="0" smtClean="0">
                          <a:solidFill>
                            <a:srgbClr val="000000"/>
                          </a:solidFill>
                          <a:effectLst/>
                          <a:latin typeface="Georgia" panose="02040502050405020303" pitchFamily="18" charset="0"/>
                        </a:rPr>
                        <a:t>Description</a:t>
                      </a:r>
                      <a:endParaRPr lang="en-US" sz="1100" b="1" i="0" u="none" strike="noStrike" dirty="0">
                        <a:solidFill>
                          <a:srgbClr val="000000"/>
                        </a:solidFill>
                        <a:effectLst/>
                        <a:latin typeface="Georgia" panose="02040502050405020303" pitchFamily="18" charset="0"/>
                      </a:endParaRPr>
                    </a:p>
                  </a:txBody>
                  <a:tcPr marL="9525" marR="9525" marT="9525" marB="0" anchor="ctr">
                    <a:lnB w="12700" cap="flat" cmpd="sng" algn="ctr">
                      <a:solidFill>
                        <a:schemeClr val="tx1"/>
                      </a:solidFill>
                      <a:prstDash val="solid"/>
                      <a:round/>
                      <a:headEnd type="none" w="med" len="med"/>
                      <a:tailEnd type="none" w="med" len="med"/>
                    </a:lnB>
                  </a:tcPr>
                </a:tc>
              </a:tr>
              <a:tr h="809625">
                <a:tc>
                  <a:txBody>
                    <a:bodyPr/>
                    <a:lstStyle/>
                    <a:p>
                      <a:pPr algn="ctr" fontAlgn="ctr"/>
                      <a:r>
                        <a:rPr lang="en-US" sz="1050" u="none" strike="noStrike" dirty="0">
                          <a:effectLst/>
                          <a:latin typeface="Georgia" panose="02040502050405020303" pitchFamily="18" charset="0"/>
                        </a:rPr>
                        <a:t>UPI Acquiring Interface Service Technical Specifications </a:t>
                      </a:r>
                      <a:endParaRPr lang="en-US" sz="1050" b="0" i="0" u="none" strike="noStrike" dirty="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sz="1050" b="0" i="0" u="none" strike="noStrike" dirty="0" smtClean="0">
                          <a:solidFill>
                            <a:srgbClr val="000000"/>
                          </a:solidFill>
                          <a:effectLst/>
                          <a:latin typeface="Georgia" panose="02040502050405020303" pitchFamily="18" charset="0"/>
                        </a:rPr>
                        <a:t>Acquirer</a:t>
                      </a:r>
                      <a:endParaRPr lang="en-US" sz="1050" b="0" i="0" u="none" strike="noStrike" dirty="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The</a:t>
                      </a:r>
                      <a:r>
                        <a:rPr lang="en-US" altLang="zh-CN" sz="1050" b="0" i="0" u="none" strike="noStrike" baseline="0" dirty="0" smtClean="0">
                          <a:solidFill>
                            <a:srgbClr val="000000"/>
                          </a:solidFill>
                          <a:effectLst/>
                          <a:latin typeface="Georgia" panose="02040502050405020303" pitchFamily="18" charset="0"/>
                        </a:rPr>
                        <a:t> technical specification to explain  data elements required by UPI system (UAIS) to transit QR Code transactions from Acquirers with JSON interface</a:t>
                      </a:r>
                      <a:endParaRPr lang="en-US" altLang="zh-CN" sz="1050" b="0" i="0" u="none" strike="noStrike" dirty="0" smtClean="0">
                        <a:solidFill>
                          <a:srgbClr val="000000"/>
                        </a:solidFill>
                        <a:effectLst/>
                        <a:latin typeface="Georgia" panose="02040502050405020303" pitchFamily="18" charset="0"/>
                      </a:endParaRPr>
                    </a:p>
                  </a:txBody>
                  <a:tcPr marL="9525" marR="9525" marT="9525" marB="0" anchor="ctr">
                    <a:lnT w="12700" cap="flat" cmpd="sng" algn="ctr">
                      <a:solidFill>
                        <a:schemeClr val="tx1"/>
                      </a:solidFill>
                      <a:prstDash val="solid"/>
                      <a:round/>
                      <a:headEnd type="none" w="med" len="med"/>
                      <a:tailEnd type="none" w="med" len="med"/>
                    </a:lnT>
                  </a:tcPr>
                </a:tc>
              </a:tr>
              <a:tr h="809625">
                <a:tc>
                  <a:txBody>
                    <a:bodyPr/>
                    <a:lstStyle/>
                    <a:p>
                      <a:pPr algn="ctr" fontAlgn="ctr"/>
                      <a:r>
                        <a:rPr lang="en-US" sz="1050" u="none" strike="noStrike" dirty="0">
                          <a:effectLst/>
                          <a:latin typeface="Georgia" panose="02040502050405020303" pitchFamily="18" charset="0"/>
                        </a:rPr>
                        <a:t>UPI QR Code Payment (JSON Interface) </a:t>
                      </a:r>
                      <a:endParaRPr lang="en-US" sz="1050" u="none" strike="noStrike" dirty="0" smtClean="0">
                        <a:effectLst/>
                        <a:latin typeface="Georgia" panose="02040502050405020303" pitchFamily="18" charset="0"/>
                      </a:endParaRPr>
                    </a:p>
                    <a:p>
                      <a:pPr algn="ctr" fontAlgn="ctr"/>
                      <a:r>
                        <a:rPr lang="en-US" sz="1050" u="none" strike="noStrike" dirty="0" smtClean="0">
                          <a:effectLst/>
                          <a:latin typeface="Georgia" panose="02040502050405020303" pitchFamily="18" charset="0"/>
                        </a:rPr>
                        <a:t>Implementation Guide</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Acquirer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The documents describes</a:t>
                      </a:r>
                      <a:r>
                        <a:rPr lang="en-US" altLang="zh-CN" sz="1050" b="0" i="0" u="none" strike="noStrike" baseline="0" dirty="0" smtClean="0">
                          <a:solidFill>
                            <a:srgbClr val="000000"/>
                          </a:solidFill>
                          <a:effectLst/>
                          <a:latin typeface="Georgia" panose="02040502050405020303" pitchFamily="18" charset="0"/>
                        </a:rPr>
                        <a:t> </a:t>
                      </a:r>
                      <a:r>
                        <a:rPr lang="en-US" altLang="zh-CN" sz="1050" b="0" i="0" u="none" strike="noStrike" dirty="0" smtClean="0">
                          <a:solidFill>
                            <a:srgbClr val="000000"/>
                          </a:solidFill>
                          <a:effectLst/>
                          <a:latin typeface="Georgia" panose="02040502050405020303" pitchFamily="18" charset="0"/>
                        </a:rPr>
                        <a:t> necessary changes of Acquirer to support</a:t>
                      </a:r>
                      <a:r>
                        <a:rPr lang="en-US" altLang="zh-CN" sz="1050" b="0" i="0" u="none" strike="noStrike" baseline="0" dirty="0" smtClean="0">
                          <a:solidFill>
                            <a:srgbClr val="000000"/>
                          </a:solidFill>
                          <a:effectLst/>
                          <a:latin typeface="Georgia" panose="02040502050405020303" pitchFamily="18" charset="0"/>
                        </a:rPr>
                        <a:t> QR Code payments </a:t>
                      </a:r>
                      <a:r>
                        <a:rPr lang="en-US" altLang="zh-CN" sz="1050" b="0" i="0" u="none" strike="noStrike" dirty="0" smtClean="0">
                          <a:solidFill>
                            <a:srgbClr val="000000"/>
                          </a:solidFill>
                          <a:effectLst/>
                          <a:latin typeface="Georgia" panose="02040502050405020303" pitchFamily="18" charset="0"/>
                        </a:rPr>
                        <a:t> with JSON interface, including requirements for network access, the transaction process etc.</a:t>
                      </a:r>
                      <a:endParaRPr lang="en-US" sz="1050" b="0" i="0" u="none" strike="noStrike" dirty="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en-US" sz="1050" u="none" strike="noStrike" dirty="0">
                          <a:effectLst/>
                          <a:latin typeface="Georgia" panose="02040502050405020303" pitchFamily="18" charset="0"/>
                        </a:rPr>
                        <a:t>UPI Application Specification </a:t>
                      </a:r>
                      <a:endParaRPr lang="en-US" sz="1050" u="none" strike="noStrike" dirty="0" smtClean="0">
                        <a:effectLst/>
                        <a:latin typeface="Georgia" panose="02040502050405020303" pitchFamily="18" charset="0"/>
                      </a:endParaRPr>
                    </a:p>
                    <a:p>
                      <a:pPr algn="ctr" fontAlgn="ctr"/>
                      <a:r>
                        <a:rPr lang="en-US" sz="1050" u="none" strike="noStrike" dirty="0" smtClean="0">
                          <a:effectLst/>
                          <a:latin typeface="Georgia" panose="02040502050405020303" pitchFamily="18" charset="0"/>
                        </a:rPr>
                        <a:t>for Direct-Connected</a:t>
                      </a:r>
                      <a:r>
                        <a:rPr lang="en-US" sz="1050" u="none" strike="noStrike" baseline="0" dirty="0" smtClean="0">
                          <a:effectLst/>
                          <a:latin typeface="Georgia" panose="02040502050405020303" pitchFamily="18" charset="0"/>
                        </a:rPr>
                        <a:t> </a:t>
                      </a:r>
                      <a:r>
                        <a:rPr lang="en-US" sz="1050" u="none" strike="noStrike" dirty="0" smtClean="0">
                          <a:effectLst/>
                          <a:latin typeface="Georgia" panose="02040502050405020303" pitchFamily="18" charset="0"/>
                        </a:rPr>
                        <a:t>POS Terminal</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Acquirer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l" fontAlgn="ctr"/>
                      <a:r>
                        <a:rPr lang="en-US" sz="1050" b="0" i="0" u="none" strike="noStrike" dirty="0" smtClean="0">
                          <a:solidFill>
                            <a:srgbClr val="000000"/>
                          </a:solidFill>
                          <a:effectLst/>
                          <a:latin typeface="Georgia" panose="02040502050405020303" pitchFamily="18" charset="0"/>
                        </a:rPr>
                        <a:t>The technical specification for Acquirers</a:t>
                      </a:r>
                      <a:r>
                        <a:rPr lang="en-US" sz="1050" b="0" i="0" u="none" strike="noStrike" baseline="0" dirty="0" smtClean="0">
                          <a:solidFill>
                            <a:srgbClr val="000000"/>
                          </a:solidFill>
                          <a:effectLst/>
                          <a:latin typeface="Georgia" panose="02040502050405020303" pitchFamily="18" charset="0"/>
                        </a:rPr>
                        <a:t> to modify the POS terminal and connect terminal directly to UnionPay system for QR Code</a:t>
                      </a:r>
                      <a:endParaRPr lang="en-US" sz="1050" b="0" i="0" u="none" strike="noStrike" dirty="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en-US" sz="1050" u="none" strike="noStrike" dirty="0">
                          <a:effectLst/>
                          <a:latin typeface="Georgia" panose="02040502050405020303" pitchFamily="18" charset="0"/>
                        </a:rPr>
                        <a:t>UPI QR Code Payment Implementation Guide for </a:t>
                      </a:r>
                      <a:endParaRPr lang="en-US" sz="1050" u="none" strike="noStrike" dirty="0" smtClean="0">
                        <a:effectLst/>
                        <a:latin typeface="Georgia" panose="02040502050405020303" pitchFamily="18" charset="0"/>
                      </a:endParaRPr>
                    </a:p>
                    <a:p>
                      <a:pPr algn="ctr" fontAlgn="ctr"/>
                      <a:r>
                        <a:rPr lang="en-US" sz="1050" u="none" strike="noStrike" dirty="0" smtClean="0">
                          <a:effectLst/>
                          <a:latin typeface="Georgia" panose="02040502050405020303" pitchFamily="18" charset="0"/>
                        </a:rPr>
                        <a:t>Direct-Connection</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Acquirer</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The documents describes</a:t>
                      </a:r>
                      <a:r>
                        <a:rPr lang="en-US" altLang="zh-CN" sz="1050" b="0" i="0" u="none" strike="noStrike" baseline="0" dirty="0" smtClean="0">
                          <a:solidFill>
                            <a:srgbClr val="000000"/>
                          </a:solidFill>
                          <a:effectLst/>
                          <a:latin typeface="Georgia" panose="02040502050405020303" pitchFamily="18" charset="0"/>
                        </a:rPr>
                        <a:t> </a:t>
                      </a:r>
                      <a:r>
                        <a:rPr lang="en-US" altLang="zh-CN" sz="1050" b="0" i="0" u="none" strike="noStrike" dirty="0" smtClean="0">
                          <a:solidFill>
                            <a:srgbClr val="000000"/>
                          </a:solidFill>
                          <a:effectLst/>
                          <a:latin typeface="Georgia" panose="02040502050405020303" pitchFamily="18" charset="0"/>
                        </a:rPr>
                        <a:t> necessary procedures for Acquirer to support</a:t>
                      </a:r>
                      <a:r>
                        <a:rPr lang="en-US" altLang="zh-CN" sz="1050" b="0" i="0" u="none" strike="noStrike" baseline="0" dirty="0" smtClean="0">
                          <a:solidFill>
                            <a:srgbClr val="000000"/>
                          </a:solidFill>
                          <a:effectLst/>
                          <a:latin typeface="Georgia" panose="02040502050405020303" pitchFamily="18" charset="0"/>
                        </a:rPr>
                        <a:t> QR Code payments </a:t>
                      </a:r>
                      <a:r>
                        <a:rPr lang="en-US" altLang="zh-CN" sz="1050" b="0" i="0" u="none" strike="noStrike" dirty="0" smtClean="0">
                          <a:solidFill>
                            <a:srgbClr val="000000"/>
                          </a:solidFill>
                          <a:effectLst/>
                          <a:latin typeface="Georgia" panose="02040502050405020303" pitchFamily="18" charset="0"/>
                        </a:rPr>
                        <a:t> with direct</a:t>
                      </a:r>
                      <a:r>
                        <a:rPr lang="en-US" altLang="zh-CN" sz="1050" b="0" i="0" u="none" strike="noStrike" baseline="0" dirty="0" smtClean="0">
                          <a:solidFill>
                            <a:srgbClr val="000000"/>
                          </a:solidFill>
                          <a:effectLst/>
                          <a:latin typeface="Georgia" panose="02040502050405020303" pitchFamily="18" charset="0"/>
                        </a:rPr>
                        <a:t> connection of merchants to UPI system</a:t>
                      </a:r>
                      <a:endParaRPr lang="en-US" altLang="zh-CN" sz="1050" b="0" i="0" u="none" strike="noStrike" dirty="0" smtClean="0">
                        <a:solidFill>
                          <a:srgbClr val="000000"/>
                        </a:solidFill>
                        <a:effectLst/>
                        <a:latin typeface="Georgia" panose="02040502050405020303" pitchFamily="18" charset="0"/>
                      </a:endParaRPr>
                    </a:p>
                  </a:txBody>
                  <a:tcPr marL="9525" marR="9525" marT="9525" marB="0" anchor="ctr"/>
                </a:tc>
              </a:tr>
              <a:tr h="809625">
                <a:tc>
                  <a:txBody>
                    <a:bodyPr/>
                    <a:lstStyle/>
                    <a:p>
                      <a:pPr algn="ctr" fontAlgn="ctr"/>
                      <a:r>
                        <a:rPr lang="en-US" sz="1050" u="none" strike="noStrike" dirty="0">
                          <a:effectLst/>
                          <a:latin typeface="Georgia" panose="02040502050405020303" pitchFamily="18" charset="0"/>
                        </a:rPr>
                        <a:t>UPI QR Code Testing </a:t>
                      </a:r>
                      <a:r>
                        <a:rPr lang="en-US" sz="1050" u="none" strike="noStrike" dirty="0" smtClean="0">
                          <a:effectLst/>
                          <a:latin typeface="Georgia" panose="02040502050405020303" pitchFamily="18" charset="0"/>
                        </a:rPr>
                        <a:t>Case </a:t>
                      </a:r>
                      <a:r>
                        <a:rPr lang="en-US" sz="1050" u="none" strike="noStrike" dirty="0">
                          <a:effectLst/>
                          <a:latin typeface="Georgia" panose="02040502050405020303" pitchFamily="18" charset="0"/>
                        </a:rPr>
                        <a:t>Guide</a:t>
                      </a:r>
                      <a:endParaRPr lang="en-US" sz="1050" b="0" i="0" u="none" strike="noStrike" dirty="0">
                        <a:solidFill>
                          <a:srgbClr val="000000"/>
                        </a:solidFill>
                        <a:effectLst/>
                        <a:latin typeface="Georgia" panose="02040502050405020303" pitchFamily="18" charset="0"/>
                      </a:endParaRPr>
                    </a:p>
                  </a:txBody>
                  <a:tcPr marL="9525" marR="9525" marT="9525" marB="0" anchor="ctr"/>
                </a:tc>
                <a:tc>
                  <a:txBody>
                    <a:bodyPr/>
                    <a:lstStyle/>
                    <a:p>
                      <a:pPr algn="ctr" fontAlgn="ctr"/>
                      <a:r>
                        <a:rPr lang="en-US" sz="1050" b="0" i="0" u="none" strike="noStrike" dirty="0" smtClean="0">
                          <a:solidFill>
                            <a:srgbClr val="000000"/>
                          </a:solidFill>
                          <a:effectLst/>
                          <a:latin typeface="Georgia" panose="02040502050405020303" pitchFamily="18" charset="0"/>
                        </a:rPr>
                        <a:t>Acquirer/Issuer/</a:t>
                      </a:r>
                    </a:p>
                    <a:p>
                      <a:pPr algn="ctr" fontAlgn="ctr"/>
                      <a:r>
                        <a:rPr lang="en-US" sz="1050" b="0" i="0" u="none" strike="noStrike" dirty="0" smtClean="0">
                          <a:solidFill>
                            <a:srgbClr val="000000"/>
                          </a:solidFill>
                          <a:effectLst/>
                          <a:latin typeface="Georgia" panose="02040502050405020303" pitchFamily="18" charset="0"/>
                        </a:rPr>
                        <a:t>APP Provider</a:t>
                      </a:r>
                    </a:p>
                  </a:txBody>
                  <a:tcPr marL="9525" marR="9525" marT="9525" marB="0" anchor="ctr"/>
                </a:tc>
                <a:tc>
                  <a:txBody>
                    <a:bodyPr/>
                    <a:lstStyle/>
                    <a:p>
                      <a:pPr algn="l" fontAlgn="ctr"/>
                      <a:r>
                        <a:rPr lang="en-US" sz="1050" b="0" i="0" u="none" strike="noStrike" dirty="0" smtClean="0">
                          <a:solidFill>
                            <a:srgbClr val="000000"/>
                          </a:solidFill>
                          <a:effectLst/>
                          <a:latin typeface="Georgia" panose="02040502050405020303" pitchFamily="18" charset="0"/>
                        </a:rPr>
                        <a:t>The test cases for partners to examine</a:t>
                      </a:r>
                      <a:r>
                        <a:rPr lang="en-US" sz="1050" b="0" i="0" u="none" strike="noStrike" baseline="0" dirty="0" smtClean="0">
                          <a:solidFill>
                            <a:srgbClr val="000000"/>
                          </a:solidFill>
                          <a:effectLst/>
                          <a:latin typeface="Georgia" panose="02040502050405020303" pitchFamily="18" charset="0"/>
                        </a:rPr>
                        <a:t> the system development status for QR Code transaction under different scenarios.</a:t>
                      </a:r>
                      <a:endParaRPr lang="en-US" sz="1050" b="0" i="0" u="none" strike="noStrike" dirty="0" smtClean="0">
                        <a:solidFill>
                          <a:srgbClr val="000000"/>
                        </a:solidFill>
                        <a:effectLst/>
                        <a:latin typeface="Georgia" panose="02040502050405020303" pitchFamily="18" charset="0"/>
                      </a:endParaRPr>
                    </a:p>
                  </a:txBody>
                  <a:tcPr marL="9525" marR="9525" marT="9525" marB="0" anchor="ctr"/>
                </a:tc>
              </a:tr>
            </a:tbl>
          </a:graphicData>
        </a:graphic>
      </p:graphicFrame>
    </p:spTree>
    <p:extLst>
      <p:ext uri="{BB962C8B-B14F-4D97-AF65-F5344CB8AC3E}">
        <p14:creationId xmlns:p14="http://schemas.microsoft.com/office/powerpoint/2010/main" val="42323832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8265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a:latin typeface="Georgia" pitchFamily="18" charset="0"/>
                <a:ea typeface="黑体" pitchFamily="49" charset="-122"/>
              </a:rPr>
              <a:t>Impact to </a:t>
            </a:r>
            <a:r>
              <a:rPr lang="en-US" altLang="zh-CN" sz="2000" b="1" dirty="0" smtClean="0">
                <a:latin typeface="Georgia" pitchFamily="18" charset="0"/>
                <a:ea typeface="黑体" pitchFamily="49" charset="-122"/>
              </a:rPr>
              <a:t>Issuer System – Online Message</a:t>
            </a:r>
            <a:endParaRPr lang="zh-CN" altLang="en-US" sz="2000" b="1" dirty="0">
              <a:latin typeface="Georgia"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977808854"/>
              </p:ext>
            </p:extLst>
          </p:nvPr>
        </p:nvGraphicFramePr>
        <p:xfrm>
          <a:off x="395536" y="584837"/>
          <a:ext cx="8352930" cy="4435185"/>
        </p:xfrm>
        <a:graphic>
          <a:graphicData uri="http://schemas.openxmlformats.org/drawingml/2006/table">
            <a:tbl>
              <a:tblPr/>
              <a:tblGrid>
                <a:gridCol w="1939623"/>
                <a:gridCol w="1553421"/>
                <a:gridCol w="1063100"/>
                <a:gridCol w="877649"/>
                <a:gridCol w="886949"/>
                <a:gridCol w="1120960"/>
                <a:gridCol w="911228"/>
              </a:tblGrid>
              <a:tr h="392284">
                <a:tc rowSpan="2">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Transaction Type</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gridSpan="6">
                  <a:txBody>
                    <a:bodyPr/>
                    <a:lstStyle/>
                    <a:p>
                      <a:pPr marL="0" algn="ctr" defTabSz="914400" rtl="0" eaLnBrk="1" fontAlgn="ctr" latinLnBrk="0" hangingPunct="1"/>
                      <a:r>
                        <a:rPr lang="en-US" sz="1200" b="1" i="0" u="none" strike="noStrike" kern="1200" dirty="0">
                          <a:solidFill>
                            <a:schemeClr val="bg1"/>
                          </a:solidFill>
                          <a:effectLst/>
                          <a:latin typeface="Georgia" panose="02040502050405020303" pitchFamily="18" charset="0"/>
                          <a:ea typeface="+mn-ea"/>
                          <a:cs typeface="+mn-cs"/>
                        </a:rPr>
                        <a:t>Online Message (ISO 8583) </a:t>
                      </a:r>
                      <a:r>
                        <a:rPr lang="en-US" sz="1200" b="1" i="0" u="none" strike="noStrike" kern="1200" dirty="0" smtClean="0">
                          <a:solidFill>
                            <a:schemeClr val="bg1"/>
                          </a:solidFill>
                          <a:effectLst/>
                          <a:latin typeface="Georgia" panose="02040502050405020303" pitchFamily="18" charset="0"/>
                          <a:ea typeface="+mn-ea"/>
                          <a:cs typeface="+mn-cs"/>
                        </a:rPr>
                        <a:t>UPI to Issuer</a:t>
                      </a:r>
                      <a:endParaRPr lang="en-US" sz="12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en-US"/>
                    </a:p>
                  </a:txBody>
                  <a:tcPr/>
                </a:tc>
                <a:tc hMerge="1">
                  <a:txBody>
                    <a:bodyPr/>
                    <a:lstStyle/>
                    <a:p>
                      <a:endParaRPr lang="en-US"/>
                    </a:p>
                  </a:txBody>
                  <a:tcPr/>
                </a:tc>
                <a:tc hMerge="1">
                  <a:txBody>
                    <a:bodyPr/>
                    <a:lstStyle/>
                    <a:p>
                      <a:endParaRPr lang="zh-CN" altLang="en-US"/>
                    </a:p>
                  </a:txBody>
                  <a:tcPr/>
                </a:tc>
              </a:tr>
              <a:tr h="172069">
                <a:tc vMerge="1">
                  <a:txBody>
                    <a:bodyPr/>
                    <a:lstStyle/>
                    <a:p>
                      <a:endParaRPr lang="zh-CN" altLang="en-US"/>
                    </a:p>
                  </a:txBody>
                  <a:tcPr/>
                </a:tc>
                <a:tc>
                  <a:txBody>
                    <a:bodyPr/>
                    <a:lstStyle/>
                    <a:p>
                      <a:pPr marL="0" algn="ctr" defTabSz="914400" rtl="0" eaLnBrk="1" fontAlgn="ctr" latinLnBrk="0" hangingPunct="1"/>
                      <a:r>
                        <a:rPr lang="en-US" sz="900" b="1" i="0" u="none" strike="noStrike" kern="1200" dirty="0">
                          <a:solidFill>
                            <a:schemeClr val="bg1"/>
                          </a:solidFill>
                          <a:effectLst/>
                          <a:latin typeface="Georgia" panose="02040502050405020303" pitchFamily="18" charset="0"/>
                          <a:ea typeface="+mn-ea"/>
                          <a:cs typeface="+mn-cs"/>
                        </a:rPr>
                        <a:t>F22</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F125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60.2.5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60.3.6</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F23  F35  F55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Others</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r>
              <a:tr h="1545394">
                <a:tc>
                  <a:txBody>
                    <a:bodyPr/>
                    <a:lstStyle/>
                    <a:p>
                      <a:pPr marL="0" indent="0" algn="ctr" fontAlgn="ctr">
                        <a:buFont typeface="Arial" panose="020B0604020202020204" pitchFamily="34" charset="0"/>
                        <a:buNone/>
                      </a:pPr>
                      <a:r>
                        <a:rPr lang="en-US" sz="1050" b="0" i="0" u="none" strike="noStrike" kern="1200" dirty="0" smtClean="0">
                          <a:solidFill>
                            <a:sysClr val="windowText" lastClr="000000"/>
                          </a:solidFill>
                          <a:effectLst/>
                          <a:latin typeface="Georgia" panose="02040502050405020303" pitchFamily="18" charset="0"/>
                          <a:ea typeface="+mn-ea"/>
                          <a:cs typeface="+mn-cs"/>
                        </a:rPr>
                        <a:t>Purchase/Authorization</a:t>
                      </a:r>
                      <a:endParaRPr lang="en-US" sz="1050" b="0" i="0" u="none" strike="noStrike" kern="1200" dirty="0">
                        <a:solidFill>
                          <a:sysClr val="windowText" lastClr="000000"/>
                        </a:solidFill>
                        <a:effectLst/>
                        <a:latin typeface="Georgia" panose="02040502050405020303" pitchFamily="18" charset="0"/>
                        <a:ea typeface="+mn-ea"/>
                        <a:cs typeface="+mn-cs"/>
                      </a:endParaRP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900" b="0" i="0" u="none" strike="noStrike" dirty="0" smtClean="0">
                          <a:solidFill>
                            <a:schemeClr val="tx1"/>
                          </a:solidFill>
                          <a:effectLst/>
                          <a:latin typeface="Georgia" panose="02040502050405020303" pitchFamily="18" charset="0"/>
                        </a:rPr>
                        <a:t>04: Consumer presented QR code without chip data;</a:t>
                      </a:r>
                    </a:p>
                    <a:p>
                      <a:pPr algn="l" fontAlgn="ctr"/>
                      <a:endParaRPr lang="en-US" sz="900" b="0" i="0" u="none" strike="noStrike" dirty="0" smtClean="0">
                        <a:solidFill>
                          <a:schemeClr val="tx1"/>
                        </a:solidFill>
                        <a:effectLst/>
                        <a:latin typeface="Georgia" panose="02040502050405020303" pitchFamily="18" charset="0"/>
                      </a:endParaRPr>
                    </a:p>
                    <a:p>
                      <a:pPr algn="l" fontAlgn="ctr"/>
                      <a:r>
                        <a:rPr lang="en-US" sz="900" b="0" i="0" u="none" strike="noStrike" dirty="0" smtClean="0">
                          <a:solidFill>
                            <a:schemeClr val="tx1"/>
                          </a:solidFill>
                          <a:effectLst/>
                          <a:latin typeface="Georgia" panose="02040502050405020303" pitchFamily="18" charset="0"/>
                        </a:rPr>
                        <a:t>94: Merchant presented QR code(transaction</a:t>
                      </a:r>
                      <a:r>
                        <a:rPr lang="en-US" sz="900" b="0" i="0" u="none" strike="noStrike" baseline="0" dirty="0" smtClean="0">
                          <a:solidFill>
                            <a:schemeClr val="tx1"/>
                          </a:solidFill>
                          <a:effectLst/>
                          <a:latin typeface="Georgia" panose="02040502050405020303" pitchFamily="18" charset="0"/>
                        </a:rPr>
                        <a:t> </a:t>
                      </a:r>
                      <a:r>
                        <a:rPr lang="en-US" sz="900" b="0" i="0" u="none" strike="noStrike" dirty="0" smtClean="0">
                          <a:solidFill>
                            <a:schemeClr val="tx1"/>
                          </a:solidFill>
                          <a:effectLst/>
                          <a:latin typeface="Georgia" panose="02040502050405020303" pitchFamily="18" charset="0"/>
                        </a:rPr>
                        <a:t>without chip data);</a:t>
                      </a:r>
                      <a:endParaRPr lang="en-US"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1" i="0" u="none" strike="noStrike" dirty="0" smtClean="0">
                          <a:solidFill>
                            <a:srgbClr val="000000"/>
                          </a:solidFill>
                          <a:effectLst/>
                          <a:latin typeface="Georgia" panose="02040502050405020303" pitchFamily="18" charset="0"/>
                        </a:rPr>
                        <a:t>Conditional</a:t>
                      </a:r>
                    </a:p>
                    <a:p>
                      <a:pPr algn="ctr" fontAlgn="ctr"/>
                      <a:r>
                        <a:rPr lang="en-US" sz="900" b="0" i="0" u="none" strike="noStrike" dirty="0" smtClean="0">
                          <a:solidFill>
                            <a:srgbClr val="000000"/>
                          </a:solidFill>
                          <a:effectLst/>
                          <a:latin typeface="Georgia" panose="02040502050405020303" pitchFamily="18" charset="0"/>
                        </a:rPr>
                        <a:t>*F125 is used to transfer  additional info of QRC transaction (use case ID, App provider IIN, etc.)</a:t>
                      </a:r>
                    </a:p>
                    <a:p>
                      <a:pPr algn="ctr" fontAlgn="ctr"/>
                      <a:r>
                        <a:rPr lang="en-US" sz="900" b="0" i="0" u="none" strike="noStrike" dirty="0" smtClean="0">
                          <a:solidFill>
                            <a:srgbClr val="000000"/>
                          </a:solidFill>
                          <a:effectLst/>
                          <a:latin typeface="Georgia" panose="02040502050405020303" pitchFamily="18" charset="0"/>
                        </a:rPr>
                        <a:t> </a:t>
                      </a:r>
                      <a:endParaRPr lang="en-US" sz="900" b="0" i="0" u="none" strike="noStrike" dirty="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zh-CN" sz="900" b="0" i="0" u="none" strike="noStrike" dirty="0" smtClean="0">
                          <a:solidFill>
                            <a:srgbClr val="000000"/>
                          </a:solidFill>
                          <a:effectLst/>
                          <a:latin typeface="Georgia" panose="02040502050405020303" pitchFamily="18" charset="0"/>
                        </a:rPr>
                        <a:t>03(</a:t>
                      </a:r>
                      <a:r>
                        <a:rPr lang="en-US" altLang="zh-CN" sz="900" b="0" i="0" u="none" strike="noStrike" dirty="0" smtClean="0">
                          <a:solidFill>
                            <a:schemeClr val="tx1"/>
                          </a:solidFill>
                          <a:effectLst/>
                          <a:latin typeface="Georgia" panose="02040502050405020303" pitchFamily="18" charset="0"/>
                        </a:rPr>
                        <a:t>Consumer presented </a:t>
                      </a:r>
                      <a:r>
                        <a:rPr lang="en-US" altLang="zh-CN" sz="900" b="0" i="0" u="none" strike="noStrike" dirty="0" smtClean="0">
                          <a:solidFill>
                            <a:srgbClr val="000000"/>
                          </a:solidFill>
                          <a:effectLst/>
                          <a:latin typeface="Georgia" panose="02040502050405020303" pitchFamily="18" charset="0"/>
                        </a:rPr>
                        <a:t>)</a:t>
                      </a:r>
                    </a:p>
                    <a:p>
                      <a:pPr algn="l" fontAlgn="ctr"/>
                      <a:endParaRPr lang="en-US" altLang="zh-CN" sz="900" b="0" i="0" u="none" strike="noStrike" dirty="0" smtClean="0">
                        <a:solidFill>
                          <a:srgbClr val="000000"/>
                        </a:solidFill>
                        <a:effectLst/>
                        <a:latin typeface="Georgia" panose="02040502050405020303" pitchFamily="18" charset="0"/>
                      </a:endParaRPr>
                    </a:p>
                    <a:p>
                      <a:pPr algn="l" fontAlgn="ctr"/>
                      <a:r>
                        <a:rPr lang="en-US" altLang="zh-CN" sz="900" b="0" i="0" u="none" strike="noStrike" dirty="0" smtClean="0">
                          <a:solidFill>
                            <a:srgbClr val="000000"/>
                          </a:solidFill>
                          <a:effectLst/>
                          <a:latin typeface="Georgia" panose="02040502050405020303" pitchFamily="18" charset="0"/>
                        </a:rPr>
                        <a:t>07(</a:t>
                      </a:r>
                      <a:r>
                        <a:rPr lang="en-US" altLang="zh-CN" sz="900" b="0" i="0" u="none" strike="noStrike" dirty="0" smtClean="0">
                          <a:solidFill>
                            <a:schemeClr val="tx1"/>
                          </a:solidFill>
                          <a:effectLst/>
                          <a:latin typeface="Georgia" panose="02040502050405020303" pitchFamily="18" charset="0"/>
                        </a:rPr>
                        <a:t>Merchant presented </a:t>
                      </a:r>
                      <a:r>
                        <a:rPr lang="en-US" altLang="zh-CN" sz="900" b="0" i="0" u="none" strike="noStrike" dirty="0" smtClean="0">
                          <a:solidFill>
                            <a:srgbClr val="000000"/>
                          </a:solidFill>
                          <a:effectLst/>
                          <a:latin typeface="Georgia" panose="02040502050405020303" pitchFamily="18" charset="0"/>
                        </a:rPr>
                        <a:t>)</a:t>
                      </a:r>
                    </a:p>
                    <a:p>
                      <a:pPr algn="l" fontAlgn="ctr"/>
                      <a:endParaRPr lang="en-US" altLang="zh-CN" sz="900" b="0" i="0" u="none" strike="noStrike" dirty="0" smtClean="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dirty="0" smtClean="0">
                          <a:solidFill>
                            <a:srgbClr val="000000"/>
                          </a:solidFill>
                          <a:effectLst/>
                          <a:latin typeface="Georgia" panose="02040502050405020303" pitchFamily="18" charset="0"/>
                        </a:rPr>
                        <a:t>Field 60.3.6 will be filled with </a:t>
                      </a:r>
                      <a:r>
                        <a:rPr lang="en-US" sz="900" b="1" i="0" u="none" strike="noStrike" dirty="0" smtClean="0">
                          <a:solidFill>
                            <a:srgbClr val="FF0000"/>
                          </a:solidFill>
                          <a:effectLst/>
                          <a:latin typeface="Georgia" panose="02040502050405020303" pitchFamily="18" charset="0"/>
                        </a:rPr>
                        <a:t>5</a:t>
                      </a:r>
                      <a:r>
                        <a:rPr lang="en-US" sz="900" b="0" i="0" u="none" strike="noStrike" dirty="0" smtClean="0">
                          <a:solidFill>
                            <a:srgbClr val="000000"/>
                          </a:solidFill>
                          <a:effectLst/>
                          <a:latin typeface="Georgia" panose="02040502050405020303" pitchFamily="18" charset="0"/>
                        </a:rPr>
                        <a:t> to indicate a QRC transaction</a:t>
                      </a:r>
                    </a:p>
                    <a:p>
                      <a:pPr algn="ctr" fontAlgn="ctr"/>
                      <a:endParaRPr lang="en-US" sz="900" b="0" i="0" u="none" strike="noStrike" dirty="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smtClean="0">
                          <a:solidFill>
                            <a:srgbClr val="000000"/>
                          </a:solidFill>
                          <a:effectLst/>
                          <a:latin typeface="Georgia" panose="02040502050405020303" pitchFamily="18" charset="0"/>
                        </a:rPr>
                        <a:t>Issuer generated</a:t>
                      </a:r>
                      <a:r>
                        <a:rPr lang="en-US" altLang="zh-CN" sz="900" b="0" i="0" u="none" strike="noStrike" baseline="0" dirty="0" smtClean="0">
                          <a:solidFill>
                            <a:srgbClr val="000000"/>
                          </a:solidFill>
                          <a:effectLst/>
                          <a:latin typeface="Georgia" panose="02040502050405020303" pitchFamily="18" charset="0"/>
                        </a:rPr>
                        <a:t> EMV QRC transaction:</a:t>
                      </a:r>
                    </a:p>
                    <a:p>
                      <a:pPr algn="ctr" fontAlgn="ctr"/>
                      <a:r>
                        <a:rPr lang="en-US" altLang="zh-CN" sz="900" b="1" i="0" u="none" strike="noStrike" baseline="0" dirty="0" smtClean="0">
                          <a:solidFill>
                            <a:srgbClr val="000000"/>
                          </a:solidFill>
                          <a:effectLst/>
                          <a:latin typeface="Georgia" panose="02040502050405020303" pitchFamily="18" charset="0"/>
                        </a:rPr>
                        <a:t>Will be present</a:t>
                      </a:r>
                      <a:endParaRPr lang="en-US" altLang="zh-CN" sz="900" b="1" i="0" u="none" strike="noStrike" dirty="0" smtClean="0">
                        <a:solidFill>
                          <a:srgbClr val="000000"/>
                        </a:solidFill>
                        <a:effectLst/>
                        <a:latin typeface="Georgia" panose="02040502050405020303" pitchFamily="18" charset="0"/>
                      </a:endParaRPr>
                    </a:p>
                    <a:p>
                      <a:pPr algn="ctr" fontAlgn="ctr"/>
                      <a:endParaRPr lang="en-US" altLang="zh-CN" sz="900" b="0" i="0" u="none" strike="noStrike" dirty="0" smtClean="0">
                        <a:solidFill>
                          <a:srgbClr val="000000"/>
                        </a:solidFill>
                        <a:effectLst/>
                        <a:latin typeface="Georgia" panose="02040502050405020303" pitchFamily="18" charset="0"/>
                      </a:endParaRPr>
                    </a:p>
                    <a:p>
                      <a:pPr algn="ctr" fontAlgn="ctr"/>
                      <a:r>
                        <a:rPr lang="en-US" altLang="zh-CN" sz="900" b="0" i="0" u="none" strike="noStrike" dirty="0" smtClean="0">
                          <a:solidFill>
                            <a:srgbClr val="000000"/>
                          </a:solidFill>
                          <a:effectLst/>
                          <a:latin typeface="Georgia" panose="02040502050405020303" pitchFamily="18" charset="0"/>
                        </a:rPr>
                        <a:t>Other Scenarios : Will</a:t>
                      </a:r>
                      <a:r>
                        <a:rPr lang="en-US" altLang="zh-CN" sz="900" b="0" i="0" u="none" strike="noStrike" baseline="0" dirty="0" smtClean="0">
                          <a:solidFill>
                            <a:srgbClr val="000000"/>
                          </a:solidFill>
                          <a:effectLst/>
                          <a:latin typeface="Georgia" panose="02040502050405020303" pitchFamily="18" charset="0"/>
                        </a:rPr>
                        <a:t> </a:t>
                      </a:r>
                      <a:r>
                        <a:rPr lang="en-US" altLang="zh-CN" sz="900" b="1" i="0" u="none" strike="noStrike" baseline="0" dirty="0" smtClean="0">
                          <a:solidFill>
                            <a:srgbClr val="FF0000"/>
                          </a:solidFill>
                          <a:effectLst/>
                          <a:latin typeface="Georgia" panose="02040502050405020303" pitchFamily="18" charset="0"/>
                        </a:rPr>
                        <a:t>not</a:t>
                      </a:r>
                      <a:r>
                        <a:rPr lang="en-US" altLang="zh-CN" sz="900" b="0" i="0" u="none" strike="noStrike" baseline="0" dirty="0" smtClean="0">
                          <a:solidFill>
                            <a:srgbClr val="FF0000"/>
                          </a:solidFill>
                          <a:effectLst/>
                          <a:latin typeface="Georgia" panose="02040502050405020303" pitchFamily="18" charset="0"/>
                        </a:rPr>
                        <a:t> </a:t>
                      </a:r>
                      <a:r>
                        <a:rPr lang="en-US" altLang="zh-CN" sz="900" b="0" i="0" u="none" strike="noStrike" baseline="0" dirty="0" smtClean="0">
                          <a:solidFill>
                            <a:srgbClr val="000000"/>
                          </a:solidFill>
                          <a:effectLst/>
                          <a:latin typeface="Georgia" panose="02040502050405020303" pitchFamily="18" charset="0"/>
                        </a:rPr>
                        <a:t>be present</a:t>
                      </a:r>
                    </a:p>
                    <a:p>
                      <a:pPr marL="0" marR="0" indent="0" algn="ctr" defTabSz="914400" rtl="0" eaLnBrk="1" fontAlgn="ctr" latinLnBrk="0" hangingPunct="1">
                        <a:lnSpc>
                          <a:spcPct val="100000"/>
                        </a:lnSpc>
                        <a:spcBef>
                          <a:spcPts val="0"/>
                        </a:spcBef>
                        <a:spcAft>
                          <a:spcPts val="0"/>
                        </a:spcAft>
                        <a:buClrTx/>
                        <a:buSzTx/>
                        <a:buFontTx/>
                        <a:buNone/>
                        <a:tabLst/>
                        <a:defRPr/>
                      </a:pPr>
                      <a:endParaRPr lang="en-US" altLang="zh-CN" sz="900" b="0" i="1" u="none" strike="noStrike" baseline="0" dirty="0" smtClean="0">
                        <a:solidFill>
                          <a:srgbClr val="000000"/>
                        </a:solidFill>
                        <a:effectLst/>
                        <a:latin typeface="Georgia" panose="02040502050405020303" pitchFamily="18" charset="0"/>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b="0" i="1" u="none" strike="noStrike" baseline="0" dirty="0" smtClean="0">
                          <a:solidFill>
                            <a:srgbClr val="000000"/>
                          </a:solidFill>
                          <a:effectLst/>
                          <a:latin typeface="Georgia" panose="02040502050405020303" pitchFamily="18" charset="0"/>
                        </a:rPr>
                        <a:t>Other scenarios includes: Issuer generated barcode transaction, Merchant presented mode transaction.</a:t>
                      </a:r>
                      <a:endParaRPr lang="en-US" sz="900" b="0" i="0" u="none" strike="noStrike" baseline="0" dirty="0" smtClean="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ctr" fontAlgn="ctr"/>
                      <a:r>
                        <a:rPr lang="en-US" sz="900" b="0" i="0" u="none" strike="noStrike" dirty="0">
                          <a:solidFill>
                            <a:srgbClr val="000000"/>
                          </a:solidFill>
                          <a:effectLst/>
                          <a:latin typeface="Georgia" panose="02040502050405020303" pitchFamily="18" charset="0"/>
                        </a:rPr>
                        <a:t>Same as </a:t>
                      </a:r>
                      <a:r>
                        <a:rPr lang="en-US" sz="900" b="0" i="0" u="none" strike="noStrike" dirty="0" smtClean="0">
                          <a:solidFill>
                            <a:srgbClr val="000000"/>
                          </a:solidFill>
                          <a:effectLst/>
                          <a:latin typeface="Georgia" panose="02040502050405020303" pitchFamily="18" charset="0"/>
                        </a:rPr>
                        <a:t>POS Transaction</a:t>
                      </a:r>
                      <a:endParaRPr lang="en-US" sz="900" b="0" i="0" u="none" strike="noStrike" dirty="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6651">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Reversal</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900" b="0" i="0" u="none" strike="noStrike" dirty="0" smtClean="0">
                          <a:solidFill>
                            <a:schemeClr val="tx1"/>
                          </a:solidFill>
                          <a:effectLst/>
                          <a:latin typeface="Georgia" panose="02040502050405020303" pitchFamily="18" charset="0"/>
                        </a:rPr>
                        <a:t>Same as original</a:t>
                      </a:r>
                      <a:r>
                        <a:rPr lang="en-US" sz="900" b="0" i="0" u="none" strike="noStrike" baseline="0" dirty="0" smtClean="0">
                          <a:solidFill>
                            <a:schemeClr val="tx1"/>
                          </a:solidFill>
                          <a:effectLst/>
                          <a:latin typeface="Georgia" panose="02040502050405020303" pitchFamily="18" charset="0"/>
                        </a:rPr>
                        <a:t> transaction</a:t>
                      </a:r>
                      <a:endParaRPr lang="en-US"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dirty="0" smtClean="0">
                          <a:solidFill>
                            <a:srgbClr val="000000"/>
                          </a:solidFill>
                          <a:effectLst/>
                          <a:latin typeface="Georgia" panose="02040502050405020303" pitchFamily="18" charset="0"/>
                          <a:ea typeface="+mn-ea"/>
                          <a:cs typeface="+mn-cs"/>
                        </a:rPr>
                        <a:t>As above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dirty="0" smtClean="0">
                          <a:solidFill>
                            <a:srgbClr val="000000"/>
                          </a:solidFill>
                          <a:effectLst/>
                          <a:latin typeface="Georgia" panose="02040502050405020303" pitchFamily="18" charset="0"/>
                          <a:ea typeface="+mn-ea"/>
                          <a:cs typeface="+mn-cs"/>
                        </a:rPr>
                        <a:t>As above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dirty="0" smtClean="0">
                          <a:solidFill>
                            <a:srgbClr val="000000"/>
                          </a:solidFill>
                          <a:effectLst/>
                          <a:latin typeface="Georgia" panose="02040502050405020303" pitchFamily="18" charset="0"/>
                          <a:ea typeface="+mn-ea"/>
                          <a:cs typeface="+mn-cs"/>
                        </a:rPr>
                        <a:t>As above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b="0" i="0" u="none" strike="noStrike" dirty="0" smtClean="0">
                          <a:solidFill>
                            <a:srgbClr val="000000"/>
                          </a:solidFill>
                          <a:effectLst/>
                          <a:latin typeface="Georgia" panose="02040502050405020303" pitchFamily="18" charset="0"/>
                        </a:rPr>
                        <a:t>Will</a:t>
                      </a:r>
                      <a:r>
                        <a:rPr lang="en-US" altLang="zh-CN" sz="1050" b="0" i="0" u="none" strike="noStrike" baseline="0" dirty="0" smtClean="0">
                          <a:solidFill>
                            <a:srgbClr val="000000"/>
                          </a:solidFill>
                          <a:effectLst/>
                          <a:latin typeface="Georgia" panose="02040502050405020303" pitchFamily="18" charset="0"/>
                        </a:rPr>
                        <a:t> </a:t>
                      </a:r>
                      <a:r>
                        <a:rPr lang="en-US" altLang="zh-CN" sz="1050" b="1" i="0" u="none" strike="noStrike" baseline="0" dirty="0" smtClean="0">
                          <a:solidFill>
                            <a:srgbClr val="FF0000"/>
                          </a:solidFill>
                          <a:effectLst/>
                          <a:latin typeface="Georgia" panose="02040502050405020303" pitchFamily="18" charset="0"/>
                        </a:rPr>
                        <a:t>not</a:t>
                      </a:r>
                      <a:r>
                        <a:rPr lang="en-US" altLang="zh-CN" sz="1050" b="0" i="0" u="none" strike="noStrike" baseline="0" dirty="0" smtClean="0">
                          <a:solidFill>
                            <a:srgbClr val="FF0000"/>
                          </a:solidFill>
                          <a:effectLst/>
                          <a:latin typeface="Georgia" panose="02040502050405020303" pitchFamily="18" charset="0"/>
                        </a:rPr>
                        <a:t> </a:t>
                      </a:r>
                      <a:r>
                        <a:rPr lang="en-US" altLang="zh-CN" sz="1050" b="0" i="0" u="none" strike="noStrike" baseline="0" dirty="0" smtClean="0">
                          <a:solidFill>
                            <a:srgbClr val="000000"/>
                          </a:solidFill>
                          <a:effectLst/>
                          <a:latin typeface="Georgia" panose="02040502050405020303" pitchFamily="18" charset="0"/>
                        </a:rPr>
                        <a:t>be present</a:t>
                      </a:r>
                    </a:p>
                    <a:p>
                      <a:endParaRPr lang="en-US" sz="1600" dirty="0">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r>
              <a:tr h="576064">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Cancellation</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zh-CN" sz="900" b="0" i="0" u="none" strike="noStrike" dirty="0" smtClean="0">
                          <a:solidFill>
                            <a:schemeClr val="tx1"/>
                          </a:solidFill>
                          <a:effectLst/>
                          <a:latin typeface="Georgia" panose="02040502050405020303" pitchFamily="18" charset="0"/>
                        </a:rPr>
                        <a:t>04: Consumer presented QR code without chip data;</a:t>
                      </a:r>
                    </a:p>
                    <a:p>
                      <a:pPr algn="l" fontAlgn="ctr"/>
                      <a:endParaRPr lang="en-US" altLang="zh-CN" sz="900" b="0" i="0" u="none" strike="noStrike" dirty="0" smtClean="0">
                        <a:solidFill>
                          <a:schemeClr val="tx1"/>
                        </a:solidFill>
                        <a:effectLst/>
                        <a:latin typeface="Georgia" panose="02040502050405020303" pitchFamily="18" charset="0"/>
                      </a:endParaRPr>
                    </a:p>
                    <a:p>
                      <a:pPr algn="l" fontAlgn="ctr"/>
                      <a:r>
                        <a:rPr lang="en-US" altLang="zh-CN" sz="900" b="0" i="0" u="none" strike="noStrike" dirty="0" smtClean="0">
                          <a:solidFill>
                            <a:schemeClr val="tx1"/>
                          </a:solidFill>
                          <a:effectLst/>
                          <a:latin typeface="Georgia" panose="02040502050405020303" pitchFamily="18" charset="0"/>
                        </a:rPr>
                        <a:t>94: Merchant presented QR code(transaction</a:t>
                      </a:r>
                      <a:r>
                        <a:rPr lang="en-US" altLang="zh-CN" sz="900" b="0" i="0" u="none" strike="noStrike" baseline="0" dirty="0" smtClean="0">
                          <a:solidFill>
                            <a:schemeClr val="tx1"/>
                          </a:solidFill>
                          <a:effectLst/>
                          <a:latin typeface="Georgia" panose="02040502050405020303" pitchFamily="18" charset="0"/>
                        </a:rPr>
                        <a:t> </a:t>
                      </a:r>
                      <a:r>
                        <a:rPr lang="en-US" altLang="zh-CN" sz="900" b="0" i="0" u="none" strike="noStrike" dirty="0" smtClean="0">
                          <a:solidFill>
                            <a:schemeClr val="tx1"/>
                          </a:solidFill>
                          <a:effectLst/>
                          <a:latin typeface="Georgia" panose="02040502050405020303" pitchFamily="18" charset="0"/>
                        </a:rPr>
                        <a:t>without chip data);</a:t>
                      </a:r>
                      <a:endParaRPr lang="en-US" altLang="zh-CN"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dirty="0" smtClean="0">
                          <a:solidFill>
                            <a:srgbClr val="000000"/>
                          </a:solidFill>
                          <a:effectLst/>
                          <a:latin typeface="Georgia" panose="02040502050405020303" pitchFamily="18" charset="0"/>
                          <a:ea typeface="+mn-ea"/>
                          <a:cs typeface="+mn-cs"/>
                        </a:rPr>
                        <a:t>As above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smtClean="0">
                          <a:solidFill>
                            <a:srgbClr val="000000"/>
                          </a:solidFill>
                          <a:effectLst/>
                          <a:latin typeface="Georgia" panose="02040502050405020303" pitchFamily="18" charset="0"/>
                          <a:ea typeface="+mn-ea"/>
                          <a:cs typeface="+mn-cs"/>
                        </a:rPr>
                        <a:t>As above</a:t>
                      </a:r>
                      <a:endParaRPr lang="en-US" altLang="zh-CN" sz="900" b="0" i="0" u="none" strike="noStrike" kern="1200" dirty="0" smtClean="0">
                        <a:solidFill>
                          <a:srgbClr val="000000"/>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smtClean="0">
                          <a:solidFill>
                            <a:srgbClr val="000000"/>
                          </a:solidFill>
                          <a:effectLst/>
                          <a:latin typeface="Georgia" panose="02040502050405020303" pitchFamily="18" charset="0"/>
                          <a:ea typeface="+mn-ea"/>
                          <a:cs typeface="+mn-cs"/>
                        </a:rPr>
                        <a:t>As above</a:t>
                      </a:r>
                      <a:endParaRPr lang="en-US" altLang="zh-CN" sz="900" b="0" i="0" u="none" strike="noStrike" kern="1200" dirty="0" smtClean="0">
                        <a:solidFill>
                          <a:srgbClr val="000000"/>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zh-CN" altLang="en-US"/>
                    </a:p>
                  </a:txBody>
                  <a:tcPr/>
                </a:tc>
              </a:tr>
              <a:tr h="504056">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Refund</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zh-CN" sz="900" b="0" i="0" u="none" strike="noStrike" dirty="0" smtClean="0">
                          <a:solidFill>
                            <a:schemeClr val="tx1"/>
                          </a:solidFill>
                          <a:effectLst/>
                          <a:latin typeface="Georgia" panose="02040502050405020303" pitchFamily="18" charset="0"/>
                        </a:rPr>
                        <a:t>04: Consumer presented QR code without chip data;</a:t>
                      </a:r>
                    </a:p>
                    <a:p>
                      <a:pPr algn="l" fontAlgn="ctr"/>
                      <a:endParaRPr lang="en-US" altLang="zh-CN" sz="900" b="0" i="0" u="none" strike="noStrike" dirty="0" smtClean="0">
                        <a:solidFill>
                          <a:schemeClr val="tx1"/>
                        </a:solidFill>
                        <a:effectLst/>
                        <a:latin typeface="Georgia" panose="02040502050405020303" pitchFamily="18" charset="0"/>
                      </a:endParaRPr>
                    </a:p>
                    <a:p>
                      <a:pPr algn="l" fontAlgn="ctr"/>
                      <a:r>
                        <a:rPr lang="en-US" altLang="zh-CN" sz="900" b="0" i="0" u="none" strike="noStrike" dirty="0" smtClean="0">
                          <a:solidFill>
                            <a:schemeClr val="tx1"/>
                          </a:solidFill>
                          <a:effectLst/>
                          <a:latin typeface="Georgia" panose="02040502050405020303" pitchFamily="18" charset="0"/>
                        </a:rPr>
                        <a:t>94: Merchant presented QR code(transaction</a:t>
                      </a:r>
                      <a:r>
                        <a:rPr lang="en-US" altLang="zh-CN" sz="900" b="0" i="0" u="none" strike="noStrike" baseline="0" dirty="0" smtClean="0">
                          <a:solidFill>
                            <a:schemeClr val="tx1"/>
                          </a:solidFill>
                          <a:effectLst/>
                          <a:latin typeface="Georgia" panose="02040502050405020303" pitchFamily="18" charset="0"/>
                        </a:rPr>
                        <a:t> </a:t>
                      </a:r>
                      <a:r>
                        <a:rPr lang="en-US" altLang="zh-CN" sz="900" b="0" i="0" u="none" strike="noStrike" dirty="0" smtClean="0">
                          <a:solidFill>
                            <a:schemeClr val="tx1"/>
                          </a:solidFill>
                          <a:effectLst/>
                          <a:latin typeface="Georgia" panose="02040502050405020303" pitchFamily="18" charset="0"/>
                        </a:rPr>
                        <a:t>without chip data);</a:t>
                      </a:r>
                      <a:endParaRPr lang="en-US" altLang="zh-CN"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smtClean="0">
                          <a:solidFill>
                            <a:srgbClr val="000000"/>
                          </a:solidFill>
                          <a:effectLst/>
                          <a:latin typeface="Georgia" panose="02040502050405020303" pitchFamily="18" charset="0"/>
                          <a:ea typeface="+mn-ea"/>
                          <a:cs typeface="+mn-cs"/>
                        </a:rPr>
                        <a:t>As above</a:t>
                      </a:r>
                      <a:endParaRPr lang="en-US" altLang="zh-CN" sz="900" b="0" i="0" u="none" strike="noStrike" kern="1200" dirty="0" smtClean="0">
                        <a:solidFill>
                          <a:srgbClr val="000000"/>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smtClean="0">
                          <a:solidFill>
                            <a:srgbClr val="000000"/>
                          </a:solidFill>
                          <a:effectLst/>
                          <a:latin typeface="Georgia" panose="02040502050405020303" pitchFamily="18" charset="0"/>
                          <a:ea typeface="+mn-ea"/>
                          <a:cs typeface="+mn-cs"/>
                        </a:rPr>
                        <a:t>As above</a:t>
                      </a:r>
                      <a:endParaRPr lang="en-US" altLang="zh-CN" sz="900" b="0" i="0" u="none" strike="noStrike" kern="1200" dirty="0" smtClean="0">
                        <a:solidFill>
                          <a:srgbClr val="000000"/>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900" b="0" i="0" u="none" strike="noStrike" kern="1200" dirty="0" smtClean="0">
                          <a:solidFill>
                            <a:srgbClr val="000000"/>
                          </a:solidFill>
                          <a:effectLst/>
                          <a:latin typeface="Georgia" panose="02040502050405020303" pitchFamily="18" charset="0"/>
                          <a:ea typeface="+mn-ea"/>
                          <a:cs typeface="+mn-cs"/>
                        </a:rPr>
                        <a:t>As above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zh-CN" altLang="en-US"/>
                    </a:p>
                  </a:txBody>
                  <a:tcPr/>
                </a:tc>
              </a:tr>
            </a:tbl>
          </a:graphicData>
        </a:graphic>
      </p:graphicFrame>
    </p:spTree>
    <p:extLst>
      <p:ext uri="{BB962C8B-B14F-4D97-AF65-F5344CB8AC3E}">
        <p14:creationId xmlns:p14="http://schemas.microsoft.com/office/powerpoint/2010/main" val="27096926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546898230"/>
              </p:ext>
            </p:extLst>
          </p:nvPr>
        </p:nvGraphicFramePr>
        <p:xfrm>
          <a:off x="395536" y="585673"/>
          <a:ext cx="8352930" cy="4074309"/>
        </p:xfrm>
        <a:graphic>
          <a:graphicData uri="http://schemas.openxmlformats.org/drawingml/2006/table">
            <a:tbl>
              <a:tblPr/>
              <a:tblGrid>
                <a:gridCol w="1939623"/>
                <a:gridCol w="1553421"/>
                <a:gridCol w="1063100"/>
                <a:gridCol w="877649"/>
                <a:gridCol w="886949"/>
                <a:gridCol w="1120960"/>
                <a:gridCol w="911228"/>
              </a:tblGrid>
              <a:tr h="392284">
                <a:tc rowSpan="2">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Transaction Type</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gridSpan="6">
                  <a:txBody>
                    <a:bodyPr/>
                    <a:lstStyle/>
                    <a:p>
                      <a:pPr marL="0" algn="ctr" defTabSz="914400" rtl="0" eaLnBrk="1" fontAlgn="ctr" latinLnBrk="0" hangingPunct="1"/>
                      <a:r>
                        <a:rPr lang="en-US" sz="1200" b="1" i="0" u="none" strike="noStrike" kern="1200" dirty="0">
                          <a:solidFill>
                            <a:schemeClr val="bg1"/>
                          </a:solidFill>
                          <a:effectLst/>
                          <a:latin typeface="Georgia" panose="02040502050405020303" pitchFamily="18" charset="0"/>
                          <a:ea typeface="+mn-ea"/>
                          <a:cs typeface="+mn-cs"/>
                        </a:rPr>
                        <a:t>Online Message (ISO 8583</a:t>
                      </a:r>
                      <a:r>
                        <a:rPr lang="en-US" sz="1200" b="1" i="0" u="none" strike="noStrike" kern="1200" dirty="0" smtClean="0">
                          <a:solidFill>
                            <a:schemeClr val="bg1"/>
                          </a:solidFill>
                          <a:effectLst/>
                          <a:latin typeface="Georgia" panose="02040502050405020303" pitchFamily="18" charset="0"/>
                          <a:ea typeface="+mn-ea"/>
                          <a:cs typeface="+mn-cs"/>
                        </a:rPr>
                        <a:t>)</a:t>
                      </a:r>
                      <a:r>
                        <a:rPr lang="en-US" sz="1200" b="1" i="0" u="none" strike="noStrike" kern="1200" baseline="0" dirty="0" smtClean="0">
                          <a:solidFill>
                            <a:schemeClr val="bg1"/>
                          </a:solidFill>
                          <a:effectLst/>
                          <a:latin typeface="Georgia" panose="02040502050405020303" pitchFamily="18" charset="0"/>
                          <a:ea typeface="+mn-ea"/>
                          <a:cs typeface="+mn-cs"/>
                        </a:rPr>
                        <a:t> Issuer to UPI</a:t>
                      </a:r>
                      <a:endParaRPr lang="en-US" sz="12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en-US"/>
                    </a:p>
                  </a:txBody>
                  <a:tcPr/>
                </a:tc>
                <a:tc hMerge="1">
                  <a:txBody>
                    <a:bodyPr/>
                    <a:lstStyle/>
                    <a:p>
                      <a:endParaRPr lang="en-US"/>
                    </a:p>
                  </a:txBody>
                  <a:tcPr/>
                </a:tc>
                <a:tc hMerge="1">
                  <a:txBody>
                    <a:bodyPr/>
                    <a:lstStyle/>
                    <a:p>
                      <a:endParaRPr lang="zh-CN" altLang="en-US"/>
                    </a:p>
                  </a:txBody>
                  <a:tcPr/>
                </a:tc>
              </a:tr>
              <a:tr h="172069">
                <a:tc vMerge="1">
                  <a:txBody>
                    <a:bodyPr/>
                    <a:lstStyle/>
                    <a:p>
                      <a:endParaRPr lang="zh-CN" altLang="en-US"/>
                    </a:p>
                  </a:txBody>
                  <a:tcPr/>
                </a:tc>
                <a:tc>
                  <a:txBody>
                    <a:bodyPr/>
                    <a:lstStyle/>
                    <a:p>
                      <a:pPr marL="0" algn="ctr" defTabSz="914400" rtl="0" eaLnBrk="1" fontAlgn="ctr" latinLnBrk="0" hangingPunct="1"/>
                      <a:r>
                        <a:rPr lang="en-US" sz="900" b="1" i="0" u="none" strike="noStrike" kern="1200" dirty="0">
                          <a:solidFill>
                            <a:schemeClr val="bg1"/>
                          </a:solidFill>
                          <a:effectLst/>
                          <a:latin typeface="Georgia" panose="02040502050405020303" pitchFamily="18" charset="0"/>
                          <a:ea typeface="+mn-ea"/>
                          <a:cs typeface="+mn-cs"/>
                        </a:rPr>
                        <a:t>F22</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F125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60.2.5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60.3.6</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F23  F35  F55</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900" b="1" i="0" u="none" strike="noStrike" kern="1200" dirty="0" smtClean="0">
                          <a:solidFill>
                            <a:schemeClr val="bg1"/>
                          </a:solidFill>
                          <a:effectLst/>
                          <a:latin typeface="Georgia" panose="02040502050405020303" pitchFamily="18" charset="0"/>
                          <a:ea typeface="+mn-ea"/>
                          <a:cs typeface="+mn-cs"/>
                        </a:rPr>
                        <a:t>Others</a:t>
                      </a:r>
                      <a:endParaRPr lang="en-US" sz="900" b="1" i="0" u="none" strike="noStrike" kern="1200" dirty="0">
                        <a:solidFill>
                          <a:schemeClr val="bg1"/>
                        </a:solidFill>
                        <a:effectLst/>
                        <a:latin typeface="Georgia" panose="02040502050405020303" pitchFamily="18"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r>
              <a:tr h="1235847">
                <a:tc>
                  <a:txBody>
                    <a:bodyPr/>
                    <a:lstStyle/>
                    <a:p>
                      <a:pPr marL="0" indent="0" algn="ctr" fontAlgn="ctr">
                        <a:buFont typeface="Arial" panose="020B0604020202020204" pitchFamily="34" charset="0"/>
                        <a:buNone/>
                      </a:pPr>
                      <a:r>
                        <a:rPr lang="en-US" altLang="zh-CN" sz="1050" b="0" i="0" u="none" strike="noStrike" kern="1200" dirty="0" smtClean="0">
                          <a:solidFill>
                            <a:sysClr val="windowText" lastClr="000000"/>
                          </a:solidFill>
                          <a:effectLst/>
                          <a:latin typeface="Georgia" panose="02040502050405020303" pitchFamily="18" charset="0"/>
                          <a:ea typeface="+mn-ea"/>
                          <a:cs typeface="+mn-cs"/>
                        </a:rPr>
                        <a:t>Purchase/Authorization</a:t>
                      </a:r>
                      <a:endParaRPr lang="en-US" altLang="zh-CN" sz="1050" b="0" i="0" u="none" strike="noStrike" kern="1200" dirty="0">
                        <a:solidFill>
                          <a:sysClr val="windowText" lastClr="000000"/>
                        </a:solidFill>
                        <a:effectLst/>
                        <a:latin typeface="Georgia" panose="02040502050405020303" pitchFamily="18" charset="0"/>
                        <a:ea typeface="+mn-ea"/>
                        <a:cs typeface="+mn-cs"/>
                      </a:endParaRP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gridSpan="4">
                  <a:txBody>
                    <a:bodyPr/>
                    <a:lstStyle/>
                    <a:p>
                      <a:pPr algn="ctr" fontAlgn="ctr"/>
                      <a:r>
                        <a:rPr lang="en-US" altLang="zh-CN" sz="900" b="0" i="0" u="none" strike="noStrike" dirty="0" smtClean="0">
                          <a:solidFill>
                            <a:schemeClr val="tx1"/>
                          </a:solidFill>
                          <a:effectLst/>
                          <a:latin typeface="Georgia" panose="02040502050405020303" pitchFamily="18" charset="0"/>
                        </a:rPr>
                        <a:t>Same</a:t>
                      </a:r>
                      <a:r>
                        <a:rPr lang="en-US" altLang="zh-CN" sz="900" b="0" i="0" u="none" strike="noStrike" baseline="0" dirty="0" smtClean="0">
                          <a:solidFill>
                            <a:schemeClr val="tx1"/>
                          </a:solidFill>
                          <a:effectLst/>
                          <a:latin typeface="Georgia" panose="02040502050405020303" pitchFamily="18" charset="0"/>
                        </a:rPr>
                        <a:t> as request message</a:t>
                      </a:r>
                      <a:endParaRPr lang="en-US" altLang="zh-CN"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h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h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h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ctr" fontAlgn="ctr"/>
                      <a:r>
                        <a:rPr lang="en-US" altLang="zh-CN" sz="900" b="0" i="0" u="none" strike="noStrike" dirty="0" smtClean="0">
                          <a:solidFill>
                            <a:schemeClr val="tx1"/>
                          </a:solidFill>
                          <a:effectLst/>
                          <a:latin typeface="Georgia" panose="02040502050405020303" pitchFamily="18" charset="0"/>
                        </a:rPr>
                        <a:t>Same</a:t>
                      </a:r>
                      <a:r>
                        <a:rPr lang="en-US" altLang="zh-CN" sz="900" b="0" i="0" u="none" strike="noStrike" baseline="0" dirty="0" smtClean="0">
                          <a:solidFill>
                            <a:schemeClr val="tx1"/>
                          </a:solidFill>
                          <a:effectLst/>
                          <a:latin typeface="Georgia" panose="02040502050405020303" pitchFamily="18" charset="0"/>
                        </a:rPr>
                        <a:t> as request message</a:t>
                      </a:r>
                      <a:endParaRPr lang="en-US" altLang="zh-CN" sz="900" b="0" i="0" u="none" strike="noStrike" dirty="0">
                        <a:solidFill>
                          <a:schemeClr val="tx1"/>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a:txBody>
                    <a:bodyPr/>
                    <a:lstStyle/>
                    <a:p>
                      <a:pPr algn="ctr" fontAlgn="ctr"/>
                      <a:r>
                        <a:rPr lang="en-US" sz="900" b="0" i="0" u="none" strike="noStrike" dirty="0">
                          <a:solidFill>
                            <a:srgbClr val="000000"/>
                          </a:solidFill>
                          <a:effectLst/>
                          <a:latin typeface="Georgia" panose="02040502050405020303" pitchFamily="18" charset="0"/>
                        </a:rPr>
                        <a:t>Same as </a:t>
                      </a:r>
                      <a:r>
                        <a:rPr lang="en-US" sz="900" b="0" i="0" u="none" strike="noStrike" dirty="0" smtClean="0">
                          <a:solidFill>
                            <a:srgbClr val="000000"/>
                          </a:solidFill>
                          <a:effectLst/>
                          <a:latin typeface="Georgia" panose="02040502050405020303" pitchFamily="18" charset="0"/>
                        </a:rPr>
                        <a:t>POS Transaction</a:t>
                      </a:r>
                      <a:endParaRPr lang="en-US" sz="900" b="0" i="0" u="none" strike="noStrike" dirty="0">
                        <a:solidFill>
                          <a:srgbClr val="000000"/>
                        </a:solidFill>
                        <a:effectLst/>
                        <a:latin typeface="Georgia" panose="02040502050405020303" pitchFamily="18"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962891">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Reversal</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gridSpan="4"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en-US"/>
                    </a:p>
                  </a:txBody>
                  <a:tcPr/>
                </a:tc>
              </a:tr>
              <a:tr h="591138">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Cancellation</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gridSpan="4"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zh-CN" altLang="en-US"/>
                    </a:p>
                  </a:txBody>
                  <a:tcPr/>
                </a:tc>
              </a:tr>
              <a:tr h="720080">
                <a:tc>
                  <a:txBody>
                    <a:bodyPr/>
                    <a:lstStyle/>
                    <a:p>
                      <a:pPr algn="ctr" fontAlgn="ctr"/>
                      <a:r>
                        <a:rPr lang="en-US" sz="1050" b="0" i="0" u="none" strike="noStrike" kern="1200" dirty="0">
                          <a:solidFill>
                            <a:sysClr val="windowText" lastClr="000000"/>
                          </a:solidFill>
                          <a:effectLst/>
                          <a:latin typeface="Georgia" panose="02040502050405020303" pitchFamily="18" charset="0"/>
                          <a:ea typeface="+mn-ea"/>
                          <a:cs typeface="+mn-cs"/>
                        </a:rPr>
                        <a:t>Refund</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gridSpan="4"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l" fontAlgn="ctr"/>
                      <a:endParaRPr lang="en-US" altLang="zh-CN" sz="1000" b="0" i="0" u="none" strike="noStrike" dirty="0">
                        <a:solidFill>
                          <a:schemeClr val="tx1"/>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zh-CN" altLang="en-US"/>
                    </a:p>
                  </a:txBody>
                  <a:tcPr/>
                </a:tc>
              </a:tr>
            </a:tbl>
          </a:graphicData>
        </a:graphic>
      </p:graphicFrame>
      <p:sp>
        <p:nvSpPr>
          <p:cNvPr id="4"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a:latin typeface="Georgia" pitchFamily="18" charset="0"/>
                <a:ea typeface="黑体" pitchFamily="49" charset="-122"/>
              </a:rPr>
              <a:t>Impact to </a:t>
            </a:r>
            <a:r>
              <a:rPr lang="en-US" altLang="zh-CN" sz="2000" b="1" dirty="0" smtClean="0">
                <a:latin typeface="Georgia" pitchFamily="18" charset="0"/>
                <a:ea typeface="黑体" pitchFamily="49" charset="-122"/>
              </a:rPr>
              <a:t>Issuer System – Online Message</a:t>
            </a:r>
            <a:endParaRPr lang="zh-CN" altLang="en-US" sz="2000" b="1" dirty="0">
              <a:latin typeface="Georgia" pitchFamily="18" charset="0"/>
              <a:ea typeface="黑体" pitchFamily="49" charset="-122"/>
            </a:endParaRPr>
          </a:p>
        </p:txBody>
      </p:sp>
    </p:spTree>
    <p:extLst>
      <p:ext uri="{BB962C8B-B14F-4D97-AF65-F5344CB8AC3E}">
        <p14:creationId xmlns:p14="http://schemas.microsoft.com/office/powerpoint/2010/main" val="6727717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smtClean="0">
                <a:latin typeface="Georgia" pitchFamily="18" charset="0"/>
                <a:ea typeface="黑体" pitchFamily="49" charset="-122"/>
              </a:rPr>
              <a:t>Impact to Issuer Host System – File Interface</a:t>
            </a:r>
            <a:endParaRPr lang="zh-CN" altLang="en-US" sz="2000" b="1" dirty="0">
              <a:latin typeface="Georgia" pitchFamily="18" charset="0"/>
              <a:ea typeface="黑体"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700766552"/>
              </p:ext>
            </p:extLst>
          </p:nvPr>
        </p:nvGraphicFramePr>
        <p:xfrm>
          <a:off x="2339752" y="1131590"/>
          <a:ext cx="4185116" cy="2664296"/>
        </p:xfrm>
        <a:graphic>
          <a:graphicData uri="http://schemas.openxmlformats.org/drawingml/2006/table">
            <a:tbl>
              <a:tblPr/>
              <a:tblGrid>
                <a:gridCol w="4185116"/>
              </a:tblGrid>
              <a:tr h="263700">
                <a:tc>
                  <a:txBody>
                    <a:bodyPr/>
                    <a:lstStyle/>
                    <a:p>
                      <a:pPr algn="ctr" fontAlgn="ctr"/>
                      <a:r>
                        <a:rPr lang="en-US" sz="1100" b="1" i="0" u="none" strike="noStrike" dirty="0" smtClean="0">
                          <a:solidFill>
                            <a:schemeClr val="bg1"/>
                          </a:solidFill>
                          <a:effectLst/>
                          <a:latin typeface="Calibri"/>
                        </a:rPr>
                        <a:t>File Interface</a:t>
                      </a:r>
                      <a:endParaRPr lang="en-US" sz="1100" b="1" i="0" u="none" strike="noStrike" dirty="0">
                        <a:solidFill>
                          <a:schemeClr val="bg1"/>
                        </a:solidFill>
                        <a:effectLst/>
                        <a:latin typeface="Calibri"/>
                      </a:endParaRPr>
                    </a:p>
                  </a:txBody>
                  <a:tcPr marL="6368" marR="6368" marT="6368"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3072AE"/>
                    </a:solidFill>
                  </a:tcPr>
                </a:tc>
              </a:tr>
              <a:tr h="2400596">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zh-CN" sz="1100" b="0" i="0" u="none" strike="noStrike" baseline="0" dirty="0" smtClean="0">
                          <a:solidFill>
                            <a:schemeClr val="tx1"/>
                          </a:solidFill>
                          <a:effectLst/>
                          <a:latin typeface="Calibri"/>
                        </a:rPr>
                        <a:t>Consumer Presented Mode: </a:t>
                      </a:r>
                      <a:r>
                        <a:rPr lang="en-US" altLang="zh-CN" sz="1100" b="0" i="0" u="none" strike="noStrike" dirty="0" smtClean="0">
                          <a:solidFill>
                            <a:schemeClr val="tx1"/>
                          </a:solidFill>
                          <a:effectLst/>
                          <a:latin typeface="Calibri"/>
                        </a:rPr>
                        <a:t>Valid value(04) needs to be identified in Field 22. </a:t>
                      </a:r>
                    </a:p>
                    <a:p>
                      <a:pPr algn="l" fontAlgn="ctr"/>
                      <a:r>
                        <a:rPr lang="en-US" sz="1100" b="0" i="0" u="none" strike="noStrike" dirty="0" smtClean="0">
                          <a:solidFill>
                            <a:schemeClr val="tx1"/>
                          </a:solidFill>
                          <a:effectLst/>
                          <a:latin typeface="Calibri"/>
                        </a:rPr>
                        <a:t>Merchant</a:t>
                      </a:r>
                      <a:r>
                        <a:rPr lang="en-US" sz="1100" b="0" i="0" u="none" strike="noStrike" baseline="0" dirty="0" smtClean="0">
                          <a:solidFill>
                            <a:schemeClr val="tx1"/>
                          </a:solidFill>
                          <a:effectLst/>
                          <a:latin typeface="Calibri"/>
                        </a:rPr>
                        <a:t> Presented Mode: </a:t>
                      </a:r>
                      <a:r>
                        <a:rPr lang="en-US" sz="1100" b="0" i="0" u="none" strike="noStrike" dirty="0" smtClean="0">
                          <a:solidFill>
                            <a:schemeClr val="tx1"/>
                          </a:solidFill>
                          <a:effectLst/>
                          <a:latin typeface="Calibri"/>
                        </a:rPr>
                        <a:t>Valid value(94) needs to be identified in Field 22. </a:t>
                      </a:r>
                    </a:p>
                    <a:p>
                      <a:pPr algn="l" fontAlgn="ctr"/>
                      <a:endParaRPr lang="en-US" sz="1100" b="0" i="0" u="none" strike="noStrike" dirty="0" smtClean="0">
                        <a:solidFill>
                          <a:schemeClr val="tx1"/>
                        </a:solidFill>
                        <a:effectLst/>
                        <a:latin typeface="Calibri"/>
                      </a:endParaRPr>
                    </a:p>
                    <a:p>
                      <a:pPr algn="l" fontAlgn="ctr"/>
                      <a:r>
                        <a:rPr lang="en-US" sz="1100" b="0" i="0" u="none" strike="noStrike" dirty="0" smtClean="0">
                          <a:solidFill>
                            <a:schemeClr val="tx1"/>
                          </a:solidFill>
                          <a:effectLst/>
                          <a:latin typeface="Calibri"/>
                        </a:rPr>
                        <a:t/>
                      </a:r>
                      <a:br>
                        <a:rPr lang="en-US" sz="1100" b="0" i="0" u="none" strike="noStrike" dirty="0" smtClean="0">
                          <a:solidFill>
                            <a:schemeClr val="tx1"/>
                          </a:solidFill>
                          <a:effectLst/>
                          <a:latin typeface="Calibri"/>
                        </a:rPr>
                      </a:br>
                      <a:r>
                        <a:rPr lang="en-US" sz="1100" b="0" i="0" u="none" strike="noStrike" dirty="0" smtClean="0">
                          <a:solidFill>
                            <a:schemeClr val="tx1"/>
                          </a:solidFill>
                          <a:effectLst/>
                          <a:latin typeface="Calibri"/>
                        </a:rPr>
                        <a:t>In the presentment file and file refund, if  </a:t>
                      </a:r>
                      <a:r>
                        <a:rPr lang="en-US" sz="1100" b="1" i="0" u="none" strike="noStrike" dirty="0" smtClean="0">
                          <a:solidFill>
                            <a:schemeClr val="tx1"/>
                          </a:solidFill>
                          <a:effectLst/>
                          <a:latin typeface="Calibri"/>
                        </a:rPr>
                        <a:t>QRC</a:t>
                      </a:r>
                      <a:r>
                        <a:rPr lang="en-US" sz="1100" b="0" i="0" u="none" strike="noStrike" dirty="0" smtClean="0">
                          <a:solidFill>
                            <a:schemeClr val="tx1"/>
                          </a:solidFill>
                          <a:effectLst/>
                          <a:latin typeface="Calibri"/>
                        </a:rPr>
                        <a:t> </a:t>
                      </a:r>
                      <a:r>
                        <a:rPr lang="en-US" sz="1100" b="1" i="0" u="none" strike="noStrike" dirty="0" smtClean="0">
                          <a:solidFill>
                            <a:schemeClr val="tx1"/>
                          </a:solidFill>
                          <a:effectLst/>
                          <a:latin typeface="Calibri"/>
                        </a:rPr>
                        <a:t>Voucher Number </a:t>
                      </a:r>
                      <a:r>
                        <a:rPr lang="en-US" sz="1100" b="0" i="0" u="none" strike="noStrike" dirty="0" smtClean="0">
                          <a:solidFill>
                            <a:schemeClr val="tx1"/>
                          </a:solidFill>
                          <a:effectLst/>
                          <a:latin typeface="Calibri"/>
                        </a:rPr>
                        <a:t>is  supported,</a:t>
                      </a:r>
                      <a:r>
                        <a:rPr lang="en-US" sz="1100" b="0" i="0" u="none" strike="noStrike" baseline="0" dirty="0" smtClean="0">
                          <a:solidFill>
                            <a:schemeClr val="tx1"/>
                          </a:solidFill>
                          <a:effectLst/>
                          <a:latin typeface="Calibri"/>
                        </a:rPr>
                        <a:t> it’s </a:t>
                      </a:r>
                      <a:r>
                        <a:rPr lang="en-US" sz="1100" b="0" i="0" u="none" strike="noStrike" dirty="0" smtClean="0">
                          <a:solidFill>
                            <a:schemeClr val="tx1"/>
                          </a:solidFill>
                          <a:effectLst/>
                          <a:latin typeface="Calibri"/>
                        </a:rPr>
                        <a:t>filled in the Block 1 position 91-110 of TC100</a:t>
                      </a:r>
                      <a:endParaRPr lang="en-US" sz="1100" b="0" i="0" u="none" strike="noStrike" dirty="0">
                        <a:solidFill>
                          <a:schemeClr val="tx1"/>
                        </a:solidFill>
                        <a:effectLst/>
                        <a:latin typeface="Calibri"/>
                      </a:endParaRPr>
                    </a:p>
                  </a:txBody>
                  <a:tcPr marL="6368" marR="6368" marT="6368"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337929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smtClean="0">
                <a:latin typeface="Georgia" pitchFamily="18" charset="0"/>
                <a:ea typeface="黑体" pitchFamily="49" charset="-122"/>
              </a:rPr>
              <a:t>Appendix-Impact to Acquirer Host System – </a:t>
            </a:r>
            <a:r>
              <a:rPr lang="en-US" altLang="zh-CN" sz="1050" b="1" dirty="0" smtClean="0">
                <a:latin typeface="Georgia" pitchFamily="18" charset="0"/>
                <a:ea typeface="黑体" pitchFamily="49" charset="-122"/>
              </a:rPr>
              <a:t>Online Message</a:t>
            </a:r>
            <a:endParaRPr lang="zh-CN" altLang="en-US" sz="1050" b="1" dirty="0">
              <a:latin typeface="Georgia"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75215292"/>
              </p:ext>
            </p:extLst>
          </p:nvPr>
        </p:nvGraphicFramePr>
        <p:xfrm>
          <a:off x="251519" y="627534"/>
          <a:ext cx="8389306" cy="1817859"/>
        </p:xfrm>
        <a:graphic>
          <a:graphicData uri="http://schemas.openxmlformats.org/drawingml/2006/table">
            <a:tbl>
              <a:tblPr>
                <a:tableStyleId>{5C22544A-7EE6-4342-B048-85BDC9FD1C3A}</a:tableStyleId>
              </a:tblPr>
              <a:tblGrid>
                <a:gridCol w="1069338"/>
                <a:gridCol w="224561"/>
                <a:gridCol w="288721"/>
                <a:gridCol w="536842"/>
                <a:gridCol w="446950"/>
                <a:gridCol w="288721"/>
                <a:gridCol w="352882"/>
                <a:gridCol w="500771"/>
                <a:gridCol w="1146010"/>
                <a:gridCol w="224561"/>
                <a:gridCol w="288721"/>
                <a:gridCol w="545363"/>
                <a:gridCol w="545363"/>
                <a:gridCol w="288721"/>
                <a:gridCol w="352882"/>
                <a:gridCol w="1288899"/>
              </a:tblGrid>
              <a:tr h="190169">
                <a:tc rowSpan="3">
                  <a:txBody>
                    <a:bodyPr/>
                    <a:lstStyle/>
                    <a:p>
                      <a:pPr algn="ctr" fontAlgn="ctr"/>
                      <a:r>
                        <a:rPr lang="en-US" sz="1100" b="1" u="none" strike="noStrike" dirty="0">
                          <a:solidFill>
                            <a:schemeClr val="bg1"/>
                          </a:solidFill>
                          <a:effectLst/>
                          <a:latin typeface="Calibri" panose="020F0502020204030204" pitchFamily="34" charset="0"/>
                        </a:rPr>
                        <a:t>Transaction Type</a:t>
                      </a:r>
                      <a:endParaRPr lang="en-US" sz="1100" b="1" i="0" u="none" strike="noStrike" dirty="0">
                        <a:solidFill>
                          <a:schemeClr val="bg1"/>
                        </a:solidFill>
                        <a:effectLst/>
                        <a:latin typeface="Calibri" panose="020F0502020204030204" pitchFamily="34" charset="0"/>
                      </a:endParaRPr>
                    </a:p>
                    <a:p>
                      <a:pPr algn="ctr" fontAlgn="ctr"/>
                      <a:r>
                        <a:rPr lang="zh-CN" altLang="en-US" sz="1100" b="1" u="none" strike="noStrike" dirty="0">
                          <a:solidFill>
                            <a:schemeClr val="bg1"/>
                          </a:solidFill>
                          <a:effectLst/>
                          <a:latin typeface="Calibri" panose="020F0502020204030204" pitchFamily="34" charset="0"/>
                        </a:rPr>
                        <a:t>　</a:t>
                      </a:r>
                      <a:endParaRPr lang="zh-CN" altLang="en-US" sz="1100" b="1" i="0" u="none" strike="noStrike" dirty="0">
                        <a:solidFill>
                          <a:schemeClr val="bg1"/>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gridSpan="15">
                  <a:txBody>
                    <a:bodyPr/>
                    <a:lstStyle/>
                    <a:p>
                      <a:pPr algn="ctr" fontAlgn="ctr"/>
                      <a:r>
                        <a:rPr lang="en-US" sz="1100" b="1" u="none" strike="noStrike" dirty="0">
                          <a:solidFill>
                            <a:schemeClr val="bg1"/>
                          </a:solidFill>
                          <a:effectLst/>
                          <a:latin typeface="Calibri" panose="020F0502020204030204" pitchFamily="34" charset="0"/>
                        </a:rPr>
                        <a:t>Online </a:t>
                      </a:r>
                      <a:r>
                        <a:rPr lang="en-US" sz="1100" b="1" u="none" strike="noStrike" dirty="0" smtClean="0">
                          <a:solidFill>
                            <a:schemeClr val="bg1"/>
                          </a:solidFill>
                          <a:effectLst/>
                          <a:latin typeface="Calibri" panose="020F0502020204030204" pitchFamily="34" charset="0"/>
                        </a:rPr>
                        <a:t>Message (</a:t>
                      </a:r>
                      <a:r>
                        <a:rPr lang="en-US" sz="1100" b="1" u="none" strike="noStrike" dirty="0">
                          <a:solidFill>
                            <a:schemeClr val="bg1"/>
                          </a:solidFill>
                          <a:effectLst/>
                          <a:latin typeface="Calibri" panose="020F0502020204030204" pitchFamily="34" charset="0"/>
                        </a:rPr>
                        <a:t>ISO 8583) </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90169">
                <a:tc vMerge="1">
                  <a:txBody>
                    <a:bodyPr/>
                    <a:lstStyle/>
                    <a:p>
                      <a:endParaRPr lang="zh-CN" altLang="en-US"/>
                    </a:p>
                  </a:txBody>
                  <a:tcPr/>
                </a:tc>
                <a:tc gridSpan="8">
                  <a:txBody>
                    <a:bodyPr/>
                    <a:lstStyle/>
                    <a:p>
                      <a:pPr algn="ctr" fontAlgn="ctr"/>
                      <a:r>
                        <a:rPr lang="fr-FR" sz="1100" b="1" u="none" strike="noStrike" dirty="0">
                          <a:solidFill>
                            <a:schemeClr val="bg1"/>
                          </a:solidFill>
                          <a:effectLst/>
                          <a:latin typeface="Calibri" panose="020F0502020204030204" pitchFamily="34" charset="0"/>
                        </a:rPr>
                        <a:t>UMPS-&gt;ACQ </a:t>
                      </a:r>
                      <a:endParaRPr lang="fr-FR" sz="1100" b="1" u="none" strike="noStrike" dirty="0" smtClean="0">
                        <a:solidFill>
                          <a:schemeClr val="bg1"/>
                        </a:solidFill>
                        <a:effectLst/>
                        <a:latin typeface="Calibri" panose="020F0502020204030204" pitchFamily="34" charset="0"/>
                      </a:endParaRPr>
                    </a:p>
                    <a:p>
                      <a:pPr algn="ctr" fontAlgn="ctr"/>
                      <a:r>
                        <a:rPr lang="fr-FR" sz="1100" b="1" u="none" strike="noStrike" dirty="0" smtClean="0">
                          <a:solidFill>
                            <a:schemeClr val="bg1"/>
                          </a:solidFill>
                          <a:effectLst/>
                          <a:latin typeface="Calibri" panose="020F0502020204030204" pitchFamily="34" charset="0"/>
                        </a:rPr>
                        <a:t>(</a:t>
                      </a:r>
                      <a:r>
                        <a:rPr lang="fr-FR" sz="1100" b="1" u="none" strike="noStrike" dirty="0">
                          <a:solidFill>
                            <a:schemeClr val="bg1"/>
                          </a:solidFill>
                          <a:effectLst/>
                          <a:latin typeface="Calibri" panose="020F0502020204030204" pitchFamily="34" charset="0"/>
                        </a:rPr>
                        <a:t>Message Type ID:0200/0100)</a:t>
                      </a:r>
                      <a:endParaRPr lang="fr-FR"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7">
                  <a:txBody>
                    <a:bodyPr/>
                    <a:lstStyle/>
                    <a:p>
                      <a:pPr algn="ctr" fontAlgn="ctr"/>
                      <a:r>
                        <a:rPr lang="en-US" sz="1100" b="1" u="none" strike="noStrike" dirty="0">
                          <a:solidFill>
                            <a:schemeClr val="bg1"/>
                          </a:solidFill>
                          <a:effectLst/>
                          <a:latin typeface="Calibri" panose="020F0502020204030204" pitchFamily="34" charset="0"/>
                        </a:rPr>
                        <a:t>ACQ-&gt;UMPS </a:t>
                      </a:r>
                      <a:endParaRPr lang="en-US" sz="1100" b="1" u="none" strike="noStrike" dirty="0" smtClean="0">
                        <a:solidFill>
                          <a:schemeClr val="bg1"/>
                        </a:solidFill>
                        <a:effectLst/>
                        <a:latin typeface="Calibri" panose="020F0502020204030204" pitchFamily="34" charset="0"/>
                      </a:endParaRPr>
                    </a:p>
                    <a:p>
                      <a:pPr algn="ctr" fontAlgn="ctr"/>
                      <a:r>
                        <a:rPr lang="en-US" sz="1100" b="1" u="none" strike="noStrike" dirty="0" smtClean="0">
                          <a:solidFill>
                            <a:schemeClr val="bg1"/>
                          </a:solidFill>
                          <a:effectLst/>
                          <a:latin typeface="Calibri" panose="020F0502020204030204" pitchFamily="34" charset="0"/>
                        </a:rPr>
                        <a:t>(</a:t>
                      </a:r>
                      <a:r>
                        <a:rPr lang="en-US" sz="1100" b="1" u="none" strike="noStrike" dirty="0">
                          <a:solidFill>
                            <a:schemeClr val="bg1"/>
                          </a:solidFill>
                          <a:effectLst/>
                          <a:latin typeface="Calibri" panose="020F0502020204030204" pitchFamily="34" charset="0"/>
                        </a:rPr>
                        <a:t>Message Type ID:0210/0110)</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90169">
                <a:tc vMerge="1">
                  <a:txBody>
                    <a:bodyPr/>
                    <a:lstStyle/>
                    <a:p>
                      <a:pPr algn="ctr" fontAlgn="ctr"/>
                      <a:endParaRPr lang="zh-CN" altLang="en-US" sz="1050" b="1" i="0" u="none" strike="noStrike" dirty="0">
                        <a:solidFill>
                          <a:schemeClr val="bg1"/>
                        </a:solidFill>
                        <a:effectLst/>
                        <a:latin typeface="Calibri" panose="020F0502020204030204" pitchFamily="34" charset="0"/>
                      </a:endParaRPr>
                    </a:p>
                  </a:txBody>
                  <a:tcPr marL="7735" marR="7735" marT="7735" marB="0" anchor="ctr">
                    <a:solidFill>
                      <a:srgbClr val="1E5199"/>
                    </a:solidFill>
                  </a:tcPr>
                </a:tc>
                <a:tc>
                  <a:txBody>
                    <a:bodyPr/>
                    <a:lstStyle/>
                    <a:p>
                      <a:pPr algn="ctr" fontAlgn="ctr"/>
                      <a:r>
                        <a:rPr lang="en-US" sz="1100" b="1" u="none" strike="noStrike">
                          <a:solidFill>
                            <a:schemeClr val="bg1"/>
                          </a:solidFill>
                          <a:effectLst/>
                          <a:latin typeface="Calibri" panose="020F0502020204030204" pitchFamily="34" charset="0"/>
                        </a:rPr>
                        <a:t>F2</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F22</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F60.2.5</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F60.3.6</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smtClean="0">
                          <a:solidFill>
                            <a:schemeClr val="bg1"/>
                          </a:solidFill>
                          <a:effectLst/>
                          <a:latin typeface="Calibri" panose="020F0502020204030204" pitchFamily="34" charset="0"/>
                        </a:rPr>
                        <a:t>F63 MQ</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F125</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F113*</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Other</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F2</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F22</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F60.2.5</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F60.3.6</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F63</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F125</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Other</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r>
              <a:tr h="371153">
                <a:tc>
                  <a:txBody>
                    <a:bodyPr/>
                    <a:lstStyle/>
                    <a:p>
                      <a:pPr algn="l" fontAlgn="ctr"/>
                      <a:r>
                        <a:rPr lang="en-US" sz="1100" u="none" strike="noStrike" dirty="0">
                          <a:effectLst/>
                          <a:latin typeface="Calibri" panose="020F0502020204030204" pitchFamily="34" charset="0"/>
                        </a:rPr>
                        <a:t>Purchase</a:t>
                      </a:r>
                      <a:endParaRPr lang="en-US" sz="1100" b="0" i="0" u="none" strike="noStrike" dirty="0">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a:effectLst/>
                          <a:latin typeface="Calibri" panose="020F0502020204030204" pitchFamily="34" charset="0"/>
                        </a:rPr>
                        <a:t>C</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a:effectLst/>
                          <a:latin typeface="Calibri" panose="020F0502020204030204" pitchFamily="34" charset="0"/>
                        </a:rPr>
                        <a:t>C</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dirty="0">
                          <a:effectLst/>
                          <a:latin typeface="Calibri" panose="020F0502020204030204" pitchFamily="34" charset="0"/>
                        </a:rPr>
                        <a:t>M</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94</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07</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b="0" i="0" u="none" strike="noStrike" smtClean="0">
                          <a:solidFill>
                            <a:srgbClr val="000000"/>
                          </a:solidFill>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-&gt;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dirty="0">
                          <a:effectLst/>
                          <a:latin typeface="Calibri" panose="020F0502020204030204" pitchFamily="34" charset="0"/>
                        </a:rPr>
                        <a:t>Same as POS transaction</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190169">
                <a:tc>
                  <a:txBody>
                    <a:bodyPr/>
                    <a:lstStyle/>
                    <a:p>
                      <a:pPr algn="l" fontAlgn="ctr"/>
                      <a:r>
                        <a:rPr lang="en-US" sz="1100" u="none" strike="noStrike">
                          <a:effectLst/>
                          <a:latin typeface="Calibri" panose="020F0502020204030204" pitchFamily="34" charset="0"/>
                        </a:rPr>
                        <a:t>Reversal</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0" i="0" u="none" strike="noStrike" dirty="0" smtClean="0">
                          <a:solidFill>
                            <a:srgbClr val="000000"/>
                          </a:solidFill>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190169">
                <a:tc>
                  <a:txBody>
                    <a:bodyPr/>
                    <a:lstStyle/>
                    <a:p>
                      <a:pPr algn="l" fontAlgn="ctr"/>
                      <a:r>
                        <a:rPr lang="en-US" sz="1100" u="none" strike="noStrike">
                          <a:effectLst/>
                          <a:latin typeface="Calibri" panose="020F0502020204030204" pitchFamily="34" charset="0"/>
                        </a:rPr>
                        <a:t>Cancellation</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dirty="0" smtClean="0">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190169">
                <a:tc>
                  <a:txBody>
                    <a:bodyPr/>
                    <a:lstStyle/>
                    <a:p>
                      <a:pPr algn="l" fontAlgn="ctr"/>
                      <a:r>
                        <a:rPr lang="en-US" sz="1100" u="none" strike="noStrike">
                          <a:effectLst/>
                          <a:latin typeface="Calibri" panose="020F0502020204030204" pitchFamily="34" charset="0"/>
                        </a:rPr>
                        <a:t>Refund</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u="none" strike="noStrike" dirty="0" smtClean="0">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100" u="none" strike="noStrike" dirty="0">
                          <a:effectLst/>
                          <a:latin typeface="Calibri" panose="020F0502020204030204" pitchFamily="34" charset="0"/>
                        </a:rPr>
                        <a: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1790131809"/>
              </p:ext>
            </p:extLst>
          </p:nvPr>
        </p:nvGraphicFramePr>
        <p:xfrm>
          <a:off x="237802" y="2571750"/>
          <a:ext cx="8424939" cy="2162094"/>
        </p:xfrm>
        <a:graphic>
          <a:graphicData uri="http://schemas.openxmlformats.org/drawingml/2006/table">
            <a:tbl>
              <a:tblPr>
                <a:tableStyleId>{5C22544A-7EE6-4342-B048-85BDC9FD1C3A}</a:tableStyleId>
              </a:tblPr>
              <a:tblGrid>
                <a:gridCol w="1152130"/>
                <a:gridCol w="216024"/>
                <a:gridCol w="266535"/>
                <a:gridCol w="741577"/>
                <a:gridCol w="648072"/>
                <a:gridCol w="720081"/>
                <a:gridCol w="1152127"/>
                <a:gridCol w="330038"/>
                <a:gridCol w="312035"/>
                <a:gridCol w="624069"/>
                <a:gridCol w="546061"/>
                <a:gridCol w="412331"/>
                <a:gridCol w="1303859"/>
              </a:tblGrid>
              <a:tr h="148982">
                <a:tc rowSpan="3">
                  <a:txBody>
                    <a:bodyPr/>
                    <a:lstStyle/>
                    <a:p>
                      <a:pPr algn="ctr" fontAlgn="ctr"/>
                      <a:r>
                        <a:rPr lang="en-US" sz="1100" b="1" u="none" strike="noStrike" dirty="0">
                          <a:solidFill>
                            <a:schemeClr val="bg1"/>
                          </a:solidFill>
                          <a:effectLst/>
                          <a:latin typeface="Calibri" panose="020F0502020204030204" pitchFamily="34" charset="0"/>
                        </a:rPr>
                        <a:t>Transaction Type</a:t>
                      </a:r>
                      <a:endParaRPr lang="en-US" sz="1100" b="1" i="0" u="none" strike="noStrike" dirty="0">
                        <a:solidFill>
                          <a:schemeClr val="bg1"/>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gridSpan="12">
                  <a:txBody>
                    <a:bodyPr/>
                    <a:lstStyle/>
                    <a:p>
                      <a:pPr algn="ctr" fontAlgn="ctr"/>
                      <a:r>
                        <a:rPr lang="en-US" sz="1100" b="1" u="none" strike="noStrike" dirty="0">
                          <a:solidFill>
                            <a:schemeClr val="bg1"/>
                          </a:solidFill>
                          <a:effectLst/>
                          <a:latin typeface="Calibri" panose="020F0502020204030204" pitchFamily="34" charset="0"/>
                        </a:rPr>
                        <a:t>Online Message(ISO 8583) </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48982">
                <a:tc vMerge="1">
                  <a:txBody>
                    <a:bodyPr/>
                    <a:lstStyle/>
                    <a:p>
                      <a:endParaRPr lang="zh-CN" altLang="en-US"/>
                    </a:p>
                  </a:txBody>
                  <a:tcPr/>
                </a:tc>
                <a:tc gridSpan="6">
                  <a:txBody>
                    <a:bodyPr/>
                    <a:lstStyle/>
                    <a:p>
                      <a:pPr algn="ctr" fontAlgn="ctr"/>
                      <a:r>
                        <a:rPr lang="en-US" sz="1100" b="1" u="none" strike="noStrike" dirty="0">
                          <a:solidFill>
                            <a:schemeClr val="bg1"/>
                          </a:solidFill>
                          <a:effectLst/>
                          <a:latin typeface="Calibri" panose="020F0502020204030204" pitchFamily="34" charset="0"/>
                        </a:rPr>
                        <a:t>ACQ-&gt;GSCS </a:t>
                      </a:r>
                      <a:endParaRPr lang="en-US" sz="1100" b="1" u="none" strike="noStrike" dirty="0" smtClean="0">
                        <a:solidFill>
                          <a:schemeClr val="bg1"/>
                        </a:solidFill>
                        <a:effectLst/>
                        <a:latin typeface="Calibri" panose="020F0502020204030204" pitchFamily="34" charset="0"/>
                      </a:endParaRPr>
                    </a:p>
                    <a:p>
                      <a:pPr algn="ctr" fontAlgn="ctr"/>
                      <a:r>
                        <a:rPr lang="en-US" sz="1100" b="1" u="none" strike="noStrike" dirty="0" smtClean="0">
                          <a:solidFill>
                            <a:schemeClr val="bg1"/>
                          </a:solidFill>
                          <a:effectLst/>
                          <a:latin typeface="Calibri" panose="020F0502020204030204" pitchFamily="34" charset="0"/>
                        </a:rPr>
                        <a:t> </a:t>
                      </a:r>
                      <a:r>
                        <a:rPr lang="en-US" sz="1100" b="1" u="none" strike="noStrike" dirty="0">
                          <a:solidFill>
                            <a:schemeClr val="bg1"/>
                          </a:solidFill>
                          <a:effectLst/>
                          <a:latin typeface="Calibri" panose="020F0502020204030204" pitchFamily="34" charset="0"/>
                        </a:rPr>
                        <a:t>(Message Type ID:0200/0100)</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6">
                  <a:txBody>
                    <a:bodyPr/>
                    <a:lstStyle/>
                    <a:p>
                      <a:pPr algn="ctr" fontAlgn="ctr"/>
                      <a:r>
                        <a:rPr lang="fr-FR" sz="1100" b="1" u="none" strike="noStrike" dirty="0">
                          <a:solidFill>
                            <a:schemeClr val="bg1"/>
                          </a:solidFill>
                          <a:effectLst/>
                          <a:latin typeface="Calibri" panose="020F0502020204030204" pitchFamily="34" charset="0"/>
                        </a:rPr>
                        <a:t>GSCS-&gt;ACQ  </a:t>
                      </a:r>
                      <a:endParaRPr lang="fr-FR" sz="1100" b="1" u="none" strike="noStrike" dirty="0" smtClean="0">
                        <a:solidFill>
                          <a:schemeClr val="bg1"/>
                        </a:solidFill>
                        <a:effectLst/>
                        <a:latin typeface="Calibri" panose="020F0502020204030204" pitchFamily="34" charset="0"/>
                      </a:endParaRPr>
                    </a:p>
                    <a:p>
                      <a:pPr algn="ctr" fontAlgn="ctr"/>
                      <a:r>
                        <a:rPr lang="fr-FR" sz="1100" b="1" u="none" strike="noStrike" dirty="0" smtClean="0">
                          <a:solidFill>
                            <a:schemeClr val="bg1"/>
                          </a:solidFill>
                          <a:effectLst/>
                          <a:latin typeface="Calibri" panose="020F0502020204030204" pitchFamily="34" charset="0"/>
                        </a:rPr>
                        <a:t>(</a:t>
                      </a:r>
                      <a:r>
                        <a:rPr lang="fr-FR" sz="1100" b="1" u="none" strike="noStrike" dirty="0">
                          <a:solidFill>
                            <a:schemeClr val="bg1"/>
                          </a:solidFill>
                          <a:effectLst/>
                          <a:latin typeface="Calibri" panose="020F0502020204030204" pitchFamily="34" charset="0"/>
                        </a:rPr>
                        <a:t>Message Type ID:0210/0110)</a:t>
                      </a:r>
                      <a:endParaRPr lang="fr-FR"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71644">
                <a:tc vMerge="1">
                  <a:txBody>
                    <a:bodyPr/>
                    <a:lstStyle/>
                    <a:p>
                      <a:endParaRPr lang="zh-CN" altLang="en-US"/>
                    </a:p>
                  </a:txBody>
                  <a:tcPr/>
                </a:tc>
                <a:tc>
                  <a:txBody>
                    <a:bodyPr/>
                    <a:lstStyle/>
                    <a:p>
                      <a:pPr algn="ctr" fontAlgn="ctr"/>
                      <a:r>
                        <a:rPr lang="en-US" sz="1100" b="1" u="none" strike="noStrike">
                          <a:solidFill>
                            <a:schemeClr val="bg1"/>
                          </a:solidFill>
                          <a:effectLst/>
                          <a:latin typeface="Calibri" panose="020F0502020204030204" pitchFamily="34" charset="0"/>
                        </a:rPr>
                        <a:t>F2</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F22</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F60.2.5</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F60.3.6</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F125</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Other</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F2</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F22</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F60.2.5</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a:solidFill>
                            <a:schemeClr val="bg1"/>
                          </a:solidFill>
                          <a:effectLst/>
                          <a:latin typeface="Calibri" panose="020F0502020204030204" pitchFamily="34" charset="0"/>
                        </a:rPr>
                        <a:t>F60.3.6</a:t>
                      </a:r>
                      <a:endParaRPr lang="en-US" sz="1100" b="1" i="0" u="none" strike="noStrike">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F125</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c>
                  <a:txBody>
                    <a:bodyPr/>
                    <a:lstStyle/>
                    <a:p>
                      <a:pPr algn="ctr" fontAlgn="ctr"/>
                      <a:r>
                        <a:rPr lang="en-US" sz="1100" b="1" u="none" strike="noStrike" dirty="0">
                          <a:solidFill>
                            <a:schemeClr val="bg1"/>
                          </a:solidFill>
                          <a:effectLst/>
                          <a:latin typeface="Calibri" panose="020F0502020204030204" pitchFamily="34" charset="0"/>
                        </a:rPr>
                        <a:t>Other</a:t>
                      </a:r>
                      <a:endParaRPr lang="en-US" sz="1100" b="1" i="0" u="none" strike="noStrike" dirty="0">
                        <a:solidFill>
                          <a:schemeClr val="bg1"/>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3072AE"/>
                    </a:solidFill>
                  </a:tcPr>
                </a:tc>
              </a:tr>
              <a:tr h="271644">
                <a:tc>
                  <a:txBody>
                    <a:bodyPr/>
                    <a:lstStyle/>
                    <a:p>
                      <a:pPr algn="l" fontAlgn="ctr"/>
                      <a:r>
                        <a:rPr lang="en-US" sz="1100" u="none" strike="noStrike" dirty="0">
                          <a:effectLst/>
                          <a:latin typeface="Calibri" panose="020F0502020204030204" pitchFamily="34" charset="0"/>
                        </a:rPr>
                        <a:t>Purchase</a:t>
                      </a:r>
                      <a:endParaRPr lang="en-US" sz="1100" b="0" i="0" u="none" strike="noStrike" dirty="0">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dirty="0">
                          <a:effectLst/>
                          <a:latin typeface="Calibri" panose="020F0502020204030204" pitchFamily="34" charset="0"/>
                        </a:rPr>
                        <a:t>07</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dirty="0">
                          <a:effectLst/>
                          <a:latin typeface="Calibri" panose="020F0502020204030204" pitchFamily="34" charset="0"/>
                        </a:rPr>
                        <a:t>-&gt;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M</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271644">
                <a:tc>
                  <a:txBody>
                    <a:bodyPr/>
                    <a:lstStyle/>
                    <a:p>
                      <a:pPr algn="l" fontAlgn="ctr"/>
                      <a:r>
                        <a:rPr lang="en-US" sz="1100" u="none" strike="noStrike">
                          <a:effectLst/>
                          <a:latin typeface="Calibri" panose="020F0502020204030204" pitchFamily="34" charset="0"/>
                        </a:rPr>
                        <a:t>Reversal</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dirty="0">
                          <a:effectLst/>
                          <a:latin typeface="Calibri" panose="020F0502020204030204" pitchFamily="34" charset="0"/>
                        </a:rPr>
                        <a:t>-&gt;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M</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271644">
                <a:tc>
                  <a:txBody>
                    <a:bodyPr/>
                    <a:lstStyle/>
                    <a:p>
                      <a:pPr algn="l" fontAlgn="ctr"/>
                      <a:r>
                        <a:rPr lang="en-US" sz="1100" u="none" strike="noStrike">
                          <a:effectLst/>
                          <a:latin typeface="Calibri" panose="020F0502020204030204" pitchFamily="34" charset="0"/>
                        </a:rPr>
                        <a:t>Cancellation</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altLang="zh-CN" sz="1100" u="none" strike="noStrike" dirty="0">
                          <a:effectLst/>
                          <a:latin typeface="Calibri" panose="020F0502020204030204" pitchFamily="34" charset="0"/>
                        </a:rPr>
                        <a:t>-&gt;</a:t>
                      </a:r>
                      <a:endParaRPr lang="en-US" altLang="zh-CN"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M</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Same as POS transaction</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r>
              <a:tr h="271644">
                <a:tc>
                  <a:txBody>
                    <a:bodyPr/>
                    <a:lstStyle/>
                    <a:p>
                      <a:pPr algn="l" fontAlgn="ctr"/>
                      <a:r>
                        <a:rPr lang="en-US" sz="1100" u="none" strike="noStrike">
                          <a:effectLst/>
                          <a:latin typeface="Calibri" panose="020F0502020204030204" pitchFamily="34" charset="0"/>
                        </a:rPr>
                        <a:t>Refund</a:t>
                      </a:r>
                      <a:endParaRPr lang="en-US" sz="1100" b="0" i="0" u="none" strike="noStrike">
                        <a:solidFill>
                          <a:srgbClr val="000000"/>
                        </a:solidFill>
                        <a:effectLst/>
                        <a:latin typeface="Calibri" panose="020F0502020204030204" pitchFamily="34" charset="0"/>
                      </a:endParaRPr>
                    </a:p>
                  </a:txBody>
                  <a:tcPr marL="7735" marR="7735" marT="7735" marB="0" anchor="ctr">
                    <a:lnL w="19050" cap="flat" cmpd="sng" algn="ctr">
                      <a:solidFill>
                        <a:schemeClr val="bg1">
                          <a:lumMod val="6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Same as POS transaction</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a:effectLst/>
                          <a:latin typeface="Calibri" panose="020F0502020204030204" pitchFamily="34" charset="0"/>
                        </a:rPr>
                        <a:t>M</a:t>
                      </a:r>
                      <a:endParaRPr lang="en-US"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94</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07</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altLang="zh-CN" sz="1100" u="none" strike="noStrike">
                          <a:effectLst/>
                          <a:latin typeface="Calibri" panose="020F0502020204030204" pitchFamily="34" charset="0"/>
                        </a:rPr>
                        <a:t>-&gt;</a:t>
                      </a:r>
                      <a:endParaRPr lang="en-US" altLang="zh-CN" sz="1100" b="0" i="0" u="none" strike="noStrike">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M</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c>
                  <a:txBody>
                    <a:bodyPr/>
                    <a:lstStyle/>
                    <a:p>
                      <a:pPr algn="ctr" fontAlgn="ctr"/>
                      <a:r>
                        <a:rPr lang="en-US" sz="1100" u="none" strike="noStrike" dirty="0">
                          <a:effectLst/>
                          <a:latin typeface="Calibri" panose="020F0502020204030204" pitchFamily="34" charset="0"/>
                        </a:rPr>
                        <a:t>Same as POS transaction</a:t>
                      </a:r>
                      <a:endParaRPr lang="en-US" sz="1100" b="0" i="0" u="none" strike="noStrike" dirty="0">
                        <a:solidFill>
                          <a:srgbClr val="000000"/>
                        </a:solidFill>
                        <a:effectLst/>
                        <a:latin typeface="Calibri" panose="020F0502020204030204" pitchFamily="34" charset="0"/>
                      </a:endParaRPr>
                    </a:p>
                  </a:txBody>
                  <a:tcPr marL="7735" marR="7735" marT="7735" marB="0" anchor="ctr">
                    <a:lnL w="9525"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tcPr>
                </a:tc>
              </a:tr>
            </a:tbl>
          </a:graphicData>
        </a:graphic>
      </p:graphicFrame>
      <p:cxnSp>
        <p:nvCxnSpPr>
          <p:cNvPr id="7" name="直接连接符 6"/>
          <p:cNvCxnSpPr/>
          <p:nvPr/>
        </p:nvCxnSpPr>
        <p:spPr>
          <a:xfrm>
            <a:off x="251519" y="4830420"/>
            <a:ext cx="115212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18033" y="4830420"/>
            <a:ext cx="7162279" cy="261610"/>
          </a:xfrm>
          <a:prstGeom prst="rect">
            <a:avLst/>
          </a:prstGeom>
        </p:spPr>
        <p:txBody>
          <a:bodyPr wrap="square" rtlCol="0">
            <a:spAutoFit/>
          </a:bodyPr>
          <a:lstStyle/>
          <a:p>
            <a:r>
              <a:rPr lang="en-US" altLang="zh-CN" sz="1050" dirty="0" smtClean="0">
                <a:solidFill>
                  <a:schemeClr val="bg1">
                    <a:lumMod val="50000"/>
                  </a:schemeClr>
                </a:solidFill>
                <a:latin typeface="Calibri" panose="020F0502020204030204" pitchFamily="34" charset="0"/>
                <a:ea typeface="黑体" pitchFamily="49" charset="-122"/>
              </a:rPr>
              <a:t>* If  ACQ support UPI UPLAN, ACQ  shall support Field 113 to get UPLAN discount information. </a:t>
            </a:r>
            <a:endParaRPr lang="zh-CN" altLang="en-US" sz="1050" dirty="0" err="1" smtClean="0">
              <a:solidFill>
                <a:schemeClr val="bg1">
                  <a:lumMod val="50000"/>
                </a:schemeClr>
              </a:solidFill>
              <a:latin typeface="Calibri" panose="020F0502020204030204" pitchFamily="34" charset="0"/>
              <a:ea typeface="黑体" pitchFamily="49" charset="-122"/>
            </a:endParaRPr>
          </a:p>
        </p:txBody>
      </p:sp>
    </p:spTree>
    <p:extLst>
      <p:ext uri="{BB962C8B-B14F-4D97-AF65-F5344CB8AC3E}">
        <p14:creationId xmlns:p14="http://schemas.microsoft.com/office/powerpoint/2010/main" val="7795510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a:latin typeface="Georgia" pitchFamily="18" charset="0"/>
                <a:ea typeface="黑体" pitchFamily="49" charset="-122"/>
              </a:rPr>
              <a:t>Impact to </a:t>
            </a:r>
            <a:r>
              <a:rPr lang="en-US" altLang="zh-CN" sz="2000" b="1" dirty="0" smtClean="0">
                <a:latin typeface="Georgia" pitchFamily="18" charset="0"/>
                <a:ea typeface="黑体" pitchFamily="49" charset="-122"/>
              </a:rPr>
              <a:t>Acquirer System – Online Message</a:t>
            </a:r>
            <a:endParaRPr lang="zh-CN" altLang="en-US" sz="2000" b="1" dirty="0">
              <a:latin typeface="Georgia" pitchFamily="18" charset="0"/>
              <a:ea typeface="黑体"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252944604"/>
              </p:ext>
            </p:extLst>
          </p:nvPr>
        </p:nvGraphicFramePr>
        <p:xfrm>
          <a:off x="323528" y="483518"/>
          <a:ext cx="8424940" cy="4305871"/>
        </p:xfrm>
        <a:graphic>
          <a:graphicData uri="http://schemas.openxmlformats.org/drawingml/2006/table">
            <a:tbl>
              <a:tblPr/>
              <a:tblGrid>
                <a:gridCol w="432048"/>
                <a:gridCol w="1296144"/>
                <a:gridCol w="1084885"/>
                <a:gridCol w="499291"/>
                <a:gridCol w="576064"/>
                <a:gridCol w="720080"/>
                <a:gridCol w="720080"/>
                <a:gridCol w="648072"/>
                <a:gridCol w="83859"/>
                <a:gridCol w="1140277"/>
                <a:gridCol w="720080"/>
                <a:gridCol w="504060"/>
              </a:tblGrid>
              <a:tr h="392284">
                <a:tc rowSpan="2" gridSpan="2">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Transaction Type</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rowSpan="2" hMerge="1">
                  <a:txBody>
                    <a:bodyPr/>
                    <a:lstStyle/>
                    <a:p>
                      <a:endParaRPr lang="zh-CN" altLang="en-US"/>
                    </a:p>
                  </a:txBody>
                  <a:tcPr/>
                </a:tc>
                <a:tc gridSpan="2">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Online Message (ISO 8583) </a:t>
                      </a:r>
                      <a:br>
                        <a:rPr lang="en-US" sz="1000" b="1" i="0" u="none" strike="noStrike" kern="1200" dirty="0">
                          <a:solidFill>
                            <a:schemeClr val="bg1"/>
                          </a:solidFill>
                          <a:effectLst/>
                          <a:latin typeface="Calibri" panose="020F0502020204030204" pitchFamily="34" charset="0"/>
                          <a:ea typeface="+mn-ea"/>
                          <a:cs typeface="+mn-cs"/>
                        </a:rPr>
                      </a:br>
                      <a:r>
                        <a:rPr lang="en-US" sz="1000" b="1" i="0" u="none" strike="noStrike" kern="1200" dirty="0" smtClean="0">
                          <a:solidFill>
                            <a:schemeClr val="bg1"/>
                          </a:solidFill>
                          <a:effectLst/>
                          <a:latin typeface="Calibri" panose="020F0502020204030204" pitchFamily="34" charset="0"/>
                          <a:ea typeface="+mn-ea"/>
                          <a:cs typeface="+mn-cs"/>
                        </a:rPr>
                        <a:t>UPI (GSCS) -&gt; </a:t>
                      </a:r>
                      <a:r>
                        <a:rPr lang="en-US" sz="1000" b="1" i="0" u="none" strike="noStrike" kern="1200" dirty="0">
                          <a:solidFill>
                            <a:schemeClr val="bg1"/>
                          </a:solidFill>
                          <a:effectLst/>
                          <a:latin typeface="Calibri" panose="020F0502020204030204" pitchFamily="34" charset="0"/>
                          <a:ea typeface="+mn-ea"/>
                          <a:cs typeface="+mn-cs"/>
                        </a:rPr>
                        <a:t>ACQ</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gridSpan="8">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Online Message (ISO 8583) </a:t>
                      </a:r>
                      <a:br>
                        <a:rPr lang="en-US" sz="1000" b="1" i="0" u="none" strike="noStrike" kern="1200" dirty="0">
                          <a:solidFill>
                            <a:schemeClr val="bg1"/>
                          </a:solidFill>
                          <a:effectLst/>
                          <a:latin typeface="Calibri" panose="020F0502020204030204" pitchFamily="34" charset="0"/>
                          <a:ea typeface="+mn-ea"/>
                          <a:cs typeface="+mn-cs"/>
                        </a:rPr>
                      </a:br>
                      <a:r>
                        <a:rPr lang="en-US" sz="1000" b="1" i="0" u="none" strike="noStrike" kern="1200" dirty="0">
                          <a:solidFill>
                            <a:schemeClr val="bg1"/>
                          </a:solidFill>
                          <a:effectLst/>
                          <a:latin typeface="Calibri" panose="020F0502020204030204" pitchFamily="34" charset="0"/>
                          <a:ea typeface="+mn-ea"/>
                          <a:cs typeface="+mn-cs"/>
                        </a:rPr>
                        <a:t>ACQ -&gt; </a:t>
                      </a:r>
                      <a:r>
                        <a:rPr lang="en-US" altLang="zh-CN" sz="1000" b="1" i="0" u="none" strike="noStrike" kern="1200" dirty="0" smtClean="0">
                          <a:solidFill>
                            <a:schemeClr val="bg1"/>
                          </a:solidFill>
                          <a:effectLst/>
                          <a:latin typeface="Calibri" panose="020F0502020204030204" pitchFamily="34" charset="0"/>
                          <a:ea typeface="+mn-ea"/>
                          <a:cs typeface="+mn-cs"/>
                        </a:rPr>
                        <a:t>UPI (GSCS) </a:t>
                      </a:r>
                      <a:endParaRPr lang="en-US" sz="1000" b="1" i="0" u="none" strike="noStrike" kern="1200" dirty="0">
                        <a:solidFill>
                          <a:schemeClr val="bg1"/>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72069">
                <a:tc gridSpan="2" vMerge="1">
                  <a:txBody>
                    <a:bodyPr/>
                    <a:lstStyle/>
                    <a:p>
                      <a:endParaRPr lang="zh-CN" altLang="en-US"/>
                    </a:p>
                  </a:txBody>
                  <a:tcPr/>
                </a:tc>
                <a:tc hMerge="1" vMerge="1">
                  <a:txBody>
                    <a:bodyPr/>
                    <a:lstStyle/>
                    <a:p>
                      <a:endParaRPr lang="zh-CN" altLang="en-US"/>
                    </a:p>
                  </a:txBody>
                  <a:tcPr/>
                </a:tc>
                <a:tc>
                  <a:txBody>
                    <a:bodyPr/>
                    <a:lstStyle/>
                    <a:p>
                      <a:pPr marL="0" algn="ctr" defTabSz="914400" rtl="0" eaLnBrk="1" fontAlgn="ctr" latinLnBrk="0" hangingPunct="1"/>
                      <a:r>
                        <a:rPr lang="en-US" sz="1000" b="1" i="0" u="none" strike="noStrike" kern="1200" dirty="0" smtClean="0">
                          <a:solidFill>
                            <a:schemeClr val="bg1"/>
                          </a:solidFill>
                          <a:effectLst/>
                          <a:latin typeface="Calibri" panose="020F0502020204030204" pitchFamily="34" charset="0"/>
                          <a:ea typeface="+mn-ea"/>
                          <a:cs typeface="+mn-cs"/>
                        </a:rPr>
                        <a:t>F125</a:t>
                      </a:r>
                      <a:r>
                        <a:rPr lang="zh-CN" altLang="en-US" sz="1000" b="1" i="0" u="none" strike="noStrike" kern="1200" dirty="0" smtClean="0">
                          <a:solidFill>
                            <a:schemeClr val="bg1"/>
                          </a:solidFill>
                          <a:effectLst/>
                          <a:latin typeface="Calibri" panose="020F0502020204030204" pitchFamily="34" charset="0"/>
                          <a:ea typeface="+mn-ea"/>
                          <a:cs typeface="+mn-cs"/>
                        </a:rPr>
                        <a:t>（</a:t>
                      </a:r>
                      <a:r>
                        <a:rPr lang="en-US" altLang="zh-CN" sz="1000" b="1" i="0" u="none" strike="noStrike" kern="1200" dirty="0" smtClean="0">
                          <a:solidFill>
                            <a:schemeClr val="bg1"/>
                          </a:solidFill>
                          <a:effectLst/>
                          <a:latin typeface="Calibri" panose="020F0502020204030204" pitchFamily="34" charset="0"/>
                          <a:ea typeface="+mn-ea"/>
                          <a:cs typeface="+mn-cs"/>
                        </a:rPr>
                        <a:t>QRC voucher Number</a:t>
                      </a:r>
                      <a:r>
                        <a:rPr lang="zh-CN" altLang="en-US" sz="1000" b="1" i="0" u="none" strike="noStrike" kern="1200" dirty="0" smtClean="0">
                          <a:solidFill>
                            <a:schemeClr val="bg1"/>
                          </a:solidFill>
                          <a:effectLst/>
                          <a:latin typeface="Calibri" panose="020F0502020204030204" pitchFamily="34" charset="0"/>
                          <a:ea typeface="+mn-ea"/>
                          <a:cs typeface="+mn-cs"/>
                        </a:rPr>
                        <a:t>）</a:t>
                      </a:r>
                      <a:endParaRPr lang="en-US" sz="1000" b="1" i="0" u="none" strike="noStrike" kern="1200" dirty="0">
                        <a:solidFill>
                          <a:schemeClr val="bg1"/>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Other</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a:solidFill>
                            <a:schemeClr val="bg1"/>
                          </a:solidFill>
                          <a:effectLst/>
                          <a:latin typeface="Calibri" panose="020F0502020204030204" pitchFamily="34" charset="0"/>
                          <a:ea typeface="+mn-ea"/>
                          <a:cs typeface="+mn-cs"/>
                        </a:rPr>
                        <a:t>F2</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F22</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a:solidFill>
                            <a:schemeClr val="bg1"/>
                          </a:solidFill>
                          <a:effectLst/>
                          <a:latin typeface="Calibri" panose="020F0502020204030204" pitchFamily="34" charset="0"/>
                          <a:ea typeface="+mn-ea"/>
                          <a:cs typeface="+mn-cs"/>
                        </a:rPr>
                        <a:t>F23</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a:solidFill>
                            <a:schemeClr val="bg1"/>
                          </a:solidFill>
                          <a:effectLst/>
                          <a:latin typeface="Calibri" panose="020F0502020204030204" pitchFamily="34" charset="0"/>
                          <a:ea typeface="+mn-ea"/>
                          <a:cs typeface="+mn-cs"/>
                        </a:rPr>
                        <a:t>F35</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gridSpan="2">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F55</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hMerge="1">
                  <a:txBody>
                    <a:bodyPr/>
                    <a:lstStyle/>
                    <a:p>
                      <a:pPr marL="0" algn="ctr" defTabSz="914400" rtl="0" eaLnBrk="1" fontAlgn="ctr" latinLnBrk="0" hangingPunct="1"/>
                      <a:endParaRPr lang="en-US" sz="1000" b="1" i="0" u="none" strike="noStrike" kern="1200" dirty="0">
                        <a:solidFill>
                          <a:schemeClr val="bg1"/>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F125</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c>
                  <a:txBody>
                    <a:bodyPr/>
                    <a:lstStyle/>
                    <a:p>
                      <a:pPr marL="0" algn="ctr" defTabSz="914400" rtl="0" eaLnBrk="1" fontAlgn="ctr" latinLnBrk="0" hangingPunct="1"/>
                      <a:r>
                        <a:rPr lang="en-US" sz="1000" b="1" i="0" u="none" strike="noStrike" kern="1200" dirty="0">
                          <a:solidFill>
                            <a:schemeClr val="bg1"/>
                          </a:solidFill>
                          <a:effectLst/>
                          <a:latin typeface="Calibri" panose="020F0502020204030204" pitchFamily="34" charset="0"/>
                          <a:ea typeface="+mn-ea"/>
                          <a:cs typeface="+mn-cs"/>
                        </a:rPr>
                        <a:t>Other</a:t>
                      </a: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3072AE"/>
                    </a:solidFill>
                  </a:tcPr>
                </a:tc>
              </a:tr>
              <a:tr h="1085684">
                <a:tc gridSpan="2">
                  <a:txBody>
                    <a:bodyPr/>
                    <a:lstStyle/>
                    <a:p>
                      <a:pPr algn="l" fontAlgn="ctr"/>
                      <a:r>
                        <a:rPr lang="en-US" sz="1000" b="0" i="0" u="none" strike="noStrike" kern="1200" dirty="0" smtClean="0">
                          <a:solidFill>
                            <a:sysClr val="windowText" lastClr="000000"/>
                          </a:solidFill>
                          <a:effectLst/>
                          <a:latin typeface="Calibri" panose="020F0502020204030204" pitchFamily="34" charset="0"/>
                          <a:ea typeface="+mn-ea"/>
                          <a:cs typeface="+mn-cs"/>
                        </a:rPr>
                        <a:t>Purchase (Single Message) /</a:t>
                      </a:r>
                      <a:r>
                        <a:rPr lang="en-US" sz="1000" b="0" i="0" u="none" strike="noStrike" kern="1200" dirty="0">
                          <a:solidFill>
                            <a:sysClr val="windowText" lastClr="000000"/>
                          </a:solidFill>
                          <a:effectLst/>
                          <a:latin typeface="Calibri" panose="020F0502020204030204" pitchFamily="34" charset="0"/>
                          <a:ea typeface="+mn-ea"/>
                          <a:cs typeface="+mn-cs"/>
                        </a:rPr>
                        <a:t>Authorization Transaction with Fixed </a:t>
                      </a:r>
                      <a:r>
                        <a:rPr lang="en-US" sz="1000" b="0" i="0" u="none" strike="noStrike" kern="1200" dirty="0" smtClean="0">
                          <a:solidFill>
                            <a:sysClr val="windowText" lastClr="000000"/>
                          </a:solidFill>
                          <a:effectLst/>
                          <a:latin typeface="Calibri" panose="020F0502020204030204" pitchFamily="34" charset="0"/>
                          <a:ea typeface="+mn-ea"/>
                          <a:cs typeface="+mn-cs"/>
                        </a:rPr>
                        <a:t>Amount(Dual </a:t>
                      </a:r>
                      <a:r>
                        <a:rPr lang="en-US" sz="1000" b="0" i="0" u="none" strike="noStrike" kern="1200" dirty="0">
                          <a:solidFill>
                            <a:sysClr val="windowText" lastClr="000000"/>
                          </a:solidFill>
                          <a:effectLst/>
                          <a:latin typeface="Calibri" panose="020F0502020204030204" pitchFamily="34" charset="0"/>
                          <a:ea typeface="+mn-ea"/>
                          <a:cs typeface="+mn-cs"/>
                        </a:rPr>
                        <a:t>Message）</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a:txBody>
                    <a:bodyPr/>
                    <a:lstStyle/>
                    <a:p>
                      <a:pPr algn="l" fontAlgn="ctr"/>
                      <a:r>
                        <a:rPr lang="en-US" sz="1000" b="0" i="0" u="none" strike="noStrike" kern="1200" dirty="0" smtClean="0">
                          <a:solidFill>
                            <a:sysClr val="windowText" lastClr="000000"/>
                          </a:solidFill>
                          <a:effectLst/>
                          <a:latin typeface="Calibri" panose="020F0502020204030204" pitchFamily="34" charset="0"/>
                          <a:ea typeface="+mn-ea"/>
                          <a:cs typeface="+mn-cs"/>
                        </a:rPr>
                        <a:t>C</a:t>
                      </a:r>
                      <a:r>
                        <a:rPr lang="en-US" altLang="zh-CN" sz="1000" b="0" i="0" u="none" strike="noStrike" kern="1200" dirty="0" smtClean="0">
                          <a:solidFill>
                            <a:sysClr val="windowText" lastClr="000000"/>
                          </a:solidFill>
                          <a:effectLst/>
                          <a:latin typeface="Calibri" panose="020F0502020204030204" pitchFamily="34" charset="0"/>
                          <a:ea typeface="+mn-ea"/>
                          <a:cs typeface="+mn-cs"/>
                        </a:rPr>
                        <a:t>onditional</a:t>
                      </a:r>
                      <a:r>
                        <a:rPr lang="en-US" altLang="zh-CN" sz="1000" b="0" i="0" u="none" strike="noStrike" kern="1200" baseline="0" dirty="0" smtClean="0">
                          <a:solidFill>
                            <a:sysClr val="windowText" lastClr="000000"/>
                          </a:solidFill>
                          <a:effectLst/>
                          <a:latin typeface="Calibri" panose="020F0502020204030204" pitchFamily="34" charset="0"/>
                          <a:ea typeface="+mn-ea"/>
                          <a:cs typeface="+mn-cs"/>
                        </a:rPr>
                        <a:t> </a:t>
                      </a:r>
                      <a:r>
                        <a:rPr lang="en-US" sz="1000" b="0" i="0" u="none" strike="noStrike" kern="1200" dirty="0" smtClean="0">
                          <a:solidFill>
                            <a:sysClr val="windowText" lastClr="000000"/>
                          </a:solidFill>
                          <a:effectLst/>
                          <a:latin typeface="Calibri" panose="020F0502020204030204" pitchFamily="34" charset="0"/>
                          <a:ea typeface="+mn-ea"/>
                          <a:cs typeface="+mn-cs"/>
                        </a:rPr>
                        <a:t>for </a:t>
                      </a:r>
                      <a:r>
                        <a:rPr lang="en-US" sz="1000" b="0" i="0" u="none" strike="noStrike" kern="1200" dirty="0">
                          <a:solidFill>
                            <a:sysClr val="windowText" lastClr="000000"/>
                          </a:solidFill>
                          <a:effectLst/>
                          <a:latin typeface="Calibri" panose="020F0502020204030204" pitchFamily="34" charset="0"/>
                          <a:ea typeface="+mn-ea"/>
                          <a:cs typeface="+mn-cs"/>
                        </a:rPr>
                        <a:t>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ctr" fontAlgn="ctr"/>
                      <a:r>
                        <a:rPr lang="en-US" sz="1000" b="0" i="0" u="none" strike="noStrike" kern="1200" dirty="0">
                          <a:solidFill>
                            <a:sysClr val="windowText" lastClr="000000"/>
                          </a:solidFill>
                          <a:effectLst/>
                          <a:latin typeface="Calibri" panose="020F0502020204030204" pitchFamily="34" charset="0"/>
                          <a:ea typeface="+mn-ea"/>
                          <a:cs typeface="+mn-cs"/>
                        </a:rPr>
                        <a:t>Same as IC Card Transaction</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en-US" sz="1000" b="0" i="0" u="none" strike="noStrike" dirty="0">
                          <a:solidFill>
                            <a:srgbClr val="000000"/>
                          </a:solidFill>
                          <a:effectLst/>
                          <a:latin typeface="Calibri" panose="020F0502020204030204" pitchFamily="34" charset="0"/>
                        </a:rPr>
                        <a:t>Terminal </a:t>
                      </a:r>
                      <a:r>
                        <a:rPr lang="en-US" sz="1000" b="0" i="0" u="none" strike="noStrike" dirty="0" smtClean="0">
                          <a:solidFill>
                            <a:srgbClr val="000000"/>
                          </a:solidFill>
                          <a:effectLst/>
                          <a:latin typeface="Calibri" panose="020F0502020204030204" pitchFamily="34" charset="0"/>
                        </a:rPr>
                        <a:t>retrieve from </a:t>
                      </a:r>
                      <a:r>
                        <a:rPr lang="en-US" sz="1000" b="0" i="0" u="none" strike="noStrike" dirty="0">
                          <a:solidFill>
                            <a:srgbClr val="000000"/>
                          </a:solidFill>
                          <a:effectLst/>
                          <a:latin typeface="Calibri" panose="020F0502020204030204" pitchFamily="34" charset="0"/>
                        </a:rPr>
                        <a:t>Tag 57 in QR Code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en-US" sz="1000" b="0" i="0" u="none" strike="noStrike" dirty="0">
                          <a:solidFill>
                            <a:srgbClr val="FF0000"/>
                          </a:solidFill>
                          <a:effectLst/>
                          <a:latin typeface="Calibri" panose="020F0502020204030204" pitchFamily="34" charset="0"/>
                        </a:rPr>
                        <a:t> F22: 03 (Consumer presented QR Code, chip information included)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en-US" sz="1000" b="0" i="0" u="none" strike="noStrike" dirty="0">
                          <a:solidFill>
                            <a:srgbClr val="000000"/>
                          </a:solidFill>
                          <a:effectLst/>
                          <a:latin typeface="Calibri" panose="020F0502020204030204" pitchFamily="34" charset="0"/>
                        </a:rPr>
                        <a:t>Terminal </a:t>
                      </a:r>
                      <a:r>
                        <a:rPr lang="en-US" sz="1000" b="0" i="0" u="none" strike="noStrike" dirty="0" smtClean="0">
                          <a:solidFill>
                            <a:srgbClr val="000000"/>
                          </a:solidFill>
                          <a:effectLst/>
                          <a:latin typeface="Calibri" panose="020F0502020204030204" pitchFamily="34" charset="0"/>
                        </a:rPr>
                        <a:t>retrieve Tag </a:t>
                      </a:r>
                      <a:r>
                        <a:rPr lang="en-US" sz="1000" b="0" i="0" u="none" strike="noStrike" dirty="0">
                          <a:solidFill>
                            <a:srgbClr val="000000"/>
                          </a:solidFill>
                          <a:effectLst/>
                          <a:latin typeface="Calibri" panose="020F0502020204030204" pitchFamily="34" charset="0"/>
                        </a:rPr>
                        <a:t>5F34 </a:t>
                      </a:r>
                      <a:r>
                        <a:rPr lang="en-US" sz="1000" b="0" i="0" u="none" strike="noStrike" dirty="0" smtClean="0">
                          <a:solidFill>
                            <a:srgbClr val="000000"/>
                          </a:solidFill>
                          <a:effectLst/>
                          <a:latin typeface="Calibri" panose="020F0502020204030204" pitchFamily="34" charset="0"/>
                        </a:rPr>
                        <a:t>from </a:t>
                      </a:r>
                      <a:r>
                        <a:rPr lang="en-US" sz="1000" b="0" i="0" u="none" strike="noStrike" dirty="0">
                          <a:solidFill>
                            <a:srgbClr val="000000"/>
                          </a:solidFill>
                          <a:effectLst/>
                          <a:latin typeface="Calibri" panose="020F0502020204030204" pitchFamily="34" charset="0"/>
                        </a:rPr>
                        <a:t>QR Code. </a:t>
                      </a:r>
                      <a:endParaRPr lang="en-US" sz="1000" b="0" i="0" u="none" strike="noStrike" dirty="0" smtClean="0">
                        <a:solidFill>
                          <a:srgbClr val="000000"/>
                        </a:solidFill>
                        <a:effectLst/>
                        <a:latin typeface="Calibri" panose="020F0502020204030204" pitchFamily="34" charset="0"/>
                      </a:endParaRPr>
                    </a:p>
                    <a:p>
                      <a:pPr algn="l" fontAlgn="ctr"/>
                      <a:r>
                        <a:rPr lang="en-US" sz="1000" b="0" i="0" u="none" strike="noStrike" dirty="0" smtClean="0">
                          <a:solidFill>
                            <a:srgbClr val="000000"/>
                          </a:solidFill>
                          <a:effectLst/>
                          <a:latin typeface="Calibri" panose="020F0502020204030204" pitchFamily="34" charset="0"/>
                        </a:rPr>
                        <a:t>Pad</a:t>
                      </a:r>
                      <a:r>
                        <a:rPr lang="en-US" sz="1000" b="0" i="0" u="none" strike="noStrike" baseline="0" dirty="0" smtClean="0">
                          <a:solidFill>
                            <a:srgbClr val="000000"/>
                          </a:solidFill>
                          <a:effectLst/>
                          <a:latin typeface="Calibri" panose="020F0502020204030204" pitchFamily="34" charset="0"/>
                        </a:rPr>
                        <a:t> one</a:t>
                      </a:r>
                      <a:r>
                        <a:rPr lang="en-US" sz="1000" b="0" i="0" u="none" strike="noStrike" dirty="0" smtClean="0">
                          <a:solidFill>
                            <a:srgbClr val="000000"/>
                          </a:solidFill>
                          <a:effectLst/>
                          <a:latin typeface="Calibri" panose="020F0502020204030204" pitchFamily="34" charset="0"/>
                        </a:rPr>
                        <a:t> leading</a:t>
                      </a:r>
                      <a:r>
                        <a:rPr lang="en-US" sz="1000" b="0" i="0" u="none" strike="noStrike" baseline="0" dirty="0" smtClean="0">
                          <a:solidFill>
                            <a:srgbClr val="000000"/>
                          </a:solidFill>
                          <a:effectLst/>
                          <a:latin typeface="Calibri" panose="020F0502020204030204" pitchFamily="34" charset="0"/>
                        </a:rPr>
                        <a:t> zero</a:t>
                      </a:r>
                      <a:endParaRPr lang="en-US" sz="1000" b="0" i="0" u="none" strike="noStrike" dirty="0" smtClean="0">
                        <a:solidFill>
                          <a:srgbClr val="000000"/>
                        </a:solidFill>
                        <a:effectLst/>
                        <a:latin typeface="Calibri" panose="020F0502020204030204" pitchFamily="34" charset="0"/>
                      </a:endParaRPr>
                    </a:p>
                    <a:p>
                      <a:pPr algn="l" fontAlgn="ctr"/>
                      <a:r>
                        <a:rPr lang="en-US" sz="1000" b="0" i="0" u="none" strike="noStrike" dirty="0" smtClean="0">
                          <a:solidFill>
                            <a:srgbClr val="000000"/>
                          </a:solidFill>
                          <a:effectLst/>
                          <a:latin typeface="Calibri" panose="020F0502020204030204" pitchFamily="34" charset="0"/>
                        </a:rPr>
                        <a:t>And Fill </a:t>
                      </a:r>
                      <a:r>
                        <a:rPr lang="en-US" sz="1000" b="0" i="0" u="none" strike="noStrike" dirty="0">
                          <a:solidFill>
                            <a:srgbClr val="000000"/>
                          </a:solidFill>
                          <a:effectLst/>
                          <a:latin typeface="Calibri" panose="020F0502020204030204" pitchFamily="34" charset="0"/>
                        </a:rPr>
                        <a:t>into </a:t>
                      </a:r>
                      <a:r>
                        <a:rPr lang="en-US" sz="1000" b="0" i="0" u="none" strike="noStrike" dirty="0" smtClean="0">
                          <a:solidFill>
                            <a:srgbClr val="000000"/>
                          </a:solidFill>
                          <a:effectLst/>
                          <a:latin typeface="Calibri" panose="020F0502020204030204" pitchFamily="34" charset="0"/>
                        </a:rPr>
                        <a:t>F23  </a:t>
                      </a:r>
                      <a:r>
                        <a:rPr lang="en-US" sz="1000" b="0" i="0" u="none" strike="noStrike" dirty="0">
                          <a:solidFill>
                            <a:srgbClr val="000000"/>
                          </a:solidFill>
                          <a:effectLst/>
                          <a:latin typeface="Calibri" panose="020F0502020204030204" pitchFamily="34" charset="0"/>
                        </a:rPr>
                        <a:t>E.g. Tag 5F34=01, fill into F23 with 001)</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dirty="0" smtClean="0">
                          <a:solidFill>
                            <a:srgbClr val="000000"/>
                          </a:solidFill>
                          <a:effectLst/>
                          <a:latin typeface="Calibri" panose="020F0502020204030204" pitchFamily="34" charset="0"/>
                        </a:rPr>
                        <a:t>Tag </a:t>
                      </a:r>
                      <a:r>
                        <a:rPr lang="en-US" sz="1000" b="0" i="0" u="none" strike="noStrike" dirty="0">
                          <a:solidFill>
                            <a:srgbClr val="000000"/>
                          </a:solidFill>
                          <a:effectLst/>
                          <a:latin typeface="Calibri" panose="020F0502020204030204" pitchFamily="34" charset="0"/>
                        </a:rPr>
                        <a:t>57 </a:t>
                      </a:r>
                      <a:r>
                        <a:rPr lang="en-US" sz="1000" b="0" i="0" u="none" strike="noStrike" dirty="0" smtClean="0">
                          <a:solidFill>
                            <a:srgbClr val="000000"/>
                          </a:solidFill>
                          <a:effectLst/>
                          <a:latin typeface="Calibri" panose="020F0502020204030204" pitchFamily="34" charset="0"/>
                        </a:rPr>
                        <a:t>retrieved by terminal from </a:t>
                      </a:r>
                      <a:r>
                        <a:rPr lang="en-US" sz="1000" b="0" i="0" u="none" strike="noStrike" dirty="0">
                          <a:solidFill>
                            <a:srgbClr val="000000"/>
                          </a:solidFill>
                          <a:effectLst/>
                          <a:latin typeface="Calibri" panose="020F0502020204030204" pitchFamily="34" charset="0"/>
                        </a:rPr>
                        <a:t>QR </a:t>
                      </a:r>
                      <a:r>
                        <a:rPr lang="en-US" sz="1000" b="0" i="0" u="none" strike="noStrike" dirty="0" smtClean="0">
                          <a:solidFill>
                            <a:srgbClr val="000000"/>
                          </a:solidFill>
                          <a:effectLst/>
                          <a:latin typeface="Calibri" panose="020F0502020204030204" pitchFamily="34" charset="0"/>
                        </a:rPr>
                        <a:t>Code </a:t>
                      </a:r>
                      <a:endParaRPr lang="en-US" sz="1000" b="0" i="0" u="none" strike="noStrike" dirty="0">
                        <a:solidFill>
                          <a:srgbClr val="000000"/>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fontAlgn="ctr"/>
                      <a:r>
                        <a:rPr lang="en-US" sz="1000" b="0" i="0" u="none" strike="noStrike" dirty="0" smtClean="0">
                          <a:solidFill>
                            <a:srgbClr val="FF0000"/>
                          </a:solidFill>
                          <a:effectLst/>
                          <a:latin typeface="Calibri" panose="020F0502020204030204" pitchFamily="34" charset="0"/>
                        </a:rPr>
                        <a:t>Include</a:t>
                      </a:r>
                      <a:r>
                        <a:rPr lang="en-US" sz="1000" b="0" i="0" u="none" strike="noStrike" baseline="0" dirty="0" smtClean="0">
                          <a:solidFill>
                            <a:srgbClr val="FF0000"/>
                          </a:solidFill>
                          <a:effectLst/>
                          <a:latin typeface="Calibri" panose="020F0502020204030204" pitchFamily="34" charset="0"/>
                        </a:rPr>
                        <a:t> : </a:t>
                      </a:r>
                    </a:p>
                    <a:p>
                      <a:pPr algn="l" fontAlgn="ctr"/>
                      <a:r>
                        <a:rPr lang="en-US" sz="1000" b="1" i="0" u="none" strike="noStrike" baseline="0" dirty="0" smtClean="0">
                          <a:solidFill>
                            <a:srgbClr val="FF0000"/>
                          </a:solidFill>
                          <a:effectLst/>
                          <a:latin typeface="Calibri" panose="020F0502020204030204" pitchFamily="34" charset="0"/>
                        </a:rPr>
                        <a:t>1. Card data</a:t>
                      </a:r>
                      <a:endParaRPr lang="en-US" sz="1000" b="1" i="0" u="none" strike="noStrike" dirty="0" smtClean="0">
                        <a:solidFill>
                          <a:srgbClr val="FF0000"/>
                        </a:solidFill>
                        <a:effectLst/>
                        <a:latin typeface="Calibri" panose="020F0502020204030204" pitchFamily="34" charset="0"/>
                      </a:endParaRPr>
                    </a:p>
                    <a:p>
                      <a:pPr algn="l" fontAlgn="ctr"/>
                      <a:r>
                        <a:rPr lang="en-US" sz="1000" b="0" i="0" u="none" strike="noStrike" dirty="0" smtClean="0">
                          <a:solidFill>
                            <a:srgbClr val="FF0000"/>
                          </a:solidFill>
                          <a:effectLst/>
                          <a:latin typeface="Calibri" panose="020F0502020204030204" pitchFamily="34" charset="0"/>
                        </a:rPr>
                        <a:t>Terminal retrieve from </a:t>
                      </a:r>
                      <a:r>
                        <a:rPr lang="en-US" sz="1000" b="0" i="0" u="none" strike="noStrike" dirty="0">
                          <a:solidFill>
                            <a:srgbClr val="FF0000"/>
                          </a:solidFill>
                          <a:effectLst/>
                          <a:latin typeface="Calibri" panose="020F0502020204030204" pitchFamily="34" charset="0"/>
                        </a:rPr>
                        <a:t>Tag 63 (including </a:t>
                      </a:r>
                      <a:r>
                        <a:rPr lang="en-US" sz="1000" b="0" i="0" u="none" strike="noStrike" dirty="0" smtClean="0">
                          <a:solidFill>
                            <a:srgbClr val="FF0000"/>
                          </a:solidFill>
                          <a:effectLst/>
                          <a:latin typeface="Calibri" panose="020F0502020204030204" pitchFamily="34" charset="0"/>
                        </a:rPr>
                        <a:t>all sub </a:t>
                      </a:r>
                      <a:r>
                        <a:rPr lang="en-US" sz="1000" b="0" i="0" u="none" strike="noStrike" dirty="0">
                          <a:solidFill>
                            <a:srgbClr val="FF0000"/>
                          </a:solidFill>
                          <a:effectLst/>
                          <a:latin typeface="Calibri" panose="020F0502020204030204" pitchFamily="34" charset="0"/>
                        </a:rPr>
                        <a:t>Tags) in QR Code. </a:t>
                      </a:r>
                      <a:endParaRPr lang="en-US" sz="1000" b="0" i="0" u="none" strike="noStrike" dirty="0" smtClean="0">
                        <a:solidFill>
                          <a:srgbClr val="FF0000"/>
                        </a:solidFill>
                        <a:effectLst/>
                        <a:latin typeface="Calibri" panose="020F0502020204030204" pitchFamily="34" charset="0"/>
                      </a:endParaRPr>
                    </a:p>
                    <a:p>
                      <a:pPr algn="l" fontAlgn="ctr"/>
                      <a:r>
                        <a:rPr lang="en-US" sz="1000" b="1" i="0" u="none" strike="noStrike" dirty="0" smtClean="0">
                          <a:solidFill>
                            <a:srgbClr val="FF0000"/>
                          </a:solidFill>
                          <a:effectLst/>
                          <a:latin typeface="Calibri" panose="020F0502020204030204" pitchFamily="34" charset="0"/>
                        </a:rPr>
                        <a:t>2. Terminal data</a:t>
                      </a:r>
                    </a:p>
                    <a:p>
                      <a:pPr algn="l" fontAlgn="ctr"/>
                      <a:r>
                        <a:rPr lang="en-US" sz="1000" b="0" i="0" u="none" strike="noStrike" dirty="0" smtClean="0">
                          <a:solidFill>
                            <a:srgbClr val="FF0000"/>
                          </a:solidFill>
                          <a:effectLst/>
                          <a:latin typeface="Calibri" panose="020F0502020204030204" pitchFamily="34" charset="0"/>
                        </a:rPr>
                        <a:t>use </a:t>
                      </a:r>
                      <a:r>
                        <a:rPr lang="en-US" sz="1000" b="0" i="0" u="none" strike="noStrike" dirty="0">
                          <a:solidFill>
                            <a:srgbClr val="FF0000"/>
                          </a:solidFill>
                          <a:effectLst/>
                          <a:latin typeface="Calibri" panose="020F0502020204030204" pitchFamily="34" charset="0"/>
                        </a:rPr>
                        <a:t>default values for </a:t>
                      </a:r>
                      <a:r>
                        <a:rPr lang="en-US" sz="1000" b="0" i="0" u="none" strike="noStrike" baseline="0" dirty="0" smtClean="0">
                          <a:solidFill>
                            <a:srgbClr val="FF0000"/>
                          </a:solidFill>
                          <a:effectLst/>
                          <a:latin typeface="Calibri" panose="020F0502020204030204" pitchFamily="34" charset="0"/>
                        </a:rPr>
                        <a:t> terminal data </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fontAlgn="ctr"/>
                      <a:endParaRPr lang="en-US" sz="1000" b="0" i="0" u="none" strike="noStrike" baseline="0" dirty="0" smtClean="0">
                        <a:solidFill>
                          <a:srgbClr val="FF0000"/>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Calibri" panose="020F0502020204030204" pitchFamily="34" charset="0"/>
                        </a:rPr>
                        <a:t>/</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l" fontAlgn="ctr"/>
                      <a:r>
                        <a:rPr lang="en-US" sz="1000" b="0" i="0" u="none" strike="noStrike" dirty="0">
                          <a:solidFill>
                            <a:srgbClr val="000000"/>
                          </a:solidFill>
                          <a:effectLst/>
                          <a:latin typeface="Calibri" panose="020F0502020204030204" pitchFamily="34" charset="0"/>
                        </a:rPr>
                        <a:t>Same as </a:t>
                      </a:r>
                      <a:r>
                        <a:rPr lang="en-US" sz="1000" b="0" i="0" u="none" strike="noStrike" dirty="0" smtClean="0">
                          <a:solidFill>
                            <a:srgbClr val="000000"/>
                          </a:solidFill>
                          <a:effectLst/>
                          <a:latin typeface="Calibri" panose="020F0502020204030204" pitchFamily="34" charset="0"/>
                        </a:rPr>
                        <a:t>Chip Transaction</a:t>
                      </a:r>
                      <a:endParaRPr lang="en-US" sz="1000" b="0" i="0" u="none" strike="noStrike" dirty="0">
                        <a:solidFill>
                          <a:srgbClr val="000000"/>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524745">
                <a:tc gridSpan="2">
                  <a:txBody>
                    <a:bodyPr/>
                    <a:lstStyle/>
                    <a:p>
                      <a:pPr algn="l" fontAlgn="ctr"/>
                      <a:r>
                        <a:rPr lang="en-US" sz="1000" b="0" i="0" u="none" strike="noStrike" kern="1200" dirty="0">
                          <a:solidFill>
                            <a:sysClr val="windowText" lastClr="000000"/>
                          </a:solidFill>
                          <a:effectLst/>
                          <a:latin typeface="Calibri" panose="020F0502020204030204" pitchFamily="34" charset="0"/>
                          <a:ea typeface="+mn-ea"/>
                          <a:cs typeface="+mn-cs"/>
                        </a:rPr>
                        <a:t>Reversal</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a:txBody>
                    <a:bodyPr/>
                    <a:lstStyle/>
                    <a:p>
                      <a:pPr algn="l" fontAlgn="ctr"/>
                      <a:r>
                        <a:rPr lang="en-US" sz="1000" b="0" i="0" u="none" strike="noStrike" kern="1200" dirty="0">
                          <a:solidFill>
                            <a:sysClr val="windowText" lastClr="000000"/>
                          </a:solidFill>
                          <a:effectLst/>
                          <a:latin typeface="Calibri" panose="020F0502020204030204" pitchFamily="34" charset="0"/>
                          <a:ea typeface="+mn-ea"/>
                          <a:cs typeface="+mn-cs"/>
                        </a:rPr>
                        <a:t>Optional for 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gridSpan="3">
                  <a:txBody>
                    <a:bodyPr/>
                    <a:lstStyle/>
                    <a:p>
                      <a:pPr algn="l" fontAlgn="ctr"/>
                      <a:r>
                        <a:rPr lang="en-US" sz="1000" b="1" i="0" u="none" strike="noStrike" dirty="0">
                          <a:solidFill>
                            <a:srgbClr val="000000"/>
                          </a:solidFill>
                          <a:effectLst/>
                          <a:latin typeface="Calibri" panose="020F0502020204030204" pitchFamily="34" charset="0"/>
                        </a:rPr>
                        <a:t>NOT </a:t>
                      </a:r>
                      <a:r>
                        <a:rPr lang="en-US" sz="1000" b="0" i="0" u="none" strike="noStrike" dirty="0">
                          <a:solidFill>
                            <a:srgbClr val="000000"/>
                          </a:solidFill>
                          <a:effectLst/>
                          <a:latin typeface="Calibri" panose="020F0502020204030204" pitchFamily="34" charset="0"/>
                        </a:rPr>
                        <a:t>Required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1000" b="0" i="0" u="none" strike="noStrike" dirty="0">
                          <a:solidFill>
                            <a:srgbClr val="000000"/>
                          </a:solidFill>
                          <a:effectLst/>
                          <a:latin typeface="Calibri" panose="020F0502020204030204" pitchFamily="34" charset="0"/>
                        </a:rPr>
                        <a:t>/</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r>
              <a:tr h="412931">
                <a:tc rowSpan="2">
                  <a:txBody>
                    <a:bodyPr/>
                    <a:lstStyle/>
                    <a:p>
                      <a:pPr algn="l" fontAlgn="ctr"/>
                      <a:r>
                        <a:rPr lang="en-US" sz="1000" b="0" i="0" u="none" strike="noStrike" kern="1200">
                          <a:solidFill>
                            <a:sysClr val="windowText" lastClr="000000"/>
                          </a:solidFill>
                          <a:effectLst/>
                          <a:latin typeface="Calibri" panose="020F0502020204030204" pitchFamily="34" charset="0"/>
                          <a:ea typeface="+mn-ea"/>
                          <a:cs typeface="+mn-cs"/>
                        </a:rPr>
                        <a:t>Cancellation</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zh-CN" sz="1000" b="0" i="0" u="none" strike="noStrike" kern="1200" dirty="0" smtClean="0">
                          <a:solidFill>
                            <a:sysClr val="windowText" lastClr="000000"/>
                          </a:solidFill>
                          <a:effectLst/>
                          <a:latin typeface="Calibri" panose="020F0502020204030204" pitchFamily="34" charset="0"/>
                          <a:ea typeface="+mn-ea"/>
                          <a:cs typeface="+mn-cs"/>
                        </a:rPr>
                        <a:t>If Transaction Receipt Supported on terminal</a:t>
                      </a:r>
                      <a:endParaRPr lang="en-US" altLang="zh-CN" sz="1000" b="0" i="0" u="none" strike="noStrike" kern="1200" dirty="0">
                        <a:solidFill>
                          <a:sysClr val="windowText" lastClr="000000"/>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dirty="0">
                          <a:solidFill>
                            <a:srgbClr val="000000"/>
                          </a:solidFill>
                          <a:effectLst/>
                          <a:latin typeface="Calibri" panose="020F0502020204030204" pitchFamily="34" charset="0"/>
                        </a:rPr>
                        <a:t>Optional for 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4" gridSpan="2">
                  <a:txBody>
                    <a:bodyPr/>
                    <a:lstStyle/>
                    <a:p>
                      <a:pPr algn="l" fontAlgn="ctr"/>
                      <a:r>
                        <a:rPr lang="en-US" altLang="zh-CN" sz="1000" b="0" i="0" u="none" strike="noStrike" dirty="0" smtClean="0">
                          <a:solidFill>
                            <a:srgbClr val="000000"/>
                          </a:solidFill>
                          <a:effectLst/>
                          <a:latin typeface="Calibri" panose="020F0502020204030204" pitchFamily="34" charset="0"/>
                        </a:rPr>
                        <a:t>Conditional</a:t>
                      </a:r>
                    </a:p>
                    <a:p>
                      <a:pPr algn="l" fontAlgn="ctr"/>
                      <a:r>
                        <a:rPr lang="en-US" altLang="zh-CN" sz="1000" b="0" i="0" u="none" strike="noStrike" baseline="0" dirty="0" smtClean="0">
                          <a:solidFill>
                            <a:srgbClr val="000000"/>
                          </a:solidFill>
                          <a:effectLst/>
                          <a:latin typeface="Calibri" panose="020F0502020204030204" pitchFamily="34" charset="0"/>
                        </a:rPr>
                        <a:t>(this field appear if tag57 is used in </a:t>
                      </a:r>
                      <a:r>
                        <a:rPr lang="en-US" altLang="zh-CN" sz="1000" b="0" i="0" u="none" strike="noStrike" baseline="0" smtClean="0">
                          <a:solidFill>
                            <a:srgbClr val="000000"/>
                          </a:solidFill>
                          <a:effectLst/>
                          <a:latin typeface="Calibri" panose="020F0502020204030204" pitchFamily="34" charset="0"/>
                        </a:rPr>
                        <a:t>the transaction)</a:t>
                      </a:r>
                      <a:endParaRPr lang="en-US" altLang="zh-CN" sz="1000" b="0" i="0" u="none" strike="noStrike" baseline="0" dirty="0" smtClean="0">
                        <a:solidFill>
                          <a:srgbClr val="000000"/>
                        </a:solidFill>
                        <a:effectLst/>
                        <a:latin typeface="Calibri" panose="020F0502020204030204" pitchFamily="34" charset="0"/>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rowSpan="4" hMerge="1">
                  <a:txBody>
                    <a:bodyPr/>
                    <a:lstStyle/>
                    <a:p>
                      <a:endParaRPr lang="zh-CN" altLang="en-US"/>
                    </a:p>
                  </a:txBody>
                  <a:tcPr/>
                </a:tc>
                <a:tc rowSpan="4">
                  <a:txBody>
                    <a:bodyPr/>
                    <a:lstStyle/>
                    <a:p>
                      <a:pPr algn="ctr" fontAlgn="ctr"/>
                      <a:r>
                        <a:rPr lang="en-US" sz="1000" b="1" i="0" u="none" strike="noStrike" dirty="0">
                          <a:solidFill>
                            <a:srgbClr val="000000"/>
                          </a:solidFill>
                          <a:effectLst/>
                          <a:latin typeface="Calibri" panose="020F0502020204030204" pitchFamily="34" charset="0"/>
                        </a:rPr>
                        <a:t>NOT</a:t>
                      </a:r>
                      <a:r>
                        <a:rPr lang="en-US" sz="1000" b="0" i="0" u="none" strike="noStrike" dirty="0">
                          <a:solidFill>
                            <a:srgbClr val="000000"/>
                          </a:solidFill>
                          <a:effectLst/>
                          <a:latin typeface="Calibri" panose="020F0502020204030204" pitchFamily="34" charset="0"/>
                        </a:rPr>
                        <a:t> Required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dirty="0">
                          <a:solidFill>
                            <a:srgbClr val="000000"/>
                          </a:solidFill>
                          <a:effectLst/>
                          <a:latin typeface="Calibri" panose="020F0502020204030204" pitchFamily="34" charset="0"/>
                        </a:rPr>
                        <a:t>Optional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r>
              <a:tr h="412931">
                <a:tc vMerge="1">
                  <a:txBody>
                    <a:bodyPr/>
                    <a:lstStyle/>
                    <a:p>
                      <a:endParaRPr lang="zh-CN" altLang="en-US"/>
                    </a:p>
                  </a:txBody>
                  <a:tcPr/>
                </a:tc>
                <a:tc>
                  <a:txBody>
                    <a:bodyPr/>
                    <a:lstStyle/>
                    <a:p>
                      <a:pPr algn="l" fontAlgn="ctr"/>
                      <a:r>
                        <a:rPr lang="en-US" altLang="zh-CN" sz="1000" b="0" i="0" u="none" strike="noStrike" kern="1200" dirty="0" smtClean="0">
                          <a:solidFill>
                            <a:sysClr val="windowText" lastClr="000000"/>
                          </a:solidFill>
                          <a:effectLst/>
                          <a:latin typeface="Calibri" panose="020F0502020204030204" pitchFamily="34" charset="0"/>
                          <a:ea typeface="+mn-ea"/>
                          <a:cs typeface="+mn-cs"/>
                        </a:rPr>
                        <a:t>If Transaction Receipt NOT Supported on terminal</a:t>
                      </a:r>
                      <a:endParaRPr lang="en-US" altLang="zh-CN" sz="1000" b="0" i="0" u="none" strike="noStrike" kern="1200" dirty="0">
                        <a:solidFill>
                          <a:sysClr val="windowText" lastClr="000000"/>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dirty="0">
                          <a:solidFill>
                            <a:srgbClr val="FF0000"/>
                          </a:solidFill>
                          <a:effectLst/>
                          <a:latin typeface="Calibri" panose="020F0502020204030204" pitchFamily="34" charset="0"/>
                        </a:rPr>
                        <a:t>Required for 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Calibri" panose="020F0502020204030204" pitchFamily="34" charset="0"/>
                        </a:rPr>
                        <a:t>Optional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r>
              <a:tr h="412931">
                <a:tc rowSpan="2">
                  <a:txBody>
                    <a:bodyPr/>
                    <a:lstStyle/>
                    <a:p>
                      <a:pPr algn="l" fontAlgn="ctr"/>
                      <a:r>
                        <a:rPr lang="en-US" sz="1000" b="0" i="0" u="none" strike="noStrike" kern="1200" dirty="0">
                          <a:solidFill>
                            <a:sysClr val="windowText" lastClr="000000"/>
                          </a:solidFill>
                          <a:effectLst/>
                          <a:latin typeface="Calibri" panose="020F0502020204030204" pitchFamily="34" charset="0"/>
                          <a:ea typeface="+mn-ea"/>
                          <a:cs typeface="+mn-cs"/>
                        </a:rPr>
                        <a:t>Refund</a:t>
                      </a:r>
                    </a:p>
                  </a:txBody>
                  <a:tcPr marL="6007" marR="6007" marT="6007" marB="0" anchor="ctr">
                    <a:lnL w="28575"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altLang="zh-CN" sz="1000" b="0" i="0" u="none" strike="noStrike" kern="1200" dirty="0" smtClean="0">
                          <a:solidFill>
                            <a:sysClr val="windowText" lastClr="000000"/>
                          </a:solidFill>
                          <a:effectLst/>
                          <a:latin typeface="Calibri" panose="020F0502020204030204" pitchFamily="34" charset="0"/>
                          <a:ea typeface="+mn-ea"/>
                          <a:cs typeface="+mn-cs"/>
                        </a:rPr>
                        <a:t>If Transaction Receipt Supported on terminal</a:t>
                      </a:r>
                      <a:endParaRPr lang="en-US" altLang="zh-CN" sz="1000" b="0" i="0" u="none" strike="noStrike" kern="1200" dirty="0">
                        <a:solidFill>
                          <a:sysClr val="windowText" lastClr="000000"/>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a:solidFill>
                            <a:srgbClr val="000000"/>
                          </a:solidFill>
                          <a:effectLst/>
                          <a:latin typeface="Calibri" panose="020F0502020204030204" pitchFamily="34" charset="0"/>
                        </a:rPr>
                        <a:t>Optional for 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Calibri" panose="020F0502020204030204" pitchFamily="34" charset="0"/>
                        </a:rPr>
                        <a:t>Optional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r>
              <a:tr h="412931">
                <a:tc vMerge="1">
                  <a:txBody>
                    <a:bodyPr/>
                    <a:lstStyle/>
                    <a:p>
                      <a:endParaRPr lang="zh-CN" altLang="en-US"/>
                    </a:p>
                  </a:txBody>
                  <a:tcPr/>
                </a:tc>
                <a:tc>
                  <a:txBody>
                    <a:bodyPr/>
                    <a:lstStyle/>
                    <a:p>
                      <a:pPr algn="l" fontAlgn="ctr"/>
                      <a:r>
                        <a:rPr lang="en-US" sz="1000" b="0" i="0" u="none" strike="noStrike" kern="1200" dirty="0" smtClean="0">
                          <a:solidFill>
                            <a:sysClr val="windowText" lastClr="000000"/>
                          </a:solidFill>
                          <a:effectLst/>
                          <a:latin typeface="Calibri" panose="020F0502020204030204" pitchFamily="34" charset="0"/>
                          <a:ea typeface="+mn-ea"/>
                          <a:cs typeface="+mn-cs"/>
                        </a:rPr>
                        <a:t>If Transaction </a:t>
                      </a:r>
                      <a:r>
                        <a:rPr lang="en-US" sz="1000" b="0" i="0" u="none" strike="noStrike" kern="1200" dirty="0">
                          <a:solidFill>
                            <a:sysClr val="windowText" lastClr="000000"/>
                          </a:solidFill>
                          <a:effectLst/>
                          <a:latin typeface="Calibri" panose="020F0502020204030204" pitchFamily="34" charset="0"/>
                          <a:ea typeface="+mn-ea"/>
                          <a:cs typeface="+mn-cs"/>
                        </a:rPr>
                        <a:t>Receipt NOT </a:t>
                      </a:r>
                      <a:r>
                        <a:rPr lang="en-US" sz="1000" b="0" i="0" u="none" strike="noStrike" kern="1200" dirty="0" smtClean="0">
                          <a:solidFill>
                            <a:sysClr val="windowText" lastClr="000000"/>
                          </a:solidFill>
                          <a:effectLst/>
                          <a:latin typeface="Calibri" panose="020F0502020204030204" pitchFamily="34" charset="0"/>
                          <a:ea typeface="+mn-ea"/>
                          <a:cs typeface="+mn-cs"/>
                        </a:rPr>
                        <a:t>Supported on terminal</a:t>
                      </a:r>
                      <a:endParaRPr lang="en-US" sz="1000" b="0" i="0" u="none" strike="noStrike" kern="1200" dirty="0">
                        <a:solidFill>
                          <a:sysClr val="windowText" lastClr="000000"/>
                        </a:solidFill>
                        <a:effectLst/>
                        <a:latin typeface="Calibri" panose="020F0502020204030204" pitchFamily="34" charset="0"/>
                        <a:ea typeface="+mn-ea"/>
                        <a:cs typeface="+mn-cs"/>
                      </a:endParaRP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r>
                        <a:rPr lang="en-US" sz="1000" b="0" i="0" u="none" strike="noStrike">
                          <a:solidFill>
                            <a:srgbClr val="FF0000"/>
                          </a:solidFill>
                          <a:effectLst/>
                          <a:latin typeface="Calibri" panose="020F0502020204030204" pitchFamily="34" charset="0"/>
                        </a:rPr>
                        <a:t>Required for Acquirer to Receive</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tc vMerge="1">
                  <a:txBody>
                    <a:bodyPr/>
                    <a:lstStyle/>
                    <a:p>
                      <a:endParaRPr lang="zh-CN" altLang="en-US"/>
                    </a:p>
                  </a:txBody>
                  <a:tcPr/>
                </a:tc>
                <a:tc>
                  <a:txBody>
                    <a:bodyPr/>
                    <a:lstStyle/>
                    <a:p>
                      <a:pPr algn="l" fontAlgn="ctr"/>
                      <a:r>
                        <a:rPr lang="en-US" sz="1000" b="0" i="0" u="none" strike="noStrike" dirty="0">
                          <a:solidFill>
                            <a:srgbClr val="FF0000"/>
                          </a:solidFill>
                          <a:effectLst/>
                          <a:latin typeface="Calibri" panose="020F0502020204030204" pitchFamily="34" charset="0"/>
                        </a:rPr>
                        <a:t>Required for Acquirer to Send</a:t>
                      </a:r>
                    </a:p>
                  </a:txBody>
                  <a:tcPr marL="6007" marR="6007" marT="6007"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ltLang="en-US"/>
                    </a:p>
                  </a:txBody>
                  <a:tcPr/>
                </a:tc>
              </a:tr>
            </a:tbl>
          </a:graphicData>
        </a:graphic>
      </p:graphicFrame>
      <p:sp>
        <p:nvSpPr>
          <p:cNvPr id="5" name="TextBox 4"/>
          <p:cNvSpPr txBox="1"/>
          <p:nvPr/>
        </p:nvSpPr>
        <p:spPr>
          <a:xfrm>
            <a:off x="179512" y="4803998"/>
            <a:ext cx="9289032" cy="276999"/>
          </a:xfrm>
          <a:prstGeom prst="rect">
            <a:avLst/>
          </a:prstGeom>
        </p:spPr>
        <p:txBody>
          <a:bodyPr wrap="square" rtlCol="0">
            <a:spAutoFit/>
          </a:bodyPr>
          <a:lstStyle/>
          <a:p>
            <a:r>
              <a:rPr lang="en-US" altLang="zh-CN" sz="1200" dirty="0" smtClean="0">
                <a:solidFill>
                  <a:schemeClr val="bg1">
                    <a:lumMod val="50000"/>
                  </a:schemeClr>
                </a:solidFill>
                <a:latin typeface="Georgia" panose="02040502050405020303" pitchFamily="18" charset="0"/>
                <a:ea typeface="黑体" pitchFamily="49" charset="-122"/>
              </a:rPr>
              <a:t>Notes: QRC voucher number is a UnionPay generated </a:t>
            </a:r>
            <a:r>
              <a:rPr lang="en-US" altLang="zh-CN" sz="1200" dirty="0">
                <a:solidFill>
                  <a:schemeClr val="bg1">
                    <a:lumMod val="50000"/>
                  </a:schemeClr>
                </a:solidFill>
                <a:latin typeface="Georgia" panose="02040502050405020303" pitchFamily="18" charset="0"/>
                <a:ea typeface="黑体" pitchFamily="49" charset="-122"/>
              </a:rPr>
              <a:t>unique number </a:t>
            </a:r>
            <a:r>
              <a:rPr lang="en-US" altLang="zh-CN" sz="1200" dirty="0" smtClean="0">
                <a:solidFill>
                  <a:schemeClr val="bg1">
                    <a:lumMod val="50000"/>
                  </a:schemeClr>
                </a:solidFill>
                <a:latin typeface="Georgia" panose="02040502050405020303" pitchFamily="18" charset="0"/>
                <a:ea typeface="黑体" pitchFamily="49" charset="-122"/>
              </a:rPr>
              <a:t>that can be used to locate a UnionPay QRC transaction </a:t>
            </a:r>
            <a:endParaRPr lang="zh-CN" altLang="en-US" sz="1200" dirty="0" err="1" smtClean="0">
              <a:solidFill>
                <a:schemeClr val="bg1">
                  <a:lumMod val="50000"/>
                </a:schemeClr>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19877929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pPr>
              <a:tabLst>
                <a:tab pos="1435100" algn="l"/>
              </a:tabLst>
            </a:pPr>
            <a:r>
              <a:rPr lang="en-US" altLang="zh-CN" sz="2000" b="1" dirty="0" smtClean="0">
                <a:latin typeface="Georgia" pitchFamily="18" charset="0"/>
                <a:ea typeface="黑体" pitchFamily="49" charset="-122"/>
              </a:rPr>
              <a:t>Impact to Terminals</a:t>
            </a:r>
            <a:endParaRPr lang="zh-CN" altLang="en-US" sz="2000" b="1" dirty="0">
              <a:latin typeface="Georgia" pitchFamily="18" charset="0"/>
              <a:ea typeface="黑体" pitchFamily="49"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864330606"/>
              </p:ext>
            </p:extLst>
          </p:nvPr>
        </p:nvGraphicFramePr>
        <p:xfrm>
          <a:off x="467544" y="699542"/>
          <a:ext cx="8208912" cy="4159471"/>
        </p:xfrm>
        <a:graphic>
          <a:graphicData uri="http://schemas.openxmlformats.org/drawingml/2006/table">
            <a:tbl>
              <a:tblPr/>
              <a:tblGrid>
                <a:gridCol w="1172700"/>
                <a:gridCol w="1533533"/>
                <a:gridCol w="1623741"/>
                <a:gridCol w="3878938"/>
              </a:tblGrid>
              <a:tr h="288032">
                <a:tc rowSpan="2" gridSpan="2">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Transaction Type</a:t>
                      </a:r>
                    </a:p>
                  </a:txBody>
                  <a:tcPr marL="4984" marR="4984" marT="4984" marB="0" anchor="ctr">
                    <a:lnL w="28575"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072AE"/>
                    </a:solidFill>
                  </a:tcPr>
                </a:tc>
                <a:tc rowSpan="2" hMerge="1">
                  <a:txBody>
                    <a:bodyPr/>
                    <a:lstStyle/>
                    <a:p>
                      <a:endParaRPr lang="zh-CN" altLang="en-US"/>
                    </a:p>
                  </a:txBody>
                  <a:tcPr/>
                </a:tc>
                <a:tc gridSpan="2">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Impact to Terminals</a:t>
                      </a:r>
                    </a:p>
                  </a:txBody>
                  <a:tcPr marL="4984" marR="4984" marT="4984" marB="0" anchor="ctr">
                    <a:lnL w="12700" cap="flat" cmpd="sng" algn="ctr">
                      <a:solidFill>
                        <a:schemeClr val="bg1">
                          <a:lumMod val="75000"/>
                        </a:schemeClr>
                      </a:solidFill>
                      <a:prstDash val="solid"/>
                      <a:round/>
                      <a:headEnd type="none" w="med" len="med"/>
                      <a:tailEnd type="none" w="med" len="med"/>
                    </a:lnL>
                    <a:lnR w="28575" cap="flat" cmpd="sng" algn="ctr">
                      <a:solidFill>
                        <a:schemeClr val="bg1">
                          <a:lumMod val="75000"/>
                        </a:schemeClr>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072AE"/>
                    </a:solidFill>
                  </a:tcPr>
                </a:tc>
                <a:tc hMerge="1">
                  <a:txBody>
                    <a:bodyPr/>
                    <a:lstStyle/>
                    <a:p>
                      <a:endParaRPr lang="zh-CN" altLang="en-US"/>
                    </a:p>
                  </a:txBody>
                  <a:tcPr/>
                </a:tc>
              </a:tr>
              <a:tr h="288032">
                <a:tc gridSpan="2" vMerge="1">
                  <a:txBody>
                    <a:bodyPr/>
                    <a:lstStyle/>
                    <a:p>
                      <a:endParaRPr lang="zh-CN" altLang="en-US"/>
                    </a:p>
                  </a:txBody>
                  <a:tcPr/>
                </a:tc>
                <a:tc hMerge="1" vMerge="1">
                  <a:txBody>
                    <a:bodyPr/>
                    <a:lstStyle/>
                    <a:p>
                      <a:endParaRPr lang="zh-CN" altLang="en-US"/>
                    </a:p>
                  </a:txBody>
                  <a:tcPr/>
                </a:tc>
                <a:tc>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Terminal Parameter</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072AE"/>
                    </a:solidFill>
                  </a:tcPr>
                </a:tc>
                <a:tc>
                  <a:txBody>
                    <a:bodyPr/>
                    <a:lstStyle/>
                    <a:p>
                      <a:pPr marL="0" algn="ctr" defTabSz="914400" rtl="0" eaLnBrk="1" fontAlgn="ctr" latinLnBrk="0" hangingPunct="1"/>
                      <a:r>
                        <a:rPr lang="en-US" sz="1100" b="1" i="0" u="none" strike="noStrike" kern="1200" dirty="0">
                          <a:solidFill>
                            <a:schemeClr val="bg1"/>
                          </a:solidFill>
                          <a:effectLst/>
                          <a:latin typeface="Georgia" panose="02040502050405020303" pitchFamily="18" charset="0"/>
                          <a:ea typeface="+mn-ea"/>
                          <a:cs typeface="+mn-cs"/>
                        </a:rPr>
                        <a:t>Terminal Function</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3072AE"/>
                    </a:solidFill>
                  </a:tcPr>
                </a:tc>
              </a:tr>
              <a:tr h="491839">
                <a:tc gridSpan="2">
                  <a:txBody>
                    <a:bodyPr/>
                    <a:lstStyle/>
                    <a:p>
                      <a:pPr algn="l" fontAlgn="ctr"/>
                      <a:r>
                        <a:rPr lang="en-US" sz="1000" b="0" i="0" u="none" strike="noStrike" dirty="0" smtClean="0">
                          <a:solidFill>
                            <a:srgbClr val="000000"/>
                          </a:solidFill>
                          <a:effectLst/>
                          <a:latin typeface="Georgia" panose="02040502050405020303" pitchFamily="18" charset="0"/>
                        </a:rPr>
                        <a:t>Purchase(Single Message)/</a:t>
                      </a:r>
                      <a:r>
                        <a:rPr lang="en-US" sz="1000" b="0" i="0" u="none" strike="noStrike" dirty="0">
                          <a:solidFill>
                            <a:srgbClr val="000000"/>
                          </a:solidFill>
                          <a:effectLst/>
                          <a:latin typeface="Georgia" panose="02040502050405020303" pitchFamily="18" charset="0"/>
                        </a:rPr>
                        <a:t>Authorization Transaction with Fixed </a:t>
                      </a:r>
                      <a:r>
                        <a:rPr lang="en-US" sz="1000" b="0" i="0" u="none" strike="noStrike" dirty="0" smtClean="0">
                          <a:solidFill>
                            <a:srgbClr val="000000"/>
                          </a:solidFill>
                          <a:effectLst/>
                          <a:latin typeface="Georgia" panose="02040502050405020303" pitchFamily="18" charset="0"/>
                        </a:rPr>
                        <a:t>Amount(Dual Message)</a:t>
                      </a:r>
                      <a:endParaRPr lang="en-US" sz="1000" b="0" i="0" u="none" strike="noStrike" dirty="0">
                        <a:solidFill>
                          <a:srgbClr val="000000"/>
                        </a:solidFill>
                        <a:effectLst/>
                        <a:latin typeface="Georgia" panose="02040502050405020303" pitchFamily="18" charset="0"/>
                      </a:endParaRPr>
                    </a:p>
                  </a:txBody>
                  <a:tcPr marL="4984" marR="4984" marT="4984" marB="0" anchor="ctr">
                    <a:lnL w="28575"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zh-CN" altLang="en-US"/>
                    </a:p>
                  </a:txBody>
                  <a:tcPr/>
                </a:tc>
                <a:tc rowSpan="6">
                  <a:txBody>
                    <a:bodyPr/>
                    <a:lstStyle/>
                    <a:p>
                      <a:pPr algn="l" fontAlgn="ctr"/>
                      <a:r>
                        <a:rPr lang="en-US" sz="1000" b="0" i="0" u="none" strike="noStrike" dirty="0">
                          <a:solidFill>
                            <a:srgbClr val="000000"/>
                          </a:solidFill>
                          <a:effectLst/>
                          <a:latin typeface="Georgia" panose="02040502050405020303" pitchFamily="18" charset="0"/>
                        </a:rPr>
                        <a:t>Terminal </a:t>
                      </a:r>
                      <a:r>
                        <a:rPr lang="en-US" sz="1000" b="0" i="0" u="none" strike="noStrike" dirty="0" smtClean="0">
                          <a:solidFill>
                            <a:srgbClr val="000000"/>
                          </a:solidFill>
                          <a:effectLst/>
                          <a:latin typeface="Georgia" panose="02040502050405020303" pitchFamily="18" charset="0"/>
                        </a:rPr>
                        <a:t>retrieves </a:t>
                      </a:r>
                      <a:r>
                        <a:rPr lang="en-US" sz="1000" b="0" i="0" u="none" strike="noStrike" dirty="0">
                          <a:solidFill>
                            <a:srgbClr val="000000"/>
                          </a:solidFill>
                          <a:effectLst/>
                          <a:latin typeface="Georgia" panose="02040502050405020303" pitchFamily="18" charset="0"/>
                        </a:rPr>
                        <a:t>Tag 4F in 61 template from QR Code. If got UnionPay AID, terminal continues with subsequent processing.</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Georgia" panose="02040502050405020303" pitchFamily="18" charset="0"/>
                        </a:rPr>
                        <a:t>Same as traditional POS. Optional for </a:t>
                      </a:r>
                      <a:r>
                        <a:rPr lang="en-US" sz="1000" b="0" i="0" u="none" strike="noStrike" dirty="0" smtClean="0">
                          <a:solidFill>
                            <a:srgbClr val="000000"/>
                          </a:solidFill>
                          <a:effectLst/>
                          <a:latin typeface="Georgia" panose="02040502050405020303" pitchFamily="18" charset="0"/>
                        </a:rPr>
                        <a:t>receipt </a:t>
                      </a:r>
                      <a:r>
                        <a:rPr lang="en-US" sz="1000" b="0" i="0" u="none" strike="noStrike" dirty="0">
                          <a:solidFill>
                            <a:srgbClr val="000000"/>
                          </a:solidFill>
                          <a:effectLst/>
                          <a:latin typeface="Georgia" panose="02040502050405020303" pitchFamily="18" charset="0"/>
                        </a:rPr>
                        <a:t>printing.</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366020">
                <a:tc gridSpan="2">
                  <a:txBody>
                    <a:bodyPr/>
                    <a:lstStyle/>
                    <a:p>
                      <a:pPr algn="l" fontAlgn="ctr"/>
                      <a:r>
                        <a:rPr lang="en-US" sz="1000" b="0" i="0" u="none" strike="noStrike" dirty="0">
                          <a:solidFill>
                            <a:srgbClr val="000000"/>
                          </a:solidFill>
                          <a:effectLst/>
                          <a:latin typeface="Georgia" panose="02040502050405020303" pitchFamily="18" charset="0"/>
                        </a:rPr>
                        <a:t>Reversal</a:t>
                      </a:r>
                    </a:p>
                  </a:txBody>
                  <a:tcPr marL="4984" marR="4984" marT="4984" marB="0" anchor="ctr">
                    <a:lnL w="28575"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zh-CN" altLang="en-US"/>
                    </a:p>
                  </a:txBody>
                  <a:tcPr/>
                </a:tc>
                <a:tc vMerge="1">
                  <a:txBody>
                    <a:bodyPr/>
                    <a:lstStyle/>
                    <a:p>
                      <a:endParaRPr lang="zh-CN" altLang="en-US"/>
                    </a:p>
                  </a:txBody>
                  <a:tcPr/>
                </a:tc>
                <a:tc>
                  <a:txBody>
                    <a:bodyPr/>
                    <a:lstStyle/>
                    <a:p>
                      <a:pPr algn="l" fontAlgn="ctr"/>
                      <a:r>
                        <a:rPr lang="en-US" sz="1000" b="0" i="0" u="none" strike="noStrike">
                          <a:solidFill>
                            <a:srgbClr val="000000"/>
                          </a:solidFill>
                          <a:effectLst/>
                          <a:latin typeface="Georgia" panose="02040502050405020303" pitchFamily="18" charset="0"/>
                        </a:rPr>
                        <a:t>Same as traditional POS. </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83345">
                <a:tc rowSpan="2">
                  <a:txBody>
                    <a:bodyPr/>
                    <a:lstStyle/>
                    <a:p>
                      <a:pPr algn="l" fontAlgn="ctr"/>
                      <a:r>
                        <a:rPr lang="en-US" sz="1000" b="0" i="0" u="none" strike="noStrike">
                          <a:solidFill>
                            <a:srgbClr val="000000"/>
                          </a:solidFill>
                          <a:effectLst/>
                          <a:latin typeface="Georgia" panose="02040502050405020303" pitchFamily="18" charset="0"/>
                        </a:rPr>
                        <a:t>Cancellation</a:t>
                      </a:r>
                    </a:p>
                  </a:txBody>
                  <a:tcPr marL="4984" marR="4984" marT="4984" marB="0" anchor="ctr">
                    <a:lnL w="28575"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fontAlgn="ctr"/>
                      <a:r>
                        <a:rPr lang="en-US" altLang="zh-CN" sz="1000" b="0" i="0" u="none" strike="noStrike" kern="1200" dirty="0" smtClean="0">
                          <a:solidFill>
                            <a:sysClr val="windowText" lastClr="000000"/>
                          </a:solidFill>
                          <a:effectLst/>
                          <a:latin typeface="Georgia" panose="02040502050405020303" pitchFamily="18" charset="0"/>
                          <a:ea typeface="+mn-ea"/>
                          <a:cs typeface="+mn-cs"/>
                        </a:rPr>
                        <a:t>If Transaction Receipt Supported on terminal</a:t>
                      </a:r>
                      <a:endParaRPr lang="en-US" altLang="zh-CN" sz="1000" b="0" i="0" u="none" strike="noStrike" kern="1200" dirty="0">
                        <a:solidFill>
                          <a:sysClr val="windowText" lastClr="000000"/>
                        </a:solidFill>
                        <a:effectLst/>
                        <a:latin typeface="Georgia" panose="02040502050405020303" pitchFamily="18" charset="0"/>
                        <a:ea typeface="+mn-ea"/>
                        <a:cs typeface="+mn-cs"/>
                      </a:endParaRP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Georgia" panose="02040502050405020303" pitchFamily="18" charset="0"/>
                        </a:rPr>
                        <a:t>1.Cancellation can be initiated with traditional </a:t>
                      </a:r>
                      <a:r>
                        <a:rPr lang="en-US" sz="1000" b="1" i="0" u="none" strike="noStrike" dirty="0">
                          <a:solidFill>
                            <a:srgbClr val="FF0000"/>
                          </a:solidFill>
                          <a:effectLst/>
                          <a:latin typeface="Georgia" panose="02040502050405020303" pitchFamily="18" charset="0"/>
                        </a:rPr>
                        <a:t>Transaction Trace Number</a:t>
                      </a:r>
                      <a:r>
                        <a:rPr lang="en-US" sz="1000" b="0" i="0" u="none" strike="noStrike" dirty="0">
                          <a:solidFill>
                            <a:srgbClr val="000000"/>
                          </a:solidFill>
                          <a:effectLst/>
                          <a:latin typeface="Georgia" panose="02040502050405020303" pitchFamily="18" charset="0"/>
                        </a:rPr>
                        <a:t> at terminal end.</a:t>
                      </a:r>
                      <a:br>
                        <a:rPr lang="en-US" sz="1000" b="0" i="0" u="none" strike="noStrike" dirty="0">
                          <a:solidFill>
                            <a:srgbClr val="000000"/>
                          </a:solidFill>
                          <a:effectLst/>
                          <a:latin typeface="Georgia" panose="02040502050405020303" pitchFamily="18" charset="0"/>
                        </a:rPr>
                      </a:br>
                      <a:r>
                        <a:rPr lang="en-US" sz="1000" b="0" i="0" u="none" strike="noStrike" dirty="0">
                          <a:solidFill>
                            <a:srgbClr val="000000"/>
                          </a:solidFill>
                          <a:effectLst/>
                          <a:latin typeface="Georgia" panose="02040502050405020303" pitchFamily="18" charset="0"/>
                        </a:rPr>
                        <a:t>2.Cancellation can also be initiated with </a:t>
                      </a:r>
                      <a:r>
                        <a:rPr lang="en-US" sz="1000" b="1" i="0" u="none" strike="noStrike" dirty="0">
                          <a:solidFill>
                            <a:srgbClr val="FF0000"/>
                          </a:solidFill>
                          <a:effectLst/>
                          <a:latin typeface="Georgia" panose="02040502050405020303" pitchFamily="18" charset="0"/>
                        </a:rPr>
                        <a:t>QR Code Voucher Number</a:t>
                      </a:r>
                      <a:r>
                        <a:rPr lang="en-US" sz="1000" b="0" i="0" u="none" strike="noStrike" dirty="0">
                          <a:solidFill>
                            <a:srgbClr val="000000"/>
                          </a:solidFill>
                          <a:effectLst/>
                          <a:latin typeface="Georgia" panose="02040502050405020303" pitchFamily="18" charset="0"/>
                        </a:rPr>
                        <a:t> at terminal end. (Optional)  </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83345">
                <a:tc vMerge="1">
                  <a:txBody>
                    <a:bodyPr/>
                    <a:lstStyle/>
                    <a:p>
                      <a:endParaRPr lang="zh-CN" altLang="en-US"/>
                    </a:p>
                  </a:txBody>
                  <a:tcPr/>
                </a:tc>
                <a:tc>
                  <a:txBody>
                    <a:bodyPr/>
                    <a:lstStyle/>
                    <a:p>
                      <a:pPr algn="l" fontAlgn="ctr"/>
                      <a:r>
                        <a:rPr lang="en-US" altLang="zh-CN" sz="1000" b="0" i="0" u="none" strike="noStrike" dirty="0" smtClean="0">
                          <a:solidFill>
                            <a:srgbClr val="000000"/>
                          </a:solidFill>
                          <a:effectLst/>
                          <a:latin typeface="Georgia" panose="02040502050405020303" pitchFamily="18" charset="0"/>
                        </a:rPr>
                        <a:t>If </a:t>
                      </a:r>
                      <a:r>
                        <a:rPr lang="en-US" sz="1000" b="0" i="0" u="none" strike="noStrike" dirty="0" smtClean="0">
                          <a:solidFill>
                            <a:srgbClr val="000000"/>
                          </a:solidFill>
                          <a:effectLst/>
                          <a:latin typeface="Georgia" panose="02040502050405020303" pitchFamily="18" charset="0"/>
                        </a:rPr>
                        <a:t>Transaction </a:t>
                      </a:r>
                      <a:r>
                        <a:rPr lang="en-US" sz="1000" b="0" i="0" u="none" strike="noStrike" dirty="0">
                          <a:solidFill>
                            <a:srgbClr val="000000"/>
                          </a:solidFill>
                          <a:effectLst/>
                          <a:latin typeface="Georgia" panose="02040502050405020303" pitchFamily="18" charset="0"/>
                        </a:rPr>
                        <a:t>Receipt </a:t>
                      </a:r>
                      <a:r>
                        <a:rPr lang="en-US" sz="1000" b="1" i="0" u="none" strike="noStrike" dirty="0">
                          <a:solidFill>
                            <a:srgbClr val="000000"/>
                          </a:solidFill>
                          <a:effectLst/>
                          <a:latin typeface="Georgia" panose="02040502050405020303" pitchFamily="18" charset="0"/>
                        </a:rPr>
                        <a:t>NOT</a:t>
                      </a:r>
                      <a:r>
                        <a:rPr lang="en-US" sz="1000" b="0" i="0" u="none" strike="noStrike" dirty="0">
                          <a:solidFill>
                            <a:srgbClr val="000000"/>
                          </a:solidFill>
                          <a:effectLst/>
                          <a:latin typeface="Georgia" panose="02040502050405020303" pitchFamily="18" charset="0"/>
                        </a:rPr>
                        <a:t> Supported</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Georgia" panose="02040502050405020303" pitchFamily="18" charset="0"/>
                        </a:rPr>
                        <a:t>Cancellation is required to be initiated with </a:t>
                      </a:r>
                      <a:r>
                        <a:rPr lang="en-US" sz="1000" b="1" i="0" u="none" strike="noStrike" dirty="0">
                          <a:solidFill>
                            <a:srgbClr val="FF0000"/>
                          </a:solidFill>
                          <a:effectLst/>
                          <a:latin typeface="Georgia" panose="02040502050405020303" pitchFamily="18" charset="0"/>
                        </a:rPr>
                        <a:t>QR Code Voucher</a:t>
                      </a:r>
                      <a:r>
                        <a:rPr lang="en-US" sz="1000" b="0" i="0" u="none" strike="noStrike" dirty="0">
                          <a:solidFill>
                            <a:srgbClr val="000000"/>
                          </a:solidFill>
                          <a:effectLst/>
                          <a:latin typeface="Georgia" panose="02040502050405020303" pitchFamily="18" charset="0"/>
                        </a:rPr>
                        <a:t> </a:t>
                      </a:r>
                      <a:r>
                        <a:rPr lang="en-US" sz="1000" b="1" i="0" u="none" strike="noStrike" dirty="0">
                          <a:solidFill>
                            <a:srgbClr val="FF0000"/>
                          </a:solidFill>
                          <a:effectLst/>
                          <a:latin typeface="Georgia" panose="02040502050405020303" pitchFamily="18" charset="0"/>
                        </a:rPr>
                        <a:t>Number</a:t>
                      </a:r>
                      <a:r>
                        <a:rPr lang="en-US" sz="1000" b="0" i="0" u="none" strike="noStrike" dirty="0">
                          <a:solidFill>
                            <a:srgbClr val="000000"/>
                          </a:solidFill>
                          <a:effectLst/>
                          <a:latin typeface="Georgia" panose="02040502050405020303" pitchFamily="18" charset="0"/>
                        </a:rPr>
                        <a:t>  at terminal end. QRC Voucher number can be provided by cardholder from APP transaction notification.</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680569">
                <a:tc rowSpan="2">
                  <a:txBody>
                    <a:bodyPr/>
                    <a:lstStyle/>
                    <a:p>
                      <a:pPr algn="l" fontAlgn="ctr"/>
                      <a:r>
                        <a:rPr lang="en-US" sz="1000" b="0" i="0" u="none" strike="noStrike">
                          <a:solidFill>
                            <a:srgbClr val="000000"/>
                          </a:solidFill>
                          <a:effectLst/>
                          <a:latin typeface="Georgia" panose="02040502050405020303" pitchFamily="18" charset="0"/>
                        </a:rPr>
                        <a:t>Refund</a:t>
                      </a:r>
                    </a:p>
                  </a:txBody>
                  <a:tcPr marL="4984" marR="4984" marT="4984" marB="0" anchor="ctr">
                    <a:lnL w="28575"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algn="l" fontAlgn="ctr"/>
                      <a:r>
                        <a:rPr lang="en-US" altLang="zh-CN" sz="1000" b="0" i="0" u="none" strike="noStrike" kern="1200" dirty="0" smtClean="0">
                          <a:solidFill>
                            <a:sysClr val="windowText" lastClr="000000"/>
                          </a:solidFill>
                          <a:effectLst/>
                          <a:latin typeface="Georgia" panose="02040502050405020303" pitchFamily="18" charset="0"/>
                          <a:ea typeface="+mn-ea"/>
                          <a:cs typeface="+mn-cs"/>
                        </a:rPr>
                        <a:t>If Transaction Receipt Supported on terminal</a:t>
                      </a:r>
                      <a:endParaRPr lang="en-US" altLang="zh-CN" sz="1000" b="0" i="0" u="none" strike="noStrike" kern="1200" dirty="0">
                        <a:solidFill>
                          <a:sysClr val="windowText" lastClr="000000"/>
                        </a:solidFill>
                        <a:effectLst/>
                        <a:latin typeface="Georgia" panose="02040502050405020303" pitchFamily="18" charset="0"/>
                        <a:ea typeface="+mn-ea"/>
                        <a:cs typeface="+mn-cs"/>
                      </a:endParaRP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Georgia" panose="02040502050405020303" pitchFamily="18" charset="0"/>
                        </a:rPr>
                        <a:t>1.Refund can be initiated with </a:t>
                      </a:r>
                      <a:r>
                        <a:rPr lang="en-US" sz="1000" b="1" i="0" u="none" strike="noStrike" dirty="0">
                          <a:solidFill>
                            <a:srgbClr val="FF0000"/>
                          </a:solidFill>
                          <a:effectLst/>
                          <a:latin typeface="Georgia" panose="02040502050405020303" pitchFamily="18" charset="0"/>
                        </a:rPr>
                        <a:t>scanning</a:t>
                      </a:r>
                      <a:r>
                        <a:rPr lang="en-US" sz="1000" b="1" i="0" u="none" strike="noStrike" dirty="0">
                          <a:solidFill>
                            <a:srgbClr val="000000"/>
                          </a:solidFill>
                          <a:effectLst/>
                          <a:latin typeface="Georgia" panose="02040502050405020303" pitchFamily="18" charset="0"/>
                        </a:rPr>
                        <a:t> </a:t>
                      </a:r>
                      <a:r>
                        <a:rPr lang="en-US" sz="1000" b="1" i="0" u="none" strike="noStrike" dirty="0">
                          <a:solidFill>
                            <a:srgbClr val="FF0000"/>
                          </a:solidFill>
                          <a:effectLst/>
                          <a:latin typeface="Georgia" panose="02040502050405020303" pitchFamily="18" charset="0"/>
                        </a:rPr>
                        <a:t>QR Code + original reference number + refund amount + original transaction date</a:t>
                      </a:r>
                      <a:r>
                        <a:rPr lang="en-US" sz="1000" b="0" i="0" u="none" strike="noStrike" dirty="0">
                          <a:solidFill>
                            <a:srgbClr val="000000"/>
                          </a:solidFill>
                          <a:effectLst/>
                          <a:latin typeface="Georgia" panose="02040502050405020303" pitchFamily="18" charset="0"/>
                        </a:rPr>
                        <a:t> at terminal end.</a:t>
                      </a:r>
                      <a:br>
                        <a:rPr lang="en-US" sz="1000" b="0" i="0" u="none" strike="noStrike" dirty="0">
                          <a:solidFill>
                            <a:srgbClr val="000000"/>
                          </a:solidFill>
                          <a:effectLst/>
                          <a:latin typeface="Georgia" panose="02040502050405020303" pitchFamily="18" charset="0"/>
                        </a:rPr>
                      </a:br>
                      <a:r>
                        <a:rPr lang="en-US" sz="1000" b="0" i="0" u="none" strike="noStrike" dirty="0">
                          <a:solidFill>
                            <a:srgbClr val="000000"/>
                          </a:solidFill>
                          <a:effectLst/>
                          <a:latin typeface="Georgia" panose="02040502050405020303" pitchFamily="18" charset="0"/>
                        </a:rPr>
                        <a:t>2.Refund can also be initiated with </a:t>
                      </a:r>
                      <a:r>
                        <a:rPr lang="en-US" sz="1000" b="1" i="0" u="none" strike="noStrike" dirty="0">
                          <a:solidFill>
                            <a:srgbClr val="FF0000"/>
                          </a:solidFill>
                          <a:effectLst/>
                          <a:latin typeface="Georgia" panose="02040502050405020303" pitchFamily="18" charset="0"/>
                        </a:rPr>
                        <a:t>QR Code Voucher Number</a:t>
                      </a:r>
                      <a:r>
                        <a:rPr lang="en-US" sz="1000" b="0" i="0" u="none" strike="noStrike" dirty="0">
                          <a:solidFill>
                            <a:srgbClr val="000000"/>
                          </a:solidFill>
                          <a:effectLst/>
                          <a:latin typeface="Georgia" panose="02040502050405020303" pitchFamily="18" charset="0"/>
                        </a:rPr>
                        <a:t> </a:t>
                      </a:r>
                      <a:r>
                        <a:rPr lang="en-US" sz="1000" b="0" i="0" u="none" strike="noStrike" dirty="0" smtClean="0">
                          <a:solidFill>
                            <a:srgbClr val="000000"/>
                          </a:solidFill>
                          <a:effectLst/>
                          <a:latin typeface="Georgia" panose="02040502050405020303" pitchFamily="18" charset="0"/>
                        </a:rPr>
                        <a:t>at </a:t>
                      </a:r>
                      <a:r>
                        <a:rPr lang="en-US" sz="1000" b="0" i="0" u="none" strike="noStrike" dirty="0">
                          <a:solidFill>
                            <a:srgbClr val="000000"/>
                          </a:solidFill>
                          <a:effectLst/>
                          <a:latin typeface="Georgia" panose="02040502050405020303" pitchFamily="18" charset="0"/>
                        </a:rPr>
                        <a:t>terminal end. (Optional) </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760635">
                <a:tc vMerge="1">
                  <a:txBody>
                    <a:bodyPr/>
                    <a:lstStyle/>
                    <a:p>
                      <a:endParaRPr lang="zh-CN" altLang="en-US"/>
                    </a:p>
                  </a:txBody>
                  <a:tcPr/>
                </a:tc>
                <a:tc>
                  <a:txBody>
                    <a:bodyPr/>
                    <a:lstStyle/>
                    <a:p>
                      <a:pPr algn="l" fontAlgn="ctr"/>
                      <a:r>
                        <a:rPr lang="en-US" altLang="zh-CN" sz="1000" b="0" i="0" u="none" strike="noStrike" dirty="0" smtClean="0">
                          <a:solidFill>
                            <a:srgbClr val="000000"/>
                          </a:solidFill>
                          <a:effectLst/>
                          <a:latin typeface="Georgia" panose="02040502050405020303" pitchFamily="18" charset="0"/>
                        </a:rPr>
                        <a:t>If </a:t>
                      </a:r>
                      <a:r>
                        <a:rPr lang="en-US" sz="1000" b="0" i="0" u="none" strike="noStrike" dirty="0" smtClean="0">
                          <a:solidFill>
                            <a:srgbClr val="000000"/>
                          </a:solidFill>
                          <a:effectLst/>
                          <a:latin typeface="Georgia" panose="02040502050405020303" pitchFamily="18" charset="0"/>
                        </a:rPr>
                        <a:t>Transaction </a:t>
                      </a:r>
                      <a:r>
                        <a:rPr lang="en-US" sz="1000" b="0" i="0" u="none" strike="noStrike" dirty="0">
                          <a:solidFill>
                            <a:srgbClr val="000000"/>
                          </a:solidFill>
                          <a:effectLst/>
                          <a:latin typeface="Georgia" panose="02040502050405020303" pitchFamily="18" charset="0"/>
                        </a:rPr>
                        <a:t>Receipt </a:t>
                      </a:r>
                      <a:r>
                        <a:rPr lang="en-US" sz="1000" b="1" i="0" u="none" strike="noStrike" dirty="0">
                          <a:solidFill>
                            <a:srgbClr val="000000"/>
                          </a:solidFill>
                          <a:effectLst/>
                          <a:latin typeface="Georgia" panose="02040502050405020303" pitchFamily="18" charset="0"/>
                        </a:rPr>
                        <a:t>NOT</a:t>
                      </a:r>
                      <a:r>
                        <a:rPr lang="en-US" sz="1000" b="0" i="0" u="none" strike="noStrike" dirty="0">
                          <a:solidFill>
                            <a:srgbClr val="000000"/>
                          </a:solidFill>
                          <a:effectLst/>
                          <a:latin typeface="Georgia" panose="02040502050405020303" pitchFamily="18" charset="0"/>
                        </a:rPr>
                        <a:t> Supported</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vMerge="1">
                  <a:txBody>
                    <a:bodyPr/>
                    <a:lstStyle/>
                    <a:p>
                      <a:endParaRPr lang="zh-CN" altLang="en-US"/>
                    </a:p>
                  </a:txBody>
                  <a:tcPr/>
                </a:tc>
                <a:tc>
                  <a:txBody>
                    <a:bodyPr/>
                    <a:lstStyle/>
                    <a:p>
                      <a:pPr algn="l" fontAlgn="ctr"/>
                      <a:r>
                        <a:rPr lang="en-US" sz="1000" b="0" i="0" u="none" strike="noStrike" dirty="0">
                          <a:solidFill>
                            <a:srgbClr val="000000"/>
                          </a:solidFill>
                          <a:effectLst/>
                          <a:latin typeface="Georgia" panose="02040502050405020303" pitchFamily="18" charset="0"/>
                        </a:rPr>
                        <a:t>Refund is required to be initiated with QR Code Voucher Number  at terminal end. QRC Voucher number can be provided by cardholder from APP transaction notification.</a:t>
                      </a:r>
                    </a:p>
                  </a:txBody>
                  <a:tcPr marL="4984" marR="4984" marT="4984"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4477805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51519"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sz="2000" b="1" dirty="0" smtClean="0">
                <a:latin typeface="Georgia" pitchFamily="18" charset="0"/>
                <a:ea typeface="黑体" pitchFamily="49" charset="-122"/>
              </a:rPr>
              <a:t>Impact to Acquirer Host System – File Interface</a:t>
            </a:r>
            <a:endParaRPr lang="zh-CN" altLang="en-US" sz="2000" b="1" dirty="0">
              <a:latin typeface="Georgia" pitchFamily="18" charset="0"/>
              <a:ea typeface="黑体" pitchFamily="49"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3942928010"/>
              </p:ext>
            </p:extLst>
          </p:nvPr>
        </p:nvGraphicFramePr>
        <p:xfrm>
          <a:off x="2339752" y="1131590"/>
          <a:ext cx="4185116" cy="2664296"/>
        </p:xfrm>
        <a:graphic>
          <a:graphicData uri="http://schemas.openxmlformats.org/drawingml/2006/table">
            <a:tbl>
              <a:tblPr/>
              <a:tblGrid>
                <a:gridCol w="4185116"/>
              </a:tblGrid>
              <a:tr h="263700">
                <a:tc>
                  <a:txBody>
                    <a:bodyPr/>
                    <a:lstStyle/>
                    <a:p>
                      <a:pPr algn="ctr" fontAlgn="ctr"/>
                      <a:r>
                        <a:rPr lang="en-US" sz="1100" b="1" i="0" u="none" strike="noStrike" dirty="0" smtClean="0">
                          <a:solidFill>
                            <a:schemeClr val="bg1"/>
                          </a:solidFill>
                          <a:effectLst/>
                          <a:latin typeface="Calibri"/>
                        </a:rPr>
                        <a:t>File Interface</a:t>
                      </a:r>
                      <a:endParaRPr lang="en-US" sz="1100" b="1" i="0" u="none" strike="noStrike" dirty="0">
                        <a:solidFill>
                          <a:schemeClr val="bg1"/>
                        </a:solidFill>
                        <a:effectLst/>
                        <a:latin typeface="Calibri"/>
                      </a:endParaRPr>
                    </a:p>
                  </a:txBody>
                  <a:tcPr marL="6368" marR="6368" marT="6368"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3072AE"/>
                    </a:solidFill>
                  </a:tcPr>
                </a:tc>
              </a:tr>
              <a:tr h="2400596">
                <a:tc>
                  <a:txBody>
                    <a:bodyPr/>
                    <a:lstStyle/>
                    <a:p>
                      <a:pPr algn="l" fontAlgn="ctr"/>
                      <a:r>
                        <a:rPr lang="en-US" sz="1100" b="0" i="0" u="none" strike="noStrike" dirty="0" smtClean="0">
                          <a:solidFill>
                            <a:schemeClr val="tx1"/>
                          </a:solidFill>
                          <a:effectLst/>
                          <a:latin typeface="Calibri"/>
                        </a:rPr>
                        <a:t>Block </a:t>
                      </a:r>
                      <a:r>
                        <a:rPr lang="en-US" sz="1200" b="0" i="0" u="none" strike="noStrike" dirty="0" smtClean="0">
                          <a:solidFill>
                            <a:schemeClr val="tx1"/>
                          </a:solidFill>
                          <a:effectLst/>
                          <a:latin typeface="Calibri"/>
                        </a:rPr>
                        <a:t>1 </a:t>
                      </a:r>
                      <a:r>
                        <a:rPr lang="en-US" sz="1100" b="0" i="0" u="none" strike="noStrike" dirty="0" smtClean="0">
                          <a:solidFill>
                            <a:schemeClr val="tx1"/>
                          </a:solidFill>
                          <a:effectLst/>
                          <a:latin typeface="Calibri"/>
                        </a:rPr>
                        <a:t>is required in outgoing file, valid value(94) needs to be identified in Field 22. </a:t>
                      </a:r>
                    </a:p>
                    <a:p>
                      <a:pPr algn="l" fontAlgn="ctr"/>
                      <a:r>
                        <a:rPr lang="en-US" sz="1100" b="0" i="0" u="none" strike="noStrike" dirty="0" smtClean="0">
                          <a:solidFill>
                            <a:schemeClr val="tx1"/>
                          </a:solidFill>
                          <a:effectLst/>
                          <a:latin typeface="Calibri"/>
                        </a:rPr>
                        <a:t/>
                      </a:r>
                      <a:br>
                        <a:rPr lang="en-US" sz="1100" b="0" i="0" u="none" strike="noStrike" dirty="0" smtClean="0">
                          <a:solidFill>
                            <a:schemeClr val="tx1"/>
                          </a:solidFill>
                          <a:effectLst/>
                          <a:latin typeface="Calibri"/>
                        </a:rPr>
                      </a:br>
                      <a:r>
                        <a:rPr lang="en-US" sz="1100" b="1" i="0" u="none" strike="noStrike" dirty="0" smtClean="0">
                          <a:solidFill>
                            <a:schemeClr val="tx1"/>
                          </a:solidFill>
                          <a:effectLst/>
                          <a:latin typeface="Calibri"/>
                        </a:rPr>
                        <a:t>QRC</a:t>
                      </a:r>
                      <a:r>
                        <a:rPr lang="en-US" sz="1100" b="0" i="0" u="none" strike="noStrike" dirty="0" smtClean="0">
                          <a:solidFill>
                            <a:schemeClr val="tx1"/>
                          </a:solidFill>
                          <a:effectLst/>
                          <a:latin typeface="Calibri"/>
                        </a:rPr>
                        <a:t> </a:t>
                      </a:r>
                      <a:r>
                        <a:rPr lang="en-US" sz="1100" b="1" i="0" u="none" strike="noStrike" dirty="0" smtClean="0">
                          <a:solidFill>
                            <a:schemeClr val="tx1"/>
                          </a:solidFill>
                          <a:effectLst/>
                          <a:latin typeface="Calibri"/>
                        </a:rPr>
                        <a:t>Voucher Number </a:t>
                      </a:r>
                      <a:r>
                        <a:rPr lang="en-US" sz="1100" b="0" i="0" u="none" strike="noStrike" dirty="0" smtClean="0">
                          <a:solidFill>
                            <a:schemeClr val="tx1"/>
                          </a:solidFill>
                          <a:effectLst/>
                          <a:latin typeface="Calibri"/>
                        </a:rPr>
                        <a:t>is required for refund for dual</a:t>
                      </a:r>
                      <a:r>
                        <a:rPr lang="en-US" sz="1100" b="0" i="0" u="none" strike="noStrike" baseline="0" dirty="0" smtClean="0">
                          <a:solidFill>
                            <a:schemeClr val="tx1"/>
                          </a:solidFill>
                          <a:effectLst/>
                          <a:latin typeface="Calibri"/>
                        </a:rPr>
                        <a:t> message institutions</a:t>
                      </a:r>
                      <a:r>
                        <a:rPr lang="en-US" sz="1100" b="0" i="0" u="none" strike="noStrike" dirty="0" smtClean="0">
                          <a:solidFill>
                            <a:schemeClr val="tx1"/>
                          </a:solidFill>
                          <a:effectLst/>
                          <a:latin typeface="Calibri"/>
                        </a:rPr>
                        <a:t>, use position 91-110 in Block 1 for QRC Voucher Number.</a:t>
                      </a:r>
                      <a:endParaRPr lang="en-US" sz="1100" b="0" i="0" u="none" strike="noStrike" dirty="0">
                        <a:solidFill>
                          <a:schemeClr val="tx1"/>
                        </a:solidFill>
                        <a:effectLst/>
                        <a:latin typeface="Calibri"/>
                      </a:endParaRPr>
                    </a:p>
                  </a:txBody>
                  <a:tcPr marL="6368" marR="6368" marT="6368"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279403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自定12-01">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cstate="print"/>
          <a:stretch>
            <a:fillRect/>
          </a:stretch>
        </a:blipFill>
      </a:spPr>
      <a:bodyPr wrap="square" lIns="0" tIns="0" rIns="0" bIns="0" rtlCol="0"/>
      <a:lstStyle>
        <a:defPPr>
          <a:defRPr/>
        </a:defPPr>
      </a:lstStyle>
    </a:spDef>
    <a:txDef>
      <a:spPr/>
      <a:bodyPr wrap="square" rtlCol="0">
        <a:spAutoFit/>
      </a:bodyPr>
      <a:lstStyle>
        <a:defPPr>
          <a:defRPr sz="2800" dirty="0" smtClean="0">
            <a:solidFill>
              <a:srgbClr val="FF0000"/>
            </a:solidFill>
            <a:latin typeface="黑体" pitchFamily="49" charset="-122"/>
            <a:ea typeface="黑体" pitchFamily="49" charset="-122"/>
          </a:defRPr>
        </a:defPPr>
      </a:lstStyle>
    </a:txDef>
  </a:objectDefaults>
  <a:extraClrSchemeLst/>
  <a:extLst>
    <a:ext uri="{05A4C25C-085E-4340-85A3-A5531E510DB2}">
      <thm15:themeFamily xmlns="" xmlns:thm15="http://schemas.microsoft.com/office/thememl/2012/main" name="自定12-01" id="{20A3AD24-A193-47EB-8D30-55118CC09C65}" vid="{4E844742-2FCB-4B75-ADAA-9A0131350F6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25035</TotalTime>
  <Words>3149</Words>
  <Application>Microsoft Office PowerPoint</Application>
  <PresentationFormat>全屏显示(16:9)</PresentationFormat>
  <Paragraphs>625</Paragraphs>
  <Slides>25</Slides>
  <Notes>21</Notes>
  <HiddenSlides>0</HiddenSlides>
  <MMClips>0</MMClips>
  <ScaleCrop>false</ScaleCrop>
  <HeadingPairs>
    <vt:vector size="4" baseType="variant">
      <vt:variant>
        <vt:lpstr>主题</vt:lpstr>
      </vt:variant>
      <vt:variant>
        <vt:i4>1</vt:i4>
      </vt:variant>
      <vt:variant>
        <vt:lpstr>幻灯片标题</vt:lpstr>
      </vt:variant>
      <vt:variant>
        <vt:i4>25</vt:i4>
      </vt:variant>
    </vt:vector>
  </HeadingPairs>
  <TitlesOfParts>
    <vt:vector size="26" baseType="lpstr">
      <vt:lpstr>自定12-01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Microsoft</dc:creator>
  <cp:lastModifiedBy>郑祖一</cp:lastModifiedBy>
  <cp:revision>1680</cp:revision>
  <cp:lastPrinted>2018-01-04T02:53:35Z</cp:lastPrinted>
  <dcterms:created xsi:type="dcterms:W3CDTF">2016-10-31T07:37:43Z</dcterms:created>
  <dcterms:modified xsi:type="dcterms:W3CDTF">2018-07-26T03:01:26Z</dcterms:modified>
</cp:coreProperties>
</file>