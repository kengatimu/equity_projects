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3" r:id="rId1"/>
    <p:sldMasterId id="2147483662" r:id="rId2"/>
  </p:sldMasterIdLst>
  <p:notesMasterIdLst>
    <p:notesMasterId r:id="rId14"/>
  </p:notesMasterIdLst>
  <p:sldIdLst>
    <p:sldId id="256" r:id="rId3"/>
    <p:sldId id="290" r:id="rId4"/>
    <p:sldId id="291" r:id="rId5"/>
    <p:sldId id="292" r:id="rId6"/>
    <p:sldId id="293" r:id="rId7"/>
    <p:sldId id="294" r:id="rId8"/>
    <p:sldId id="296" r:id="rId9"/>
    <p:sldId id="297" r:id="rId10"/>
    <p:sldId id="298" r:id="rId11"/>
    <p:sldId id="299" r:id="rId12"/>
    <p:sldId id="261" r:id="rId13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800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315"/>
    <p:restoredTop sz="94761"/>
  </p:normalViewPr>
  <p:slideViewPr>
    <p:cSldViewPr snapToGrid="0">
      <p:cViewPr varScale="1">
        <p:scale>
          <a:sx n="146" d="100"/>
          <a:sy n="146" d="100"/>
        </p:scale>
        <p:origin x="9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20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01" name="Shape 20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13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IM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9662" y="6356353"/>
            <a:ext cx="245403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93" name="Straight Connector 6"/>
          <p:cNvSpPr/>
          <p:nvPr/>
        </p:nvSpPr>
        <p:spPr>
          <a:xfrm>
            <a:off x="1693192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4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95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9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722995" y="256899"/>
            <a:ext cx="8708295" cy="414339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1pPr>
            <a:lvl2pPr marL="0" indent="45720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2pPr>
            <a:lvl3pPr marL="0" indent="91440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3pPr>
            <a:lvl4pPr marL="0" indent="137160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4pPr>
            <a:lvl5pPr marL="0" indent="182880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7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723477" y="702518"/>
            <a:ext cx="8707330" cy="216452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000">
                <a:solidFill>
                  <a:srgbClr val="FFFFFF"/>
                </a:solidFill>
                <a:latin typeface="DIN Medium"/>
                <a:ea typeface="DIN Medium"/>
                <a:cs typeface="DIN Medium"/>
                <a:sym typeface="DIN Medium"/>
              </a:defRPr>
            </a:pPr>
            <a:endParaRPr/>
          </a:p>
        </p:txBody>
      </p:sp>
      <p:sp>
        <p:nvSpPr>
          <p:cNvPr id="98" name="Picture Placeholder 13"/>
          <p:cNvSpPr>
            <a:spLocks noGrp="1"/>
          </p:cNvSpPr>
          <p:nvPr>
            <p:ph type="pic" idx="14"/>
          </p:nvPr>
        </p:nvSpPr>
        <p:spPr>
          <a:xfrm>
            <a:off x="1439999" y="1915199"/>
            <a:ext cx="9309047" cy="4179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itle 1"/>
          <p:cNvSpPr txBox="1"/>
          <p:nvPr/>
        </p:nvSpPr>
        <p:spPr>
          <a:xfrm>
            <a:off x="3223460" y="1480919"/>
            <a:ext cx="5745423" cy="1008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b">
            <a:spAutoFit/>
          </a:bodyPr>
          <a:lstStyle/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YOUR		</a:t>
            </a:r>
            <a:r>
              <a:rPr spc="419"/>
              <a:t>HEADLINE </a:t>
            </a:r>
            <a:endParaRPr sz="6000" spc="675">
              <a:latin typeface="Calibri Light"/>
              <a:ea typeface="Calibri Light"/>
              <a:cs typeface="Calibri Light"/>
              <a:sym typeface="Calibri Light"/>
            </a:endParaRPr>
          </a:p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WILL </a:t>
            </a:r>
            <a:r>
              <a:rPr spc="320"/>
              <a:t>SIT </a:t>
            </a:r>
            <a:r>
              <a:t>HERE</a:t>
            </a:r>
            <a:r>
              <a:rPr spc="-220"/>
              <a:t> </a:t>
            </a:r>
          </a:p>
        </p:txBody>
      </p:sp>
      <p:sp>
        <p:nvSpPr>
          <p:cNvPr id="10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45133" y="6356353"/>
            <a:ext cx="245404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07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108" name="Picture 10" descr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109" name="Straight Connector 13"/>
          <p:cNvSpPr/>
          <p:nvPr/>
        </p:nvSpPr>
        <p:spPr>
          <a:xfrm flipH="1">
            <a:off x="628665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0" name="object 3"/>
          <p:cNvSpPr/>
          <p:nvPr/>
        </p:nvSpPr>
        <p:spPr>
          <a:xfrm>
            <a:off x="1" y="-1"/>
            <a:ext cx="12191520" cy="5663913"/>
          </a:xfrm>
          <a:prstGeom prst="rect">
            <a:avLst/>
          </a:prstGeom>
          <a:solidFill>
            <a:srgbClr val="A32A29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1" name="Title Text"/>
          <p:cNvSpPr txBox="1">
            <a:spLocks noGrp="1"/>
          </p:cNvSpPr>
          <p:nvPr>
            <p:ph type="title"/>
          </p:nvPr>
        </p:nvSpPr>
        <p:spPr>
          <a:xfrm>
            <a:off x="2195126" y="2397911"/>
            <a:ext cx="7801752" cy="489740"/>
          </a:xfrm>
          <a:prstGeom prst="rect">
            <a:avLst/>
          </a:prstGeom>
        </p:spPr>
        <p:txBody>
          <a:bodyPr anchor="b"/>
          <a:lstStyle>
            <a:lvl1pPr marR="5080" indent="129539">
              <a:lnSpc>
                <a:spcPct val="100000"/>
              </a:lnSpc>
              <a:tabLst>
                <a:tab pos="1409700" algn="l"/>
                <a:tab pos="1485900" algn="l"/>
                <a:tab pos="2311400" algn="l"/>
              </a:tabLst>
              <a:defRPr sz="32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1pPr>
          </a:lstStyle>
          <a:p>
            <a:r>
              <a:t>Title Text</a:t>
            </a:r>
          </a:p>
        </p:txBody>
      </p:sp>
      <p:sp>
        <p:nvSpPr>
          <p:cNvPr id="1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043491" y="2909878"/>
            <a:ext cx="3933495" cy="356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800">
                <a:solidFill>
                  <a:srgbClr val="FFFFFF"/>
                </a:solidFill>
                <a:latin typeface="DIN Medium"/>
                <a:ea typeface="DIN Medium"/>
                <a:cs typeface="DIN Medium"/>
                <a:sym typeface="DIN Medium"/>
              </a:defRPr>
            </a:lvl1pPr>
            <a:lvl2pPr marL="0" indent="457200">
              <a:buSzTx/>
              <a:buFontTx/>
              <a:buNone/>
              <a:defRPr sz="1800">
                <a:solidFill>
                  <a:srgbClr val="FFFFFF"/>
                </a:solidFill>
                <a:latin typeface="DIN Medium"/>
                <a:ea typeface="DIN Medium"/>
                <a:cs typeface="DIN Medium"/>
                <a:sym typeface="DIN Medium"/>
              </a:defRPr>
            </a:lvl2pPr>
            <a:lvl3pPr marL="0" indent="914400">
              <a:buSzTx/>
              <a:buFontTx/>
              <a:buNone/>
              <a:defRPr sz="1800">
                <a:solidFill>
                  <a:srgbClr val="FFFFFF"/>
                </a:solidFill>
                <a:latin typeface="DIN Medium"/>
                <a:ea typeface="DIN Medium"/>
                <a:cs typeface="DIN Medium"/>
                <a:sym typeface="DIN Medium"/>
              </a:defRPr>
            </a:lvl3pPr>
            <a:lvl4pPr marL="0" indent="1371600">
              <a:buSzTx/>
              <a:buFontTx/>
              <a:buNone/>
              <a:defRPr sz="1800">
                <a:solidFill>
                  <a:srgbClr val="FFFFFF"/>
                </a:solidFill>
                <a:latin typeface="DIN Medium"/>
                <a:ea typeface="DIN Medium"/>
                <a:cs typeface="DIN Medium"/>
                <a:sym typeface="DIN Medium"/>
              </a:defRPr>
            </a:lvl4pPr>
            <a:lvl5pPr marL="0" indent="1828800">
              <a:buSzTx/>
              <a:buFontTx/>
              <a:buNone/>
              <a:defRPr sz="1800">
                <a:solidFill>
                  <a:srgbClr val="FFFFFF"/>
                </a:solidFill>
                <a:latin typeface="DIN Medium"/>
                <a:ea typeface="DIN Medium"/>
                <a:cs typeface="DIN Medium"/>
                <a:sym typeface="DIN Medium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3" name="object 4"/>
          <p:cNvSpPr/>
          <p:nvPr/>
        </p:nvSpPr>
        <p:spPr>
          <a:xfrm>
            <a:off x="1" y="5663975"/>
            <a:ext cx="12191520" cy="119318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4" name="object 7"/>
          <p:cNvSpPr/>
          <p:nvPr/>
        </p:nvSpPr>
        <p:spPr>
          <a:xfrm>
            <a:off x="9129662" y="5065772"/>
            <a:ext cx="2364635" cy="6794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995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10995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15" name="Picture 9" descr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6576" y="5446857"/>
            <a:ext cx="1788573" cy="94865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itle 1"/>
          <p:cNvSpPr txBox="1"/>
          <p:nvPr/>
        </p:nvSpPr>
        <p:spPr>
          <a:xfrm>
            <a:off x="3223460" y="1480919"/>
            <a:ext cx="5745423" cy="1008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b">
            <a:spAutoFit/>
          </a:bodyPr>
          <a:lstStyle/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YOUR		</a:t>
            </a:r>
            <a:r>
              <a:rPr spc="419"/>
              <a:t>HEADLINE </a:t>
            </a:r>
            <a:endParaRPr sz="6000" spc="675">
              <a:latin typeface="Calibri Light"/>
              <a:ea typeface="Calibri Light"/>
              <a:cs typeface="Calibri Light"/>
              <a:sym typeface="Calibri Light"/>
            </a:endParaRPr>
          </a:p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WILL </a:t>
            </a:r>
            <a:r>
              <a:rPr spc="320"/>
              <a:t>SIT </a:t>
            </a:r>
            <a:r>
              <a:t>HERE</a:t>
            </a:r>
            <a:r>
              <a:rPr spc="-220"/>
              <a:t> </a:t>
            </a:r>
          </a:p>
        </p:txBody>
      </p:sp>
      <p:sp>
        <p:nvSpPr>
          <p:cNvPr id="12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45133" y="6356353"/>
            <a:ext cx="245404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24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125" name="Picture 10" descr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126" name="Straight Connector 13"/>
          <p:cNvSpPr/>
          <p:nvPr/>
        </p:nvSpPr>
        <p:spPr>
          <a:xfrm flipH="1">
            <a:off x="628665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7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214650"/>
            <a:ext cx="10515600" cy="496231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8" name="Title Text"/>
          <p:cNvSpPr txBox="1">
            <a:spLocks noGrp="1"/>
          </p:cNvSpPr>
          <p:nvPr>
            <p:ph type="title"/>
          </p:nvPr>
        </p:nvSpPr>
        <p:spPr>
          <a:xfrm>
            <a:off x="838200" y="68558"/>
            <a:ext cx="9343030" cy="612480"/>
          </a:xfrm>
          <a:prstGeom prst="rect">
            <a:avLst/>
          </a:prstGeom>
        </p:spPr>
        <p:txBody>
          <a:bodyPr anchor="t"/>
          <a:lstStyle>
            <a:lvl1pPr marR="5080" indent="129539">
              <a:tabLst>
                <a:tab pos="1409700" algn="l"/>
                <a:tab pos="1485900" algn="l"/>
                <a:tab pos="2311400" algn="l"/>
              </a:tabLst>
              <a:defRPr sz="2800" b="1">
                <a:solidFill>
                  <a:srgbClr val="FFFFFF"/>
                </a:solidFill>
                <a:latin typeface="Candara"/>
                <a:ea typeface="Candara"/>
                <a:cs typeface="Candara"/>
                <a:sym typeface="Candara"/>
              </a:defRPr>
            </a:lvl1pPr>
          </a:lstStyle>
          <a:p>
            <a:r>
              <a:t>Title Text</a:t>
            </a:r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itle 1"/>
          <p:cNvSpPr txBox="1"/>
          <p:nvPr/>
        </p:nvSpPr>
        <p:spPr>
          <a:xfrm>
            <a:off x="3223460" y="1480919"/>
            <a:ext cx="5745423" cy="1008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b">
            <a:spAutoFit/>
          </a:bodyPr>
          <a:lstStyle/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YOUR		</a:t>
            </a:r>
            <a:r>
              <a:rPr spc="419"/>
              <a:t>HEADLINE </a:t>
            </a:r>
            <a:endParaRPr sz="6000" spc="675">
              <a:latin typeface="Calibri Light"/>
              <a:ea typeface="Calibri Light"/>
              <a:cs typeface="Calibri Light"/>
              <a:sym typeface="Calibri Light"/>
            </a:endParaRPr>
          </a:p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WILL </a:t>
            </a:r>
            <a:r>
              <a:rPr spc="320"/>
              <a:t>SIT </a:t>
            </a:r>
            <a:r>
              <a:t>HERE</a:t>
            </a:r>
            <a:r>
              <a:rPr spc="-220"/>
              <a:t> </a:t>
            </a:r>
          </a:p>
        </p:txBody>
      </p:sp>
      <p:sp>
        <p:nvSpPr>
          <p:cNvPr id="13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45133" y="6356353"/>
            <a:ext cx="245404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37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138" name="Picture 10" descr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139" name="Straight Connector 13"/>
          <p:cNvSpPr/>
          <p:nvPr/>
        </p:nvSpPr>
        <p:spPr>
          <a:xfrm flipH="1">
            <a:off x="628665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0" name="Straight Connector 3"/>
          <p:cNvSpPr/>
          <p:nvPr/>
        </p:nvSpPr>
        <p:spPr>
          <a:xfrm>
            <a:off x="507999" y="609600"/>
            <a:ext cx="9612002" cy="0"/>
          </a:xfrm>
          <a:prstGeom prst="line">
            <a:avLst/>
          </a:prstGeom>
          <a:ln w="19050">
            <a:solidFill>
              <a:schemeClr val="accent3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1" name="Title Text"/>
          <p:cNvSpPr txBox="1">
            <a:spLocks noGrp="1"/>
          </p:cNvSpPr>
          <p:nvPr>
            <p:ph type="title"/>
          </p:nvPr>
        </p:nvSpPr>
        <p:spPr>
          <a:xfrm>
            <a:off x="838200" y="68558"/>
            <a:ext cx="9343030" cy="612480"/>
          </a:xfrm>
          <a:prstGeom prst="rect">
            <a:avLst/>
          </a:prstGeom>
        </p:spPr>
        <p:txBody>
          <a:bodyPr anchor="t"/>
          <a:lstStyle>
            <a:lvl1pPr marR="5080" indent="129539">
              <a:tabLst>
                <a:tab pos="1409700" algn="l"/>
                <a:tab pos="1485900" algn="l"/>
                <a:tab pos="2311400" algn="l"/>
              </a:tabLst>
              <a:defRPr sz="2800" b="1">
                <a:solidFill>
                  <a:srgbClr val="FFFFFF"/>
                </a:solidFill>
                <a:latin typeface="Candara"/>
                <a:ea typeface="Candara"/>
                <a:cs typeface="Candara"/>
                <a:sym typeface="Candara"/>
              </a:defRPr>
            </a:lvl1pPr>
          </a:lstStyle>
          <a:p>
            <a:r>
              <a:t>Title Text</a:t>
            </a:r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Title 1"/>
          <p:cNvSpPr txBox="1"/>
          <p:nvPr/>
        </p:nvSpPr>
        <p:spPr>
          <a:xfrm>
            <a:off x="3223460" y="1480919"/>
            <a:ext cx="5745423" cy="1008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b">
            <a:spAutoFit/>
          </a:bodyPr>
          <a:lstStyle/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YOUR		</a:t>
            </a:r>
            <a:r>
              <a:rPr spc="419"/>
              <a:t>HEADLINE </a:t>
            </a:r>
            <a:endParaRPr sz="6000" spc="675">
              <a:latin typeface="Calibri Light"/>
              <a:ea typeface="Calibri Light"/>
              <a:cs typeface="Calibri Light"/>
              <a:sym typeface="Calibri Light"/>
            </a:endParaRPr>
          </a:p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WILL </a:t>
            </a:r>
            <a:r>
              <a:rPr spc="320"/>
              <a:t>SIT </a:t>
            </a:r>
            <a:r>
              <a:t>HERE</a:t>
            </a:r>
            <a:r>
              <a:rPr spc="-220"/>
              <a:t> </a:t>
            </a:r>
          </a:p>
        </p:txBody>
      </p:sp>
      <p:sp>
        <p:nvSpPr>
          <p:cNvPr id="14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45133" y="6356353"/>
            <a:ext cx="245404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50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151" name="Picture 10" descr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152" name="Straight Connector 13"/>
          <p:cNvSpPr/>
          <p:nvPr/>
        </p:nvSpPr>
        <p:spPr>
          <a:xfrm flipH="1">
            <a:off x="628665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itle 1"/>
          <p:cNvSpPr txBox="1"/>
          <p:nvPr/>
        </p:nvSpPr>
        <p:spPr>
          <a:xfrm>
            <a:off x="3223460" y="1480919"/>
            <a:ext cx="5745423" cy="1008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b">
            <a:spAutoFit/>
          </a:bodyPr>
          <a:lstStyle/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YOUR		</a:t>
            </a:r>
            <a:r>
              <a:rPr spc="419"/>
              <a:t>HEADLINE </a:t>
            </a:r>
            <a:endParaRPr sz="6000" spc="675">
              <a:latin typeface="Calibri Light"/>
              <a:ea typeface="Calibri Light"/>
              <a:cs typeface="Calibri Light"/>
              <a:sym typeface="Calibri Light"/>
            </a:endParaRPr>
          </a:p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WILL </a:t>
            </a:r>
            <a:r>
              <a:rPr spc="320"/>
              <a:t>SIT </a:t>
            </a:r>
            <a:r>
              <a:t>HERE</a:t>
            </a:r>
            <a:r>
              <a:rPr spc="-220"/>
              <a:t> </a:t>
            </a:r>
          </a:p>
        </p:txBody>
      </p:sp>
      <p:sp>
        <p:nvSpPr>
          <p:cNvPr id="16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45133" y="6356353"/>
            <a:ext cx="245404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61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162" name="Picture 10" descr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163" name="Straight Connector 13"/>
          <p:cNvSpPr/>
          <p:nvPr/>
        </p:nvSpPr>
        <p:spPr>
          <a:xfrm flipH="1">
            <a:off x="628665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4" name="object 3"/>
          <p:cNvSpPr/>
          <p:nvPr/>
        </p:nvSpPr>
        <p:spPr>
          <a:xfrm>
            <a:off x="1" y="-1"/>
            <a:ext cx="12191520" cy="5663913"/>
          </a:xfrm>
          <a:prstGeom prst="rect">
            <a:avLst/>
          </a:prstGeom>
          <a:solidFill>
            <a:srgbClr val="A32A29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5" name="object 4"/>
          <p:cNvSpPr/>
          <p:nvPr/>
        </p:nvSpPr>
        <p:spPr>
          <a:xfrm>
            <a:off x="1" y="5663975"/>
            <a:ext cx="12191520" cy="119318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6" name="object 7"/>
          <p:cNvSpPr/>
          <p:nvPr/>
        </p:nvSpPr>
        <p:spPr>
          <a:xfrm>
            <a:off x="9129662" y="5065772"/>
            <a:ext cx="2364635" cy="6794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995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10995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67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6576" y="5446857"/>
            <a:ext cx="1788573" cy="94865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Title 1"/>
          <p:cNvSpPr txBox="1"/>
          <p:nvPr/>
        </p:nvSpPr>
        <p:spPr>
          <a:xfrm>
            <a:off x="3223460" y="1480919"/>
            <a:ext cx="5745423" cy="1008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b">
            <a:spAutoFit/>
          </a:bodyPr>
          <a:lstStyle/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YOUR		</a:t>
            </a:r>
            <a:r>
              <a:rPr spc="419"/>
              <a:t>HEADLINE </a:t>
            </a:r>
            <a:endParaRPr sz="6000" spc="675">
              <a:latin typeface="Calibri Light"/>
              <a:ea typeface="Calibri Light"/>
              <a:cs typeface="Calibri Light"/>
              <a:sym typeface="Calibri Light"/>
            </a:endParaRPr>
          </a:p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WILL </a:t>
            </a:r>
            <a:r>
              <a:rPr spc="320"/>
              <a:t>SIT </a:t>
            </a:r>
            <a:r>
              <a:t>HERE</a:t>
            </a:r>
            <a:r>
              <a:rPr spc="-220"/>
              <a:t> </a:t>
            </a:r>
          </a:p>
        </p:txBody>
      </p:sp>
      <p:sp>
        <p:nvSpPr>
          <p:cNvPr id="17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45133" y="6356353"/>
            <a:ext cx="245404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76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177" name="Picture 10" descr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178" name="Straight Connector 13"/>
          <p:cNvSpPr/>
          <p:nvPr/>
        </p:nvSpPr>
        <p:spPr>
          <a:xfrm flipH="1">
            <a:off x="628665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9" name="object 3"/>
          <p:cNvSpPr/>
          <p:nvPr/>
        </p:nvSpPr>
        <p:spPr>
          <a:xfrm>
            <a:off x="2" y="-1"/>
            <a:ext cx="12191520" cy="5663913"/>
          </a:xfrm>
          <a:prstGeom prst="rect">
            <a:avLst/>
          </a:prstGeom>
          <a:solidFill>
            <a:srgbClr val="A32A29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0" name="object 4"/>
          <p:cNvSpPr/>
          <p:nvPr/>
        </p:nvSpPr>
        <p:spPr>
          <a:xfrm>
            <a:off x="2" y="5663977"/>
            <a:ext cx="12191520" cy="119318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1" name="object 7"/>
          <p:cNvSpPr/>
          <p:nvPr/>
        </p:nvSpPr>
        <p:spPr>
          <a:xfrm>
            <a:off x="9129662" y="5065774"/>
            <a:ext cx="2364635" cy="6794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995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10995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8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6576" y="5446860"/>
            <a:ext cx="1788574" cy="948652"/>
          </a:xfrm>
          <a:prstGeom prst="rect">
            <a:avLst/>
          </a:prstGeom>
          <a:ln w="12700">
            <a:miter lim="400000"/>
          </a:ln>
        </p:spPr>
      </p:pic>
      <p:sp>
        <p:nvSpPr>
          <p:cNvPr id="183" name="TextBox 1"/>
          <p:cNvSpPr txBox="1"/>
          <p:nvPr/>
        </p:nvSpPr>
        <p:spPr>
          <a:xfrm>
            <a:off x="4615189" y="2539838"/>
            <a:ext cx="2961622" cy="57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3200">
                <a:solidFill>
                  <a:srgbClr val="FFFFFF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r>
              <a:t>THANK YOU</a:t>
            </a:r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itle 1"/>
          <p:cNvSpPr txBox="1"/>
          <p:nvPr/>
        </p:nvSpPr>
        <p:spPr>
          <a:xfrm>
            <a:off x="3223460" y="1480919"/>
            <a:ext cx="5745423" cy="1008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b">
            <a:spAutoFit/>
          </a:bodyPr>
          <a:lstStyle/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YOUR		</a:t>
            </a:r>
            <a:r>
              <a:rPr spc="419"/>
              <a:t>HEADLINE </a:t>
            </a:r>
            <a:endParaRPr sz="6000" spc="675">
              <a:latin typeface="Calibri Light"/>
              <a:ea typeface="Calibri Light"/>
              <a:cs typeface="Calibri Light"/>
              <a:sym typeface="Calibri Light"/>
            </a:endParaRPr>
          </a:p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WILL </a:t>
            </a:r>
            <a:r>
              <a:rPr spc="320"/>
              <a:t>SIT </a:t>
            </a:r>
            <a:r>
              <a:t>HERE</a:t>
            </a:r>
            <a:r>
              <a:rPr spc="-220"/>
              <a:t> </a:t>
            </a:r>
          </a:p>
        </p:txBody>
      </p:sp>
      <p:sp>
        <p:nvSpPr>
          <p:cNvPr id="19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45133" y="6356353"/>
            <a:ext cx="245404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92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193" name="Picture 10" descr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194" name="Straight Connector 13"/>
          <p:cNvSpPr/>
          <p:nvPr/>
        </p:nvSpPr>
        <p:spPr>
          <a:xfrm flipH="1">
            <a:off x="628665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3">
            <a:extLst>
              <a:ext uri="{FF2B5EF4-FFF2-40B4-BE49-F238E27FC236}">
                <a16:creationId xmlns:a16="http://schemas.microsoft.com/office/drawing/2014/main" id="{CFB6CA7C-6734-EE43-B554-8309CE393AB8}"/>
              </a:ext>
            </a:extLst>
          </p:cNvPr>
          <p:cNvSpPr/>
          <p:nvPr userDrawn="1"/>
        </p:nvSpPr>
        <p:spPr>
          <a:xfrm>
            <a:off x="1" y="0"/>
            <a:ext cx="12192343" cy="5664452"/>
          </a:xfrm>
          <a:custGeom>
            <a:avLst/>
            <a:gdLst/>
            <a:ahLst/>
            <a:cxnLst/>
            <a:rect l="l" t="t" r="r" b="b"/>
            <a:pathLst>
              <a:path w="7159625" h="3594735">
                <a:moveTo>
                  <a:pt x="0" y="3594392"/>
                </a:moveTo>
                <a:lnTo>
                  <a:pt x="7159142" y="3594392"/>
                </a:lnTo>
                <a:lnTo>
                  <a:pt x="7159142" y="0"/>
                </a:lnTo>
                <a:lnTo>
                  <a:pt x="0" y="0"/>
                </a:lnTo>
                <a:lnTo>
                  <a:pt x="0" y="3594392"/>
                </a:lnTo>
                <a:close/>
              </a:path>
            </a:pathLst>
          </a:custGeom>
          <a:solidFill>
            <a:srgbClr val="A32A29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95126" y="2397912"/>
            <a:ext cx="7801751" cy="489739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100000"/>
              </a:lnSpc>
              <a:defRPr sz="3200" b="1" i="0" spc="0">
                <a:solidFill>
                  <a:schemeClr val="bg1"/>
                </a:solidFill>
                <a:latin typeface="DIN" pitchFamily="2" charset="77"/>
              </a:defRPr>
            </a:lvl1pPr>
          </a:lstStyle>
          <a:p>
            <a:r>
              <a:rPr lang="en-US"/>
              <a:t>YOUR HEADLINE WILL SIT HERE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043492" y="2909879"/>
            <a:ext cx="3933494" cy="3561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850" b="0" i="0">
                <a:solidFill>
                  <a:schemeClr val="bg1"/>
                </a:solidFill>
                <a:latin typeface="DIN Medium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YOUR SUBHEAD GOES HERE</a:t>
            </a: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E1AF54BB-897E-B34A-92A6-D5F5758BBCA7}"/>
              </a:ext>
            </a:extLst>
          </p:cNvPr>
          <p:cNvSpPr/>
          <p:nvPr userDrawn="1"/>
        </p:nvSpPr>
        <p:spPr>
          <a:xfrm>
            <a:off x="1" y="5663976"/>
            <a:ext cx="12192343" cy="1194025"/>
          </a:xfrm>
          <a:custGeom>
            <a:avLst/>
            <a:gdLst/>
            <a:ahLst/>
            <a:cxnLst/>
            <a:rect l="l" t="t" r="r" b="b"/>
            <a:pathLst>
              <a:path w="7159625" h="862964">
                <a:moveTo>
                  <a:pt x="7159142" y="862355"/>
                </a:moveTo>
                <a:lnTo>
                  <a:pt x="0" y="862355"/>
                </a:lnTo>
                <a:lnTo>
                  <a:pt x="0" y="0"/>
                </a:lnTo>
                <a:lnTo>
                  <a:pt x="7159142" y="0"/>
                </a:lnTo>
                <a:lnTo>
                  <a:pt x="7159142" y="8623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FE381B8E-77FC-D047-84DA-A9212F9AD495}"/>
              </a:ext>
            </a:extLst>
          </p:cNvPr>
          <p:cNvSpPr/>
          <p:nvPr userDrawn="1"/>
        </p:nvSpPr>
        <p:spPr>
          <a:xfrm>
            <a:off x="9129662" y="5065773"/>
            <a:ext cx="2364937" cy="680041"/>
          </a:xfrm>
          <a:custGeom>
            <a:avLst/>
            <a:gdLst/>
            <a:ahLst/>
            <a:cxnLst/>
            <a:rect l="l" t="t" r="r" b="b"/>
            <a:pathLst>
              <a:path w="1388745" h="491489">
                <a:moveTo>
                  <a:pt x="706793" y="0"/>
                </a:moveTo>
                <a:lnTo>
                  <a:pt x="0" y="491045"/>
                </a:lnTo>
                <a:lnTo>
                  <a:pt x="1388567" y="491045"/>
                </a:lnTo>
                <a:lnTo>
                  <a:pt x="70679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368A366-A561-B648-B070-1EE7C47AD6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46576" y="5446858"/>
            <a:ext cx="1788572" cy="948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3356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838200" y="1214651"/>
            <a:ext cx="10515600" cy="49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F93F7E-7527-4F41-B38C-791501DC3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559"/>
            <a:ext cx="9343030" cy="612478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solidFill>
                  <a:schemeClr val="bg1"/>
                </a:solidFill>
                <a:latin typeface="Candara" panose="020E0502030303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4414688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>
            <a:off x="508000" y="609600"/>
            <a:ext cx="9612000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BDC7C993-77E7-49AE-96B7-56ECCEC05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559"/>
            <a:ext cx="9343030" cy="612478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solidFill>
                  <a:schemeClr val="bg1"/>
                </a:solidFill>
                <a:latin typeface="Candara" panose="020E0502030303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6474419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10416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BCB30C3D-3668-D547-9032-9A97D6F673F1}"/>
              </a:ext>
            </a:extLst>
          </p:cNvPr>
          <p:cNvSpPr/>
          <p:nvPr userDrawn="1"/>
        </p:nvSpPr>
        <p:spPr>
          <a:xfrm>
            <a:off x="1" y="0"/>
            <a:ext cx="12192343" cy="5664452"/>
          </a:xfrm>
          <a:custGeom>
            <a:avLst/>
            <a:gdLst/>
            <a:ahLst/>
            <a:cxnLst/>
            <a:rect l="l" t="t" r="r" b="b"/>
            <a:pathLst>
              <a:path w="7159625" h="3594735">
                <a:moveTo>
                  <a:pt x="0" y="3594392"/>
                </a:moveTo>
                <a:lnTo>
                  <a:pt x="7159142" y="3594392"/>
                </a:lnTo>
                <a:lnTo>
                  <a:pt x="7159142" y="0"/>
                </a:lnTo>
                <a:lnTo>
                  <a:pt x="0" y="0"/>
                </a:lnTo>
                <a:lnTo>
                  <a:pt x="0" y="3594392"/>
                </a:lnTo>
                <a:close/>
              </a:path>
            </a:pathLst>
          </a:custGeom>
          <a:solidFill>
            <a:srgbClr val="A32A29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E6B91E90-D840-D94E-B413-E85FDD7CDCAD}"/>
              </a:ext>
            </a:extLst>
          </p:cNvPr>
          <p:cNvSpPr/>
          <p:nvPr userDrawn="1"/>
        </p:nvSpPr>
        <p:spPr>
          <a:xfrm>
            <a:off x="1" y="5663976"/>
            <a:ext cx="12192343" cy="1194025"/>
          </a:xfrm>
          <a:custGeom>
            <a:avLst/>
            <a:gdLst/>
            <a:ahLst/>
            <a:cxnLst/>
            <a:rect l="l" t="t" r="r" b="b"/>
            <a:pathLst>
              <a:path w="7159625" h="862964">
                <a:moveTo>
                  <a:pt x="7159142" y="862355"/>
                </a:moveTo>
                <a:lnTo>
                  <a:pt x="0" y="862355"/>
                </a:lnTo>
                <a:lnTo>
                  <a:pt x="0" y="0"/>
                </a:lnTo>
                <a:lnTo>
                  <a:pt x="7159142" y="0"/>
                </a:lnTo>
                <a:lnTo>
                  <a:pt x="7159142" y="8623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918D2FE6-78D6-394B-8E03-A2CBE4722755}"/>
              </a:ext>
            </a:extLst>
          </p:cNvPr>
          <p:cNvSpPr/>
          <p:nvPr userDrawn="1"/>
        </p:nvSpPr>
        <p:spPr>
          <a:xfrm>
            <a:off x="9129662" y="5065773"/>
            <a:ext cx="2364937" cy="680041"/>
          </a:xfrm>
          <a:custGeom>
            <a:avLst/>
            <a:gdLst/>
            <a:ahLst/>
            <a:cxnLst/>
            <a:rect l="l" t="t" r="r" b="b"/>
            <a:pathLst>
              <a:path w="1388745" h="491489">
                <a:moveTo>
                  <a:pt x="706793" y="0"/>
                </a:moveTo>
                <a:lnTo>
                  <a:pt x="0" y="491045"/>
                </a:lnTo>
                <a:lnTo>
                  <a:pt x="1388567" y="491045"/>
                </a:lnTo>
                <a:lnTo>
                  <a:pt x="70679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7E3A3A-AE22-3D44-96D5-1DC8A1467F5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46576" y="5446858"/>
            <a:ext cx="1788572" cy="948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47717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BCB30C3D-3668-D547-9032-9A97D6F673F1}"/>
              </a:ext>
            </a:extLst>
          </p:cNvPr>
          <p:cNvSpPr/>
          <p:nvPr userDrawn="1"/>
        </p:nvSpPr>
        <p:spPr>
          <a:xfrm>
            <a:off x="2" y="0"/>
            <a:ext cx="12192343" cy="5664452"/>
          </a:xfrm>
          <a:custGeom>
            <a:avLst/>
            <a:gdLst/>
            <a:ahLst/>
            <a:cxnLst/>
            <a:rect l="l" t="t" r="r" b="b"/>
            <a:pathLst>
              <a:path w="7159625" h="3594735">
                <a:moveTo>
                  <a:pt x="0" y="3594392"/>
                </a:moveTo>
                <a:lnTo>
                  <a:pt x="7159142" y="3594392"/>
                </a:lnTo>
                <a:lnTo>
                  <a:pt x="7159142" y="0"/>
                </a:lnTo>
                <a:lnTo>
                  <a:pt x="0" y="0"/>
                </a:lnTo>
                <a:lnTo>
                  <a:pt x="0" y="3594392"/>
                </a:lnTo>
                <a:close/>
              </a:path>
            </a:pathLst>
          </a:custGeom>
          <a:solidFill>
            <a:srgbClr val="A32A29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E6B91E90-D840-D94E-B413-E85FDD7CDCAD}"/>
              </a:ext>
            </a:extLst>
          </p:cNvPr>
          <p:cNvSpPr/>
          <p:nvPr userDrawn="1"/>
        </p:nvSpPr>
        <p:spPr>
          <a:xfrm>
            <a:off x="2" y="5663978"/>
            <a:ext cx="12192343" cy="1194025"/>
          </a:xfrm>
          <a:custGeom>
            <a:avLst/>
            <a:gdLst/>
            <a:ahLst/>
            <a:cxnLst/>
            <a:rect l="l" t="t" r="r" b="b"/>
            <a:pathLst>
              <a:path w="7159625" h="862964">
                <a:moveTo>
                  <a:pt x="7159142" y="862355"/>
                </a:moveTo>
                <a:lnTo>
                  <a:pt x="0" y="862355"/>
                </a:lnTo>
                <a:lnTo>
                  <a:pt x="0" y="0"/>
                </a:lnTo>
                <a:lnTo>
                  <a:pt x="7159142" y="0"/>
                </a:lnTo>
                <a:lnTo>
                  <a:pt x="7159142" y="8623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918D2FE6-78D6-394B-8E03-A2CBE4722755}"/>
              </a:ext>
            </a:extLst>
          </p:cNvPr>
          <p:cNvSpPr/>
          <p:nvPr userDrawn="1"/>
        </p:nvSpPr>
        <p:spPr>
          <a:xfrm>
            <a:off x="9129663" y="5065775"/>
            <a:ext cx="2364937" cy="680041"/>
          </a:xfrm>
          <a:custGeom>
            <a:avLst/>
            <a:gdLst/>
            <a:ahLst/>
            <a:cxnLst/>
            <a:rect l="l" t="t" r="r" b="b"/>
            <a:pathLst>
              <a:path w="1388745" h="491489">
                <a:moveTo>
                  <a:pt x="706793" y="0"/>
                </a:moveTo>
                <a:lnTo>
                  <a:pt x="0" y="491045"/>
                </a:lnTo>
                <a:lnTo>
                  <a:pt x="1388567" y="491045"/>
                </a:lnTo>
                <a:lnTo>
                  <a:pt x="70679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7E3A3A-AE22-3D44-96D5-1DC8A1467F5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46577" y="5446860"/>
            <a:ext cx="1788572" cy="94865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4E3B060-FC77-7A4B-9A52-EB4225DA3D0C}"/>
              </a:ext>
            </a:extLst>
          </p:cNvPr>
          <p:cNvSpPr txBox="1"/>
          <p:nvPr userDrawn="1"/>
        </p:nvSpPr>
        <p:spPr>
          <a:xfrm>
            <a:off x="4615190" y="2539839"/>
            <a:ext cx="29616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prstClr val="white"/>
                </a:solidFill>
                <a:latin typeface="DIN-Regular" pitchFamily="2" charset="77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87501919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CF1797-67C6-4982-AE03-071DB435EE3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51D45D-B824-41F6-A177-91459DD050E1}" type="datetimeFigureOut">
              <a:rPr lang="en-US">
                <a:solidFill>
                  <a:prstClr val="black"/>
                </a:solidFill>
              </a:rPr>
              <a:pPr/>
              <a:t>5/17/24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6FE418-DA22-4367-861F-43D6ADD50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7AFF6C-9833-4A92-B45B-7D4063688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1356179-D1BE-4368-869B-267F2EB5153C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784424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IM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9662" y="6356353"/>
            <a:ext cx="245403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93" name="Straight Connector 6"/>
          <p:cNvSpPr/>
          <p:nvPr/>
        </p:nvSpPr>
        <p:spPr>
          <a:xfrm>
            <a:off x="1693192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4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95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9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722995" y="256899"/>
            <a:ext cx="8708295" cy="414339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1pPr>
            <a:lvl2pPr marL="0" indent="45720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2pPr>
            <a:lvl3pPr marL="0" indent="91440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3pPr>
            <a:lvl4pPr marL="0" indent="137160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4pPr>
            <a:lvl5pPr marL="0" indent="182880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7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723477" y="702518"/>
            <a:ext cx="8707330" cy="216452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000">
                <a:solidFill>
                  <a:srgbClr val="FFFFFF"/>
                </a:solidFill>
                <a:latin typeface="DIN Medium"/>
                <a:ea typeface="DIN Medium"/>
                <a:cs typeface="DIN Medium"/>
                <a:sym typeface="DIN Medium"/>
              </a:defRPr>
            </a:pPr>
            <a:endParaRPr/>
          </a:p>
        </p:txBody>
      </p:sp>
      <p:sp>
        <p:nvSpPr>
          <p:cNvPr id="98" name="Picture Placeholder 13"/>
          <p:cNvSpPr>
            <a:spLocks noGrp="1"/>
          </p:cNvSpPr>
          <p:nvPr>
            <p:ph type="pic" idx="14"/>
          </p:nvPr>
        </p:nvSpPr>
        <p:spPr>
          <a:xfrm>
            <a:off x="1439999" y="1915199"/>
            <a:ext cx="9309047" cy="4179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03189046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2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21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89818" y="6404292"/>
            <a:ext cx="263983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61" r:id="rId13"/>
    <p:sldLayoutId id="2147483679" r:id="rId14"/>
    <p:sldLayoutId id="2147483680" r:id="rId15"/>
    <p:sldLayoutId id="2147483681" r:id="rId16"/>
    <p:sldLayoutId id="2147483682" r:id="rId17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5456C5C3-FCB8-F540-BAF4-07EB2FA690A9}"/>
              </a:ext>
            </a:extLst>
          </p:cNvPr>
          <p:cNvSpPr txBox="1">
            <a:spLocks/>
          </p:cNvSpPr>
          <p:nvPr userDrawn="1"/>
        </p:nvSpPr>
        <p:spPr>
          <a:xfrm>
            <a:off x="3223460" y="1409386"/>
            <a:ext cx="5745422" cy="1079913"/>
          </a:xfrm>
          <a:prstGeom prst="rect">
            <a:avLst/>
          </a:prstGeom>
        </p:spPr>
        <p:txBody>
          <a:bodyPr anchor="b"/>
          <a:lstStyle>
            <a:lvl1pPr marL="129539" marR="5080" indent="0" algn="ctr" defTabSz="914400" rtl="0" eaLnBrk="1" fontAlgn="auto" latinLnBrk="0" hangingPunct="1">
              <a:lnSpc>
                <a:spcPct val="9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>
                <a:tab pos="1418590" algn="l"/>
                <a:tab pos="1493520" algn="l"/>
                <a:tab pos="2312035" algn="l"/>
              </a:tabLst>
              <a:defRPr sz="6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3200" b="1" kern="0" spc="360">
                <a:solidFill>
                  <a:sysClr val="window" lastClr="FFFFFF"/>
                </a:solidFill>
                <a:latin typeface="DIN"/>
              </a:rPr>
              <a:t>YOUR		</a:t>
            </a:r>
            <a:r>
              <a:rPr lang="en-US" sz="3200" b="1" kern="0" spc="420">
                <a:solidFill>
                  <a:sysClr val="window" lastClr="FFFFFF"/>
                </a:solidFill>
                <a:latin typeface="DIN"/>
              </a:rPr>
              <a:t>HEADLINE </a:t>
            </a:r>
          </a:p>
          <a:p>
            <a:pPr>
              <a:defRPr/>
            </a:pPr>
            <a:r>
              <a:rPr lang="en-US" sz="3200" b="1" kern="0" spc="360">
                <a:solidFill>
                  <a:sysClr val="window" lastClr="FFFFFF"/>
                </a:solidFill>
                <a:latin typeface="DIN"/>
              </a:rPr>
              <a:t>WILL </a:t>
            </a:r>
            <a:r>
              <a:rPr lang="en-US" sz="3200" b="1" kern="0" spc="320">
                <a:solidFill>
                  <a:sysClr val="window" lastClr="FFFFFF"/>
                </a:solidFill>
                <a:latin typeface="DIN"/>
              </a:rPr>
              <a:t>SIT </a:t>
            </a:r>
            <a:r>
              <a:rPr lang="en-US" sz="3200" b="1" kern="0" spc="360">
                <a:solidFill>
                  <a:sysClr val="window" lastClr="FFFFFF"/>
                </a:solidFill>
                <a:latin typeface="DIN"/>
              </a:rPr>
              <a:t>HERE</a:t>
            </a:r>
            <a:r>
              <a:rPr lang="en-US" sz="3200" b="1" kern="0" spc="-220">
                <a:solidFill>
                  <a:sysClr val="window" lastClr="FFFFFF"/>
                </a:solidFill>
                <a:latin typeface="DIN"/>
              </a:rPr>
              <a:t>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E6FCEA-CB09-D24A-816E-9A5DE85C9CAF}"/>
              </a:ext>
            </a:extLst>
          </p:cNvPr>
          <p:cNvSpPr txBox="1">
            <a:spLocks/>
          </p:cNvSpPr>
          <p:nvPr userDrawn="1"/>
        </p:nvSpPr>
        <p:spPr>
          <a:xfrm>
            <a:off x="145134" y="6356353"/>
            <a:ext cx="473392" cy="365125"/>
          </a:xfrm>
          <a:prstGeom prst="rect">
            <a:avLst/>
          </a:prstGeom>
          <a:ln>
            <a:noFill/>
          </a:ln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DIN-Regular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5EF5EDB-5532-9D4A-8748-6257A1DB1255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object 89">
            <a:extLst>
              <a:ext uri="{FF2B5EF4-FFF2-40B4-BE49-F238E27FC236}">
                <a16:creationId xmlns:a16="http://schemas.microsoft.com/office/drawing/2014/main" id="{F3D26A24-F5A2-A249-A327-1332C3D106F6}"/>
              </a:ext>
            </a:extLst>
          </p:cNvPr>
          <p:cNvSpPr txBox="1"/>
          <p:nvPr userDrawn="1"/>
        </p:nvSpPr>
        <p:spPr>
          <a:xfrm>
            <a:off x="1" y="0"/>
            <a:ext cx="10191169" cy="1114924"/>
          </a:xfrm>
          <a:prstGeom prst="rect">
            <a:avLst/>
          </a:prstGeom>
          <a:solidFill>
            <a:srgbClr val="A22929"/>
          </a:solidFill>
        </p:spPr>
        <p:txBody>
          <a:bodyPr vert="horz" wrap="square" lIns="0" tIns="110489" rIns="0" bIns="0" rtlCol="0" anchor="ctr">
            <a:noAutofit/>
          </a:bodyPr>
          <a:lstStyle/>
          <a:p>
            <a:pPr marL="793115">
              <a:spcBef>
                <a:spcPts val="869"/>
              </a:spcBef>
              <a:tabLst>
                <a:tab pos="1698625" algn="l"/>
                <a:tab pos="3335654" algn="l"/>
                <a:tab pos="4228465" algn="l"/>
              </a:tabLst>
            </a:pPr>
            <a:endParaRPr sz="1000">
              <a:solidFill>
                <a:prstClr val="black"/>
              </a:solidFill>
              <a:latin typeface="DIN-Medium"/>
              <a:cs typeface="DIN-Medium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3F07B4B-D725-2F48-873A-A038DC9C22E4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484514" y="147154"/>
            <a:ext cx="1411130" cy="748457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446B06E-D3CB-DB41-A3E0-0036A36A8518}"/>
              </a:ext>
            </a:extLst>
          </p:cNvPr>
          <p:cNvCxnSpPr/>
          <p:nvPr userDrawn="1"/>
        </p:nvCxnSpPr>
        <p:spPr>
          <a:xfrm>
            <a:off x="628665" y="6343136"/>
            <a:ext cx="0" cy="387179"/>
          </a:xfrm>
          <a:prstGeom prst="line">
            <a:avLst/>
          </a:prstGeom>
          <a:ln>
            <a:solidFill>
              <a:srgbClr val="A32A2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7EEC24E-505E-831C-D618-3B3383CEC67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50662" y="6705600"/>
            <a:ext cx="11191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89050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87" r:id="rId8"/>
  </p:sldLayoutIdLst>
  <p:txStyles>
    <p:titleStyle>
      <a:lvl1pPr marL="129539" marR="5080" indent="0" algn="ctr" defTabSz="914400" rtl="0" eaLnBrk="1" fontAlgn="auto" latinLnBrk="0" hangingPunct="1">
        <a:lnSpc>
          <a:spcPct val="90000"/>
        </a:lnSpc>
        <a:spcBef>
          <a:spcPts val="95"/>
        </a:spcBef>
        <a:spcAft>
          <a:spcPts val="0"/>
        </a:spcAft>
        <a:buClrTx/>
        <a:buSzTx/>
        <a:buFontTx/>
        <a:buNone/>
        <a:tabLst>
          <a:tab pos="1418590" algn="l"/>
          <a:tab pos="1493520" algn="l"/>
          <a:tab pos="2312035" algn="l"/>
        </a:tabLst>
        <a:defRPr sz="32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DIN-Regular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DIN-Regular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DIN-Regular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DIN-Regular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DIN-Regular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Slide Number Placeholder 8"/>
          <p:cNvSpPr txBox="1">
            <a:spLocks noGrp="1"/>
          </p:cNvSpPr>
          <p:nvPr>
            <p:ph type="sldNum" sz="quarter" idx="2"/>
          </p:nvPr>
        </p:nvSpPr>
        <p:spPr>
          <a:xfrm>
            <a:off x="145134" y="6356353"/>
            <a:ext cx="174772" cy="2438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</a:t>
            </a:fld>
            <a:endParaRPr/>
          </a:p>
        </p:txBody>
      </p:sp>
      <p:sp>
        <p:nvSpPr>
          <p:cNvPr id="204" name="Title 1"/>
          <p:cNvSpPr txBox="1">
            <a:spLocks noGrp="1"/>
          </p:cNvSpPr>
          <p:nvPr>
            <p:ph type="title"/>
          </p:nvPr>
        </p:nvSpPr>
        <p:spPr>
          <a:xfrm>
            <a:off x="1566473" y="2372515"/>
            <a:ext cx="7801752" cy="489740"/>
          </a:xfrm>
          <a:prstGeom prst="rect">
            <a:avLst/>
          </a:prstGeom>
        </p:spPr>
        <p:txBody>
          <a:bodyPr lIns="45719" tIns="45720" rIns="45719" bIns="45720" anchor="b">
            <a:normAutofit fontScale="90000"/>
          </a:bodyPr>
          <a:lstStyle>
            <a:lvl1pPr marR="4419" indent="112698" algn="ctr" defTabSz="795527">
              <a:tabLst>
                <a:tab pos="1219200" algn="l"/>
                <a:tab pos="1282700" algn="l"/>
                <a:tab pos="2006600" algn="l"/>
              </a:tabLst>
              <a:defRPr sz="2784"/>
            </a:lvl1pPr>
          </a:lstStyle>
          <a:p>
            <a:pPr marR="3810" indent="112395"/>
            <a:r>
              <a:rPr lang="en-GB" sz="2750" dirty="0"/>
              <a:t>DOCKERIZATION PROJECT</a:t>
            </a:r>
            <a:endParaRPr lang="en-US" sz="275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56938B-6E25-D026-E8C9-FBDF9F250417}"/>
              </a:ext>
            </a:extLst>
          </p:cNvPr>
          <p:cNvSpPr txBox="1"/>
          <p:nvPr/>
        </p:nvSpPr>
        <p:spPr>
          <a:xfrm>
            <a:off x="4650376" y="2862255"/>
            <a:ext cx="1837509" cy="3385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KE" sz="1600" b="1" dirty="0">
                <a:solidFill>
                  <a:srgbClr val="FFFFFF"/>
                </a:solidFill>
                <a:latin typeface="DIN"/>
              </a:rPr>
              <a:t>DEV</a:t>
            </a:r>
            <a:r>
              <a:rPr kumimoji="0" lang="en-KE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lang="en-KE" sz="1600" b="1" dirty="0">
                <a:solidFill>
                  <a:srgbClr val="FFFFFF"/>
                </a:solidFill>
                <a:latin typeface="DIN"/>
              </a:rPr>
              <a:t>ENVIRONMENT</a:t>
            </a:r>
            <a:r>
              <a:rPr kumimoji="0" lang="en-KE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BA79D50-C729-E32F-DC93-0223CE819227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2582944" y="275752"/>
            <a:ext cx="5090474" cy="563234"/>
          </a:xfrm>
        </p:spPr>
        <p:txBody>
          <a:bodyPr/>
          <a:lstStyle/>
          <a:p>
            <a:pPr lvl="3"/>
            <a:r>
              <a:rPr lang="en-KE" sz="3200" dirty="0"/>
              <a:t>DESCRIPTION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7C73DBC-15F9-C2DF-0F9F-9BCB207D803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37063" y="1538127"/>
            <a:ext cx="9881593" cy="4179601"/>
          </a:xfrm>
        </p:spPr>
        <p:txBody>
          <a:bodyPr/>
          <a:lstStyle/>
          <a:p>
            <a:pPr lvl="1">
              <a:buFont typeface="Courier New" panose="02070309020205020404" pitchFamily="49" charset="0"/>
              <a:buChar char="o"/>
            </a:pPr>
            <a:r>
              <a:rPr lang="en-GB" dirty="0"/>
              <a:t>This project focuses on implementing Docker containers and Azure Kubernetes Service (AKS) to streamline our CI/CD pipeline for Java and other microservices deployments. </a:t>
            </a:r>
          </a:p>
          <a:p>
            <a:pPr marL="0" indent="0">
              <a:buNone/>
            </a:pPr>
            <a:endParaRPr lang="en-GB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GB" dirty="0"/>
              <a:t>The primary goal is to achieve significant cost reduction by eliminating cloud-based database usage in the development environment, while simultaneously enhancing application portability.</a:t>
            </a:r>
          </a:p>
          <a:p>
            <a:pPr marL="0" indent="0">
              <a:buNone/>
            </a:pP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474306692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BEA3441-5082-E5F2-4B06-AE63B5CC0130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3786706" y="348861"/>
            <a:ext cx="3735883" cy="414339"/>
          </a:xfrm>
        </p:spPr>
        <p:txBody>
          <a:bodyPr/>
          <a:lstStyle/>
          <a:p>
            <a:r>
              <a:rPr lang="en-KE" sz="3200" dirty="0"/>
              <a:t>KEY OBJECTIVES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499F5B0-F8E1-BA06-DECB-504E4CCC9944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0" y="1339199"/>
            <a:ext cx="10133814" cy="4179601"/>
          </a:xfrm>
        </p:spPr>
        <p:txBody>
          <a:bodyPr/>
          <a:lstStyle/>
          <a:p>
            <a:pPr lvl="1">
              <a:buFont typeface="Courier New" panose="02070309020205020404" pitchFamily="49" charset="0"/>
              <a:buChar char="o"/>
            </a:pPr>
            <a:r>
              <a:rPr lang="en-GB" sz="2000" b="1" dirty="0"/>
              <a:t>Reduction in Infrastructure Costs</a:t>
            </a:r>
          </a:p>
          <a:p>
            <a:pPr lvl="2">
              <a:buFont typeface="Wingdings" pitchFamily="2" charset="2"/>
              <a:buChar char="ü"/>
            </a:pPr>
            <a:r>
              <a:rPr lang="en-GB" sz="1800" dirty="0"/>
              <a:t>By eliminating cloud-based database connections in the development environment, the project significantly reduces infrastructure costs. This initiative aligns with the organization's goal of optimizing resource utilization and minimizing unnecessary expenditures.</a:t>
            </a:r>
          </a:p>
          <a:p>
            <a:pPr marL="914400" lvl="2" indent="0">
              <a:buNone/>
            </a:pPr>
            <a:endParaRPr lang="en-GB" sz="18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GB" sz="2000" b="1" dirty="0"/>
              <a:t>Improved Application Portability</a:t>
            </a:r>
          </a:p>
          <a:p>
            <a:pPr lvl="2">
              <a:buFont typeface="Wingdings" pitchFamily="2" charset="2"/>
              <a:buChar char="ü"/>
            </a:pPr>
            <a:r>
              <a:rPr lang="en-GB" sz="1800" dirty="0"/>
              <a:t>Docker containers encapsulate applications with their dependencies, ensuring they can run seamlessly across different environments (on-premises, cloud, etc.) without modification.</a:t>
            </a:r>
          </a:p>
          <a:p>
            <a:pPr lvl="2">
              <a:buFont typeface="Wingdings" pitchFamily="2" charset="2"/>
              <a:buChar char="ü"/>
            </a:pPr>
            <a:endParaRPr lang="en-GB" sz="8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GB" sz="2000" b="1" dirty="0"/>
              <a:t>Streamlined QA Testing</a:t>
            </a:r>
          </a:p>
          <a:p>
            <a:pPr lvl="2">
              <a:buFont typeface="Wingdings" pitchFamily="2" charset="2"/>
              <a:buChar char="ü"/>
            </a:pPr>
            <a:r>
              <a:rPr lang="en-GB" sz="1800" dirty="0"/>
              <a:t>With just docker installation, a QA engineer will be able to pull and run the docker container, which contains the application and its dependencies, locally.</a:t>
            </a:r>
          </a:p>
          <a:p>
            <a:pPr lvl="2">
              <a:buFont typeface="Wingdings" pitchFamily="2" charset="2"/>
              <a:buChar char="ü"/>
            </a:pPr>
            <a:r>
              <a:rPr lang="en-GB" sz="1800" dirty="0"/>
              <a:t>This will improve on QA testing time due to current challenges of time outs.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GB" sz="1400" dirty="0"/>
          </a:p>
          <a:p>
            <a:pPr lvl="1">
              <a:buFont typeface="Courier New" panose="02070309020205020404" pitchFamily="49" charset="0"/>
              <a:buChar char="o"/>
            </a:pPr>
            <a:endParaRPr lang="en-GB" sz="1200" dirty="0"/>
          </a:p>
          <a:p>
            <a:pPr lvl="1">
              <a:buFont typeface="Courier New" panose="02070309020205020404" pitchFamily="49" charset="0"/>
              <a:buChar char="o"/>
            </a:pPr>
            <a:endParaRPr lang="en-GB" sz="1200" dirty="0"/>
          </a:p>
          <a:p>
            <a:pPr lvl="1">
              <a:buFont typeface="Courier New" panose="02070309020205020404" pitchFamily="49" charset="0"/>
              <a:buChar char="o"/>
            </a:pPr>
            <a:endParaRPr lang="en-GB" sz="1200" dirty="0"/>
          </a:p>
          <a:p>
            <a:pPr lvl="1">
              <a:buFont typeface="Courier New" panose="02070309020205020404" pitchFamily="49" charset="0"/>
              <a:buChar char="o"/>
            </a:pPr>
            <a:endParaRPr lang="en-GB" sz="1200" dirty="0"/>
          </a:p>
          <a:p>
            <a:pPr lvl="2">
              <a:buFont typeface="Wingdings" pitchFamily="2" charset="2"/>
              <a:buChar char="ü"/>
            </a:pPr>
            <a:endParaRPr lang="en-GB" sz="800" dirty="0"/>
          </a:p>
          <a:p>
            <a:pPr lvl="2">
              <a:buFont typeface="Wingdings" pitchFamily="2" charset="2"/>
              <a:buChar char="ü"/>
            </a:pPr>
            <a:endParaRPr lang="en-GB" sz="800" dirty="0"/>
          </a:p>
        </p:txBody>
      </p:sp>
    </p:spTree>
    <p:extLst>
      <p:ext uri="{BB962C8B-B14F-4D97-AF65-F5344CB8AC3E}">
        <p14:creationId xmlns:p14="http://schemas.microsoft.com/office/powerpoint/2010/main" val="1762827773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BD28107-B174-4157-319C-E2D8DA41F8FA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4032069" y="256899"/>
            <a:ext cx="3692434" cy="414339"/>
          </a:xfrm>
        </p:spPr>
        <p:txBody>
          <a:bodyPr/>
          <a:lstStyle/>
          <a:p>
            <a:r>
              <a:rPr lang="en-KE" sz="3200" dirty="0"/>
              <a:t>CURRENT</a:t>
            </a:r>
            <a:r>
              <a:rPr lang="en-KE" sz="2000" dirty="0"/>
              <a:t> </a:t>
            </a:r>
            <a:r>
              <a:rPr lang="en-KE" sz="3200" dirty="0"/>
              <a:t>STATE</a:t>
            </a:r>
          </a:p>
          <a:p>
            <a:endParaRPr lang="en-KE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7CB729D-3895-8525-EE80-31843CB588B2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0" y="2098766"/>
            <a:ext cx="10215154" cy="1706880"/>
          </a:xfrm>
        </p:spPr>
        <p:txBody>
          <a:bodyPr/>
          <a:lstStyle/>
          <a:p>
            <a:pPr lvl="1">
              <a:buFont typeface="Courier New" panose="02070309020205020404" pitchFamily="49" charset="0"/>
              <a:buChar char="o"/>
            </a:pPr>
            <a:r>
              <a:rPr lang="en-GB" dirty="0"/>
              <a:t>Our current development process involves manual database connections to cloud-based MSSQL and PostgreSQL databases.</a:t>
            </a:r>
          </a:p>
          <a:p>
            <a:pPr marL="0" indent="0">
              <a:buNone/>
            </a:pP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1170502963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CD638F3-C48A-DB91-0887-7582E4251B6F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2673531" y="340152"/>
            <a:ext cx="5303520" cy="414339"/>
          </a:xfrm>
        </p:spPr>
        <p:txBody>
          <a:bodyPr/>
          <a:lstStyle/>
          <a:p>
            <a:r>
              <a:rPr lang="en-KE" sz="3200" dirty="0"/>
              <a:t>PROPOSED IMPROVEMENTS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4D91530-742C-9748-E711-3E710405AE98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133713" y="1253347"/>
            <a:ext cx="10029190" cy="4179601"/>
          </a:xfrm>
        </p:spPr>
        <p:txBody>
          <a:bodyPr/>
          <a:lstStyle/>
          <a:p>
            <a:pPr marL="457200" lvl="1" indent="0">
              <a:buNone/>
            </a:pPr>
            <a:r>
              <a:rPr lang="en-GB" b="1" dirty="0"/>
              <a:t>1. Containerization With Docker</a:t>
            </a:r>
          </a:p>
          <a:p>
            <a:pPr lvl="2">
              <a:buFont typeface="Wingdings" pitchFamily="2" charset="2"/>
              <a:buChar char="ü"/>
            </a:pPr>
            <a:r>
              <a:rPr lang="en-GB" b="1" dirty="0"/>
              <a:t>Docker</a:t>
            </a:r>
            <a:r>
              <a:rPr lang="en-GB" dirty="0"/>
              <a:t> will be introduced to containerize our Java applications and Databases. Each application and database will be packaged as a container image. This ensures consistent execution across different environments. </a:t>
            </a:r>
          </a:p>
          <a:p>
            <a:pPr marL="1371600" lvl="3" indent="0">
              <a:buNone/>
            </a:pPr>
            <a:r>
              <a:rPr lang="en-GB" b="1" dirty="0"/>
              <a:t>Benefits:</a:t>
            </a:r>
            <a:r>
              <a:rPr lang="en-GB" dirty="0"/>
              <a:t> </a:t>
            </a:r>
          </a:p>
          <a:p>
            <a:pPr lvl="4"/>
            <a:r>
              <a:rPr lang="en-GB" sz="1600" b="1" dirty="0"/>
              <a:t>Cost Reduction:</a:t>
            </a:r>
            <a:r>
              <a:rPr lang="en-GB" sz="1600" dirty="0"/>
              <a:t> By containerizing applications and databases, we can eliminate the need for complex environment setup in development, potentially leading to reduced development machine resource requirements.</a:t>
            </a:r>
          </a:p>
          <a:p>
            <a:pPr lvl="4"/>
            <a:r>
              <a:rPr lang="en-GB" sz="1600" b="1" dirty="0"/>
              <a:t>Improved Portability:</a:t>
            </a:r>
            <a:r>
              <a:rPr lang="en-GB" sz="1600" dirty="0"/>
              <a:t> Containerized applications are portable across different operating systems and cloud platforms without modification.</a:t>
            </a:r>
          </a:p>
          <a:p>
            <a:pPr marL="800100" lvl="1" indent="-342900">
              <a:buAutoNum type="arabicPeriod"/>
            </a:pP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942974929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8BE8144-EA51-B345-6CCF-61D743583EF9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81462" y="1270764"/>
            <a:ext cx="10090149" cy="4179601"/>
          </a:xfrm>
        </p:spPr>
        <p:txBody>
          <a:bodyPr/>
          <a:lstStyle/>
          <a:p>
            <a:pPr marL="457200" lvl="1" indent="0">
              <a:buNone/>
            </a:pPr>
            <a:r>
              <a:rPr lang="en-GB" b="1" dirty="0"/>
              <a:t>2. Database Containerization for Development and Testing</a:t>
            </a:r>
          </a:p>
          <a:p>
            <a:pPr lvl="2">
              <a:buFont typeface="Wingdings" pitchFamily="2" charset="2"/>
              <a:buChar char="ü"/>
            </a:pPr>
            <a:r>
              <a:rPr lang="en-GB" dirty="0"/>
              <a:t>We will leverage Docker containers for database instances (e.g., MSSQL, PostgreSQL) during local development and testing. This allows developers to work with a complete application stack (application and database) without relying on cloud-based databases.</a:t>
            </a:r>
          </a:p>
          <a:p>
            <a:pPr marL="1371600" lvl="3" indent="0">
              <a:buNone/>
            </a:pPr>
            <a:r>
              <a:rPr lang="en-GB" b="1" dirty="0"/>
              <a:t>Benefits: </a:t>
            </a:r>
          </a:p>
          <a:p>
            <a:pPr lvl="3"/>
            <a:r>
              <a:rPr lang="en-GB" sz="1600" b="1" dirty="0"/>
              <a:t>Simplified Development Environment: </a:t>
            </a:r>
            <a:r>
              <a:rPr lang="en-GB" sz="1600" dirty="0"/>
              <a:t>Developers can easily spin up a complete development environment using Docker Compose. This includes both the application container and the database container, significantly reducing setup time and complexity.</a:t>
            </a:r>
          </a:p>
          <a:p>
            <a:pPr lvl="3"/>
            <a:r>
              <a:rPr lang="en-GB" sz="1600" b="1" dirty="0"/>
              <a:t>Improved Test Coverage: </a:t>
            </a:r>
            <a:r>
              <a:rPr lang="en-GB" sz="1600" dirty="0"/>
              <a:t>By including database containers, developers can write comprehensive integration tests with a realistic database setup, ensuring the application interacts with a database as expected during local testing. This leads to higher quality deployments.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6165BA-F26E-985E-C956-8C600D35A7A9}"/>
              </a:ext>
            </a:extLst>
          </p:cNvPr>
          <p:cNvSpPr txBox="1"/>
          <p:nvPr/>
        </p:nvSpPr>
        <p:spPr>
          <a:xfrm>
            <a:off x="2647405" y="365760"/>
            <a:ext cx="6144311" cy="8125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KE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IN"/>
                <a:sym typeface="DIN"/>
              </a:rPr>
              <a:t>PROPOSED IMPROVEMENTS cont…</a:t>
            </a: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1677531861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8BE8144-EA51-B345-6CCF-61D743583EF9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81462" y="1270764"/>
            <a:ext cx="10090149" cy="4179601"/>
          </a:xfrm>
        </p:spPr>
        <p:txBody>
          <a:bodyPr/>
          <a:lstStyle/>
          <a:p>
            <a:pPr marL="457200" lvl="1" indent="0">
              <a:buNone/>
            </a:pPr>
            <a:r>
              <a:rPr lang="en-GB" b="1" dirty="0"/>
              <a:t>3. Local Development Collaboration with Docker Compose</a:t>
            </a:r>
          </a:p>
          <a:p>
            <a:pPr lvl="2">
              <a:buFont typeface="Wingdings" pitchFamily="2" charset="2"/>
              <a:buChar char="ü"/>
            </a:pPr>
            <a:r>
              <a:rPr lang="en-GB" b="1" dirty="0"/>
              <a:t>Docker Compose</a:t>
            </a:r>
            <a:r>
              <a:rPr lang="en-GB" dirty="0"/>
              <a:t> allows defining and running multi-container applications, enabling developers to easily manage both the application container and the database container within a single configuration file.</a:t>
            </a:r>
          </a:p>
          <a:p>
            <a:pPr marL="1371600" lvl="3" indent="0">
              <a:buNone/>
            </a:pPr>
            <a:r>
              <a:rPr lang="en-GB" b="1" dirty="0"/>
              <a:t>Benefits: </a:t>
            </a:r>
          </a:p>
          <a:p>
            <a:pPr lvl="3"/>
            <a:r>
              <a:rPr lang="en-GB" sz="1600" b="1" dirty="0"/>
              <a:t>Improved Dev Time:</a:t>
            </a:r>
            <a:r>
              <a:rPr lang="en-GB" sz="1600" dirty="0"/>
              <a:t> Developers can focus on writing code instead of wrestling with environment setup. </a:t>
            </a:r>
          </a:p>
          <a:p>
            <a:pPr lvl="3"/>
            <a:r>
              <a:rPr lang="en-GB" sz="1600" b="1" dirty="0"/>
              <a:t>Improved Collaboration:</a:t>
            </a:r>
            <a:r>
              <a:rPr lang="en-GB" sz="1600" dirty="0"/>
              <a:t> By sharing the Docker Compose configuration file, developers can ensure everyone has a consistent development environment, facilitating collaboration and reducing configuration errors.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6165BA-F26E-985E-C956-8C600D35A7A9}"/>
              </a:ext>
            </a:extLst>
          </p:cNvPr>
          <p:cNvSpPr txBox="1"/>
          <p:nvPr/>
        </p:nvSpPr>
        <p:spPr>
          <a:xfrm>
            <a:off x="2647405" y="365760"/>
            <a:ext cx="6144311" cy="8125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KE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IN"/>
                <a:sym typeface="DIN"/>
              </a:rPr>
              <a:t>PROPOSED IMPROVEMENTS cont…</a:t>
            </a: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403026286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8BE8144-EA51-B345-6CCF-61D743583EF9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81462" y="1270764"/>
            <a:ext cx="10090149" cy="4179601"/>
          </a:xfrm>
        </p:spPr>
        <p:txBody>
          <a:bodyPr/>
          <a:lstStyle/>
          <a:p>
            <a:pPr marL="457200" lvl="1" indent="0">
              <a:buNone/>
            </a:pPr>
            <a:r>
              <a:rPr lang="en-GB" b="1" dirty="0"/>
              <a:t>4. Secure Storage and Management with Azure Container Registry (ACR)</a:t>
            </a:r>
          </a:p>
          <a:p>
            <a:pPr lvl="2">
              <a:buFont typeface="Wingdings" pitchFamily="2" charset="2"/>
              <a:buChar char="ü"/>
            </a:pPr>
            <a:r>
              <a:rPr lang="en-GB" b="1" dirty="0"/>
              <a:t>Azure Container Registry (ACR)</a:t>
            </a:r>
            <a:r>
              <a:rPr lang="en-GB" dirty="0"/>
              <a:t> will serve as our private registry to securely store and manage container images for both applications and databases. ACR provides a centralized location for all images, accessible by our AKS cluster in the respective environments.</a:t>
            </a:r>
          </a:p>
          <a:p>
            <a:pPr marL="1371600" lvl="3" indent="0">
              <a:buNone/>
            </a:pPr>
            <a:r>
              <a:rPr lang="en-GB" b="1" dirty="0"/>
              <a:t>Benefits: </a:t>
            </a:r>
          </a:p>
          <a:p>
            <a:pPr lvl="3"/>
            <a:r>
              <a:rPr lang="en-GB" sz="1600" b="1" dirty="0"/>
              <a:t>Centralized Image Management:</a:t>
            </a:r>
            <a:r>
              <a:rPr lang="en-GB" sz="1600" dirty="0"/>
              <a:t> ACR acts as a single source of truth for all container images, ensuring consistency and version control across all environments. </a:t>
            </a:r>
          </a:p>
          <a:p>
            <a:pPr lvl="3"/>
            <a:r>
              <a:rPr lang="en-GB" sz="1600" b="1" dirty="0"/>
              <a:t>Enhanced Security:</a:t>
            </a:r>
            <a:r>
              <a:rPr lang="en-GB" sz="1600" dirty="0"/>
              <a:t> ACR offers role-based access control and security features to protect our container images, mitigating security risks.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6165BA-F26E-985E-C956-8C600D35A7A9}"/>
              </a:ext>
            </a:extLst>
          </p:cNvPr>
          <p:cNvSpPr txBox="1"/>
          <p:nvPr/>
        </p:nvSpPr>
        <p:spPr>
          <a:xfrm>
            <a:off x="2647405" y="365760"/>
            <a:ext cx="6144311" cy="8125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KE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IN"/>
                <a:sym typeface="DIN"/>
              </a:rPr>
              <a:t>PROPOSED IMPROVEMENTS cont…</a:t>
            </a: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076562299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8BE8144-EA51-B345-6CCF-61D743583EF9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81462" y="1270764"/>
            <a:ext cx="10090149" cy="4179601"/>
          </a:xfrm>
        </p:spPr>
        <p:txBody>
          <a:bodyPr/>
          <a:lstStyle/>
          <a:p>
            <a:pPr marL="457200" lvl="1" indent="0">
              <a:buNone/>
            </a:pPr>
            <a:r>
              <a:rPr lang="en-GB" b="1" dirty="0"/>
              <a:t>5. CI/CD Pipeline Automation with CI/CD Tools</a:t>
            </a:r>
          </a:p>
          <a:p>
            <a:pPr lvl="2">
              <a:buFont typeface="Wingdings" pitchFamily="2" charset="2"/>
              <a:buChar char="ü"/>
            </a:pPr>
            <a:r>
              <a:rPr lang="en-GB" b="1" dirty="0"/>
              <a:t>CI/CD Tools</a:t>
            </a:r>
            <a:r>
              <a:rPr lang="en-GB" dirty="0"/>
              <a:t> (Azure DevOps Pipelines) will be integrated with the development process to automate container image builds (including building both application and database images), pushing them to ACR, and deployments to AKS.</a:t>
            </a:r>
          </a:p>
          <a:p>
            <a:pPr marL="1371600" lvl="3" indent="0">
              <a:buNone/>
            </a:pPr>
            <a:r>
              <a:rPr lang="en-GB" b="1" dirty="0"/>
              <a:t>Benefits: </a:t>
            </a:r>
          </a:p>
          <a:p>
            <a:pPr lvl="3"/>
            <a:r>
              <a:rPr lang="en-GB" sz="1600" b="1" dirty="0"/>
              <a:t>Reduced Manual Effort:</a:t>
            </a:r>
            <a:r>
              <a:rPr lang="en-GB" sz="1600" dirty="0"/>
              <a:t> CI/CD tools automate the deployment process, minimizing manual errors and improving consistency across deployments. </a:t>
            </a:r>
          </a:p>
          <a:p>
            <a:pPr lvl="3"/>
            <a:r>
              <a:rPr lang="en-GB" sz="1600" b="1" dirty="0"/>
              <a:t>Faster Deployments:</a:t>
            </a:r>
            <a:r>
              <a:rPr lang="en-GB" sz="1600" dirty="0"/>
              <a:t> Automated deployments enable faster rollouts of new features and bug fixes, leading to quicker time-to-market.</a:t>
            </a:r>
          </a:p>
          <a:p>
            <a:pPr lvl="3"/>
            <a:r>
              <a:rPr lang="en-GB" sz="1600" b="1" dirty="0"/>
              <a:t>Improved Release Management:</a:t>
            </a:r>
            <a:r>
              <a:rPr lang="en-GB" sz="1600" dirty="0"/>
              <a:t> CI/CD pipelines facilitate version control and rollback capabilities for deployments, allowing for easier rollbacks if necessary.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6165BA-F26E-985E-C956-8C600D35A7A9}"/>
              </a:ext>
            </a:extLst>
          </p:cNvPr>
          <p:cNvSpPr txBox="1"/>
          <p:nvPr/>
        </p:nvSpPr>
        <p:spPr>
          <a:xfrm>
            <a:off x="2647405" y="365760"/>
            <a:ext cx="6144311" cy="8125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KE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IN"/>
                <a:sym typeface="DIN"/>
              </a:rPr>
              <a:t>PROPOSED IMPROVEMENTS cont…</a:t>
            </a: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93639767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8BE8144-EA51-B345-6CCF-61D743583EF9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81462" y="1270764"/>
            <a:ext cx="10090149" cy="4179601"/>
          </a:xfrm>
        </p:spPr>
        <p:txBody>
          <a:bodyPr/>
          <a:lstStyle/>
          <a:p>
            <a:pPr lvl="1">
              <a:buFont typeface="Courier New" panose="02070309020205020404" pitchFamily="49" charset="0"/>
              <a:buChar char="o"/>
            </a:pPr>
            <a:r>
              <a:rPr lang="en-GB" dirty="0"/>
              <a:t>By implementing these improvements, we can achieve significant cost reduction by eliminating cloud database usage in development and enhance application portability through Docker containerization. 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GB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GB" dirty="0"/>
              <a:t>This modernized CI/CD pipeline will streamline development, testing, and deployment processes, leading to faster delivery cycles, improved application resilience, and cost optimization.</a:t>
            </a:r>
            <a:endParaRPr lang="en-GB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6165BA-F26E-985E-C956-8C600D35A7A9}"/>
              </a:ext>
            </a:extLst>
          </p:cNvPr>
          <p:cNvSpPr txBox="1"/>
          <p:nvPr/>
        </p:nvSpPr>
        <p:spPr>
          <a:xfrm>
            <a:off x="3753394" y="365760"/>
            <a:ext cx="2434256" cy="8125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KE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IN"/>
                <a:sym typeface="DIN"/>
              </a:rPr>
              <a:t>CONCLUSION</a:t>
            </a: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355067120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Slide Number Placeholder 8"/>
          <p:cNvSpPr txBox="1">
            <a:spLocks noGrp="1"/>
          </p:cNvSpPr>
          <p:nvPr>
            <p:ph type="sldNum" sz="quarter" idx="2"/>
          </p:nvPr>
        </p:nvSpPr>
        <p:spPr>
          <a:xfrm>
            <a:off x="145134" y="6356353"/>
            <a:ext cx="174772" cy="243841"/>
          </a:xfrm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11</a:t>
            </a:fld>
            <a:endParaRPr/>
          </a:p>
        </p:txBody>
      </p:sp>
      <p:sp>
        <p:nvSpPr>
          <p:cNvPr id="204" name="Title 1"/>
          <p:cNvSpPr txBox="1">
            <a:spLocks noGrp="1"/>
          </p:cNvSpPr>
          <p:nvPr>
            <p:ph type="title"/>
          </p:nvPr>
        </p:nvSpPr>
        <p:spPr>
          <a:xfrm>
            <a:off x="1566473" y="2372515"/>
            <a:ext cx="7801752" cy="489740"/>
          </a:xfrm>
          <a:prstGeom prst="rect">
            <a:avLst/>
          </a:prstGeom>
        </p:spPr>
        <p:txBody>
          <a:bodyPr lIns="45719" tIns="45720" rIns="45719" bIns="45720" anchor="b">
            <a:normAutofit fontScale="90000"/>
          </a:bodyPr>
          <a:lstStyle>
            <a:lvl1pPr marR="4419" indent="112698" algn="ctr" defTabSz="795527">
              <a:tabLst>
                <a:tab pos="1219200" algn="l"/>
                <a:tab pos="1282700" algn="l"/>
                <a:tab pos="2006600" algn="l"/>
              </a:tabLst>
              <a:defRPr sz="2784"/>
            </a:lvl1pPr>
          </a:lstStyle>
          <a:p>
            <a:pPr marR="3810" indent="112395"/>
            <a:r>
              <a:rPr lang="en-US" sz="2750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872924948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Metadata/LabelInfo.xml><?xml version="1.0" encoding="utf-8"?>
<clbl:labelList xmlns:clbl="http://schemas.microsoft.com/office/2020/mipLabelMetadata">
  <clbl:label id="{f886ab1d-51ff-47ab-9e3e-b20b22f1c1b7}" enabled="1" method="Privileged" siteId="{2d65fea0-8478-44f2-ac0f-1a58b1382aa2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Berlin</Template>
  <TotalTime>20367</TotalTime>
  <Words>795</Words>
  <Application>Microsoft Macintosh PowerPoint</Application>
  <PresentationFormat>Widescreen</PresentationFormat>
  <Paragraphs>61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23" baseType="lpstr">
      <vt:lpstr>Arial</vt:lpstr>
      <vt:lpstr>Calibri</vt:lpstr>
      <vt:lpstr>Calibri Light</vt:lpstr>
      <vt:lpstr>Candara</vt:lpstr>
      <vt:lpstr>Courier New</vt:lpstr>
      <vt:lpstr>DIN</vt:lpstr>
      <vt:lpstr>DIN Medium</vt:lpstr>
      <vt:lpstr>DIN-Medium</vt:lpstr>
      <vt:lpstr>DIN-Regular</vt:lpstr>
      <vt:lpstr>Wingdings</vt:lpstr>
      <vt:lpstr>Office Theme</vt:lpstr>
      <vt:lpstr>2_Office Theme</vt:lpstr>
      <vt:lpstr>DOCKERIZATION PROJECT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 – L1 Weekly Update</dc:title>
  <cp:lastModifiedBy>Kennedy Gatimu</cp:lastModifiedBy>
  <cp:revision>386</cp:revision>
  <dcterms:modified xsi:type="dcterms:W3CDTF">2024-05-17T10:02:03Z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Text">
    <vt:lpwstr>For Internal Use Only</vt:lpwstr>
  </property>
</Properties>
</file>