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10"/>
  </p:notesMasterIdLst>
  <p:sldIdLst>
    <p:sldId id="256" r:id="rId4"/>
    <p:sldId id="265" r:id="rId5"/>
    <p:sldId id="288" r:id="rId6"/>
    <p:sldId id="289" r:id="rId7"/>
    <p:sldId id="263" r:id="rId8"/>
    <p:sldId id="261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0"/>
    <p:restoredTop sz="94749"/>
  </p:normalViewPr>
  <p:slideViewPr>
    <p:cSldViewPr snapToGrid="0">
      <p:cViewPr>
        <p:scale>
          <a:sx n="150" d="100"/>
          <a:sy n="150" d="100"/>
        </p:scale>
        <p:origin x="90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2/23/24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C2656-3951-0C4E-9FD2-339E6296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59"/>
            <a:ext cx="10181230" cy="612478"/>
          </a:xfrm>
        </p:spPr>
        <p:txBody>
          <a:bodyPr lIns="91440" tIns="45720" rIns="91440" bIns="45720" anchor="t"/>
          <a:lstStyle/>
          <a:p>
            <a:pPr marL="128905"/>
            <a:r>
              <a:rPr lang="en-GB" sz="2400" dirty="0">
                <a:latin typeface="Calibri"/>
                <a:cs typeface="Calibri"/>
              </a:rPr>
              <a:t>WEEK IN SUMMARY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FBFB-4DBE-60A6-B904-826925B852BF}"/>
              </a:ext>
            </a:extLst>
          </p:cNvPr>
          <p:cNvSpPr txBox="1"/>
          <p:nvPr/>
        </p:nvSpPr>
        <p:spPr>
          <a:xfrm>
            <a:off x="203790" y="124046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SLO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ECF257-83FD-3B7A-C24F-3A48C697B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35102"/>
              </p:ext>
            </p:extLst>
          </p:nvPr>
        </p:nvGraphicFramePr>
        <p:xfrm>
          <a:off x="294273" y="1850736"/>
          <a:ext cx="10783338" cy="3116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6537">
                  <a:extLst>
                    <a:ext uri="{9D8B030D-6E8A-4147-A177-3AD203B41FA5}">
                      <a16:colId xmlns:a16="http://schemas.microsoft.com/office/drawing/2014/main" val="1644863965"/>
                    </a:ext>
                  </a:extLst>
                </a:gridCol>
                <a:gridCol w="5031486">
                  <a:extLst>
                    <a:ext uri="{9D8B030D-6E8A-4147-A177-3AD203B41FA5}">
                      <a16:colId xmlns:a16="http://schemas.microsoft.com/office/drawing/2014/main" val="188746991"/>
                    </a:ext>
                  </a:extLst>
                </a:gridCol>
                <a:gridCol w="1850545">
                  <a:extLst>
                    <a:ext uri="{9D8B030D-6E8A-4147-A177-3AD203B41FA5}">
                      <a16:colId xmlns:a16="http://schemas.microsoft.com/office/drawing/2014/main" val="3968042688"/>
                    </a:ext>
                  </a:extLst>
                </a:gridCol>
                <a:gridCol w="1664770">
                  <a:extLst>
                    <a:ext uri="{9D8B030D-6E8A-4147-A177-3AD203B41FA5}">
                      <a16:colId xmlns:a16="http://schemas.microsoft.com/office/drawing/2014/main" val="1222729353"/>
                    </a:ext>
                  </a:extLst>
                </a:gridCol>
              </a:tblGrid>
              <a:tr h="44524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Service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 dirty="0">
                          <a:effectLst/>
                          <a:latin typeface="Calibri"/>
                        </a:rPr>
                        <a:t>Metric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>
                          <a:effectLst/>
                          <a:latin typeface="Calibri"/>
                        </a:rPr>
                        <a:t>Target for 2024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effectLst/>
                          <a:latin typeface="Calibri"/>
                        </a:rPr>
                        <a:t>Week {No} - Actual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145103"/>
                  </a:ext>
                </a:extLst>
              </a:tr>
              <a:tr h="445249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0.02%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293315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99.98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40851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688768"/>
                  </a:ext>
                </a:extLst>
              </a:tr>
              <a:tr h="445248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0.03%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73176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10954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2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25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47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12" name="Content Placeholder 1"/>
          <p:cNvSpPr txBox="1"/>
          <p:nvPr/>
        </p:nvSpPr>
        <p:spPr>
          <a:xfrm>
            <a:off x="131324" y="377924"/>
            <a:ext cx="999431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000" dirty="0"/>
              <a:t>ONGOING INITIATIVE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7DBDAC-BF2F-CBC1-89B4-B913C1FB6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712801"/>
              </p:ext>
            </p:extLst>
          </p:nvPr>
        </p:nvGraphicFramePr>
        <p:xfrm>
          <a:off x="131323" y="1242410"/>
          <a:ext cx="10074220" cy="4668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4844">
                  <a:extLst>
                    <a:ext uri="{9D8B030D-6E8A-4147-A177-3AD203B41FA5}">
                      <a16:colId xmlns:a16="http://schemas.microsoft.com/office/drawing/2014/main" val="1637354491"/>
                    </a:ext>
                  </a:extLst>
                </a:gridCol>
                <a:gridCol w="1122550">
                  <a:extLst>
                    <a:ext uri="{9D8B030D-6E8A-4147-A177-3AD203B41FA5}">
                      <a16:colId xmlns:a16="http://schemas.microsoft.com/office/drawing/2014/main" val="203789047"/>
                    </a:ext>
                  </a:extLst>
                </a:gridCol>
                <a:gridCol w="4382814">
                  <a:extLst>
                    <a:ext uri="{9D8B030D-6E8A-4147-A177-3AD203B41FA5}">
                      <a16:colId xmlns:a16="http://schemas.microsoft.com/office/drawing/2014/main" val="350735066"/>
                    </a:ext>
                  </a:extLst>
                </a:gridCol>
                <a:gridCol w="840828">
                  <a:extLst>
                    <a:ext uri="{9D8B030D-6E8A-4147-A177-3AD203B41FA5}">
                      <a16:colId xmlns:a16="http://schemas.microsoft.com/office/drawing/2014/main" val="3223589992"/>
                    </a:ext>
                  </a:extLst>
                </a:gridCol>
                <a:gridCol w="1713184">
                  <a:extLst>
                    <a:ext uri="{9D8B030D-6E8A-4147-A177-3AD203B41FA5}">
                      <a16:colId xmlns:a16="http://schemas.microsoft.com/office/drawing/2014/main" val="1726089082"/>
                    </a:ext>
                  </a:extLst>
                </a:gridCol>
              </a:tblGrid>
              <a:tr h="21814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 </a:t>
                      </a: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lang="en-US" sz="14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Responsible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RAG Current Status %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Expected Closure Date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8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Thunes IMT Drc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Gatimu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Drc want to integrate with the existing thunes service. We have exposed further apis to the omni team: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KE" sz="1200" dirty="0"/>
                        <a:t>Get list of purpose of payments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KE" sz="1200" dirty="0"/>
                        <a:t>Get list of purpose of payments for Chinal corridor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KE" sz="1200" dirty="0"/>
                        <a:t>Get list of bank account types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KE" sz="1200" dirty="0"/>
                        <a:t>Get list of Id tpes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3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Azure Passwordless DB connection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Gatimu and Douglas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This concept assigns a </a:t>
                      </a:r>
                      <a:r>
                        <a:rPr lang="en-GB" sz="1200" b="1" dirty="0"/>
                        <a:t>managed identity </a:t>
                      </a:r>
                      <a:r>
                        <a:rPr lang="en-GB" sz="1200" dirty="0"/>
                        <a:t>to your application in Azure Active Directory (AD). This identity can securely access resources like Azure SQL Database without requiring traditional passwords.</a:t>
                      </a:r>
                    </a:p>
                    <a:p>
                      <a:endParaRPr lang="en-GB" sz="1200" dirty="0"/>
                    </a:p>
                    <a:p>
                      <a:r>
                        <a:rPr lang="en-KE" sz="1200" dirty="0"/>
                        <a:t>For enhanced security, Microsoft has advice we use passwordless connections to the azure dbs. </a:t>
                      </a:r>
                    </a:p>
                    <a:p>
                      <a:endParaRPr lang="en-KE" sz="1200" dirty="0"/>
                    </a:p>
                    <a:p>
                      <a:r>
                        <a:rPr lang="en-KE" sz="1200" dirty="0"/>
                        <a:t>My scope will only involve Java projects with JPA and Hibernate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26/02/2024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9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B2C DR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Gatimu and John Karanja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Dr readiness for B2C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05/02/2024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63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726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7965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 dirty="0"/>
              <a:t>PLANNED INITIATIVES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2703E4-E44E-1705-D4AC-AF2EB050D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552911"/>
              </p:ext>
            </p:extLst>
          </p:nvPr>
        </p:nvGraphicFramePr>
        <p:xfrm>
          <a:off x="131323" y="1242410"/>
          <a:ext cx="10074220" cy="55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4844">
                  <a:extLst>
                    <a:ext uri="{9D8B030D-6E8A-4147-A177-3AD203B41FA5}">
                      <a16:colId xmlns:a16="http://schemas.microsoft.com/office/drawing/2014/main" val="1637354491"/>
                    </a:ext>
                  </a:extLst>
                </a:gridCol>
                <a:gridCol w="1122550">
                  <a:extLst>
                    <a:ext uri="{9D8B030D-6E8A-4147-A177-3AD203B41FA5}">
                      <a16:colId xmlns:a16="http://schemas.microsoft.com/office/drawing/2014/main" val="203789047"/>
                    </a:ext>
                  </a:extLst>
                </a:gridCol>
                <a:gridCol w="4382814">
                  <a:extLst>
                    <a:ext uri="{9D8B030D-6E8A-4147-A177-3AD203B41FA5}">
                      <a16:colId xmlns:a16="http://schemas.microsoft.com/office/drawing/2014/main" val="350735066"/>
                    </a:ext>
                  </a:extLst>
                </a:gridCol>
                <a:gridCol w="840828">
                  <a:extLst>
                    <a:ext uri="{9D8B030D-6E8A-4147-A177-3AD203B41FA5}">
                      <a16:colId xmlns:a16="http://schemas.microsoft.com/office/drawing/2014/main" val="3223589992"/>
                    </a:ext>
                  </a:extLst>
                </a:gridCol>
                <a:gridCol w="1713184">
                  <a:extLst>
                    <a:ext uri="{9D8B030D-6E8A-4147-A177-3AD203B41FA5}">
                      <a16:colId xmlns:a16="http://schemas.microsoft.com/office/drawing/2014/main" val="1726089082"/>
                    </a:ext>
                  </a:extLst>
                </a:gridCol>
              </a:tblGrid>
              <a:tr h="21814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 </a:t>
                      </a: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lang="en-US" sz="14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Responsible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RAG Current Status %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Expected Closure Date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8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GAG Dr Readiness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Gatimu and John Karanja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GAG Services</a:t>
                      </a:r>
                    </a:p>
                    <a:p>
                      <a:r>
                        <a:rPr lang="en-GB" sz="1200" dirty="0"/>
                        <a:t>1. </a:t>
                      </a:r>
                      <a:r>
                        <a:rPr lang="en-GB" sz="1200" dirty="0" err="1"/>
                        <a:t>Paybill</a:t>
                      </a:r>
                      <a:r>
                        <a:rPr lang="en-GB" sz="1200" dirty="0"/>
                        <a:t> C2B -  KE and Subs: TELCOSPAYBILL-0.0.1-SNAPSHOT.jar</a:t>
                      </a:r>
                    </a:p>
                    <a:p>
                      <a:r>
                        <a:rPr lang="en-GB" sz="1200" dirty="0"/>
                        <a:t>2. B2C - Sub: b2c-sub-0.0.1-SNAPSHOT.jar</a:t>
                      </a:r>
                    </a:p>
                    <a:p>
                      <a:r>
                        <a:rPr lang="en-GB" sz="1200" dirty="0"/>
                        <a:t>3. </a:t>
                      </a:r>
                      <a:r>
                        <a:rPr lang="en-GB" sz="1200" dirty="0" err="1"/>
                        <a:t>Hakikisha</a:t>
                      </a:r>
                      <a:r>
                        <a:rPr lang="en-GB" sz="1200" dirty="0"/>
                        <a:t> - Namecheck: hakikisha-0.0.1-SNAPSHOT.jar</a:t>
                      </a:r>
                    </a:p>
                    <a:p>
                      <a:r>
                        <a:rPr lang="en-GB" sz="1200" dirty="0"/>
                        <a:t>4. Airtel Money UG: </a:t>
                      </a:r>
                      <a:r>
                        <a:rPr lang="en-GB" sz="1200" dirty="0" err="1"/>
                        <a:t>AirTelMoney.jar</a:t>
                      </a:r>
                      <a:endParaRPr lang="en-GB" sz="1200" dirty="0"/>
                    </a:p>
                    <a:p>
                      <a:r>
                        <a:rPr lang="en-GB" sz="1200" dirty="0"/>
                        <a:t>5. M-Kesho: EquityBank-FSI-V1.jar</a:t>
                      </a:r>
                    </a:p>
                    <a:p>
                      <a:r>
                        <a:rPr lang="en-GB" sz="1200" dirty="0"/>
                        <a:t>6. </a:t>
                      </a:r>
                      <a:r>
                        <a:rPr lang="en-GB" sz="1200" dirty="0" err="1"/>
                        <a:t>Atm</a:t>
                      </a:r>
                      <a:r>
                        <a:rPr lang="en-GB" sz="1200" dirty="0"/>
                        <a:t> Cardless Withdrawal: ATM-0.0.1-SNAPSHOT.jar</a:t>
                      </a:r>
                    </a:p>
                    <a:p>
                      <a:endParaRPr lang="en-GB" sz="1200" dirty="0"/>
                    </a:p>
                    <a:p>
                      <a:r>
                        <a:rPr lang="en-GB" sz="1200" dirty="0"/>
                        <a:t>Dr Already configured - build pipeline</a:t>
                      </a:r>
                    </a:p>
                    <a:p>
                      <a:r>
                        <a:rPr lang="en-GB" sz="1200" dirty="0"/>
                        <a:t>1. </a:t>
                      </a:r>
                      <a:r>
                        <a:rPr lang="en-GB" sz="1200" dirty="0" err="1"/>
                        <a:t>Pesalink</a:t>
                      </a:r>
                      <a:r>
                        <a:rPr lang="en-GB" sz="1200" dirty="0"/>
                        <a:t>: </a:t>
                      </a:r>
                    </a:p>
                    <a:p>
                      <a:r>
                        <a:rPr lang="en-GB" sz="1200" dirty="0"/>
                        <a:t>	a. </a:t>
                      </a:r>
                      <a:r>
                        <a:rPr lang="en-GB" sz="1200" dirty="0" err="1"/>
                        <a:t>Gatewary</a:t>
                      </a:r>
                      <a:r>
                        <a:rPr lang="en-GB" sz="1200" dirty="0"/>
                        <a:t>,</a:t>
                      </a:r>
                    </a:p>
                    <a:p>
                      <a:r>
                        <a:rPr lang="en-GB" sz="1200" dirty="0"/>
                        <a:t>	b. Registry</a:t>
                      </a:r>
                    </a:p>
                    <a:p>
                      <a:r>
                        <a:rPr lang="en-GB" sz="1200" dirty="0"/>
                        <a:t>	c. Business</a:t>
                      </a:r>
                    </a:p>
                    <a:p>
                      <a:r>
                        <a:rPr lang="en-GB" sz="1200" dirty="0"/>
                        <a:t>	d. Inbound</a:t>
                      </a:r>
                    </a:p>
                    <a:p>
                      <a:r>
                        <a:rPr lang="en-GB" sz="1200" dirty="0"/>
                        <a:t>	e. Outbound</a:t>
                      </a:r>
                    </a:p>
                    <a:p>
                      <a:r>
                        <a:rPr lang="en-GB" sz="1200" dirty="0"/>
                        <a:t>	f. </a:t>
                      </a:r>
                      <a:r>
                        <a:rPr lang="en-GB" sz="1200" dirty="0" err="1"/>
                        <a:t>Tranprocessor</a:t>
                      </a:r>
                      <a:endParaRPr lang="en-GB" sz="1200" dirty="0"/>
                    </a:p>
                    <a:p>
                      <a:endParaRPr lang="en-GB" sz="1200" dirty="0"/>
                    </a:p>
                    <a:p>
                      <a:r>
                        <a:rPr lang="en-GB" sz="1200" dirty="0"/>
                        <a:t>2. Airtime Top Up Service: </a:t>
                      </a:r>
                    </a:p>
                    <a:p>
                      <a:r>
                        <a:rPr lang="en-GB" sz="1200" dirty="0"/>
                        <a:t>3. </a:t>
                      </a:r>
                      <a:r>
                        <a:rPr lang="en-GB" sz="1200" dirty="0" err="1"/>
                        <a:t>Imt</a:t>
                      </a:r>
                      <a:r>
                        <a:rPr lang="en-GB" sz="1200" dirty="0"/>
                        <a:t> inbound</a:t>
                      </a:r>
                    </a:p>
                    <a:p>
                      <a:r>
                        <a:rPr lang="en-GB" sz="1200" dirty="0"/>
                        <a:t>4. </a:t>
                      </a:r>
                      <a:r>
                        <a:rPr lang="en-GB" sz="1200"/>
                        <a:t>Imtv2 outbound</a:t>
                      </a:r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28/03/2024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3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9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202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55869-43C8-F1CA-ED47-A0269F996EB4}"/>
              </a:ext>
            </a:extLst>
          </p:cNvPr>
          <p:cNvSpPr txBox="1"/>
          <p:nvPr/>
        </p:nvSpPr>
        <p:spPr>
          <a:xfrm>
            <a:off x="2343807" y="2659117"/>
            <a:ext cx="463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KE" dirty="0"/>
              <a:t>Finacle support team – James K. Irungu</a:t>
            </a:r>
          </a:p>
          <a:p>
            <a:pPr marL="342900" indent="-342900">
              <a:buAutoNum type="arabicPeriod"/>
            </a:pPr>
            <a:r>
              <a:rPr lang="en-KE" dirty="0"/>
              <a:t>Application support team – John Karanja</a:t>
            </a:r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10086</TotalTime>
  <Words>374</Words>
  <Application>Microsoft Macintosh PowerPoint</Application>
  <PresentationFormat>Widescreen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WEEK IN SUMMARY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348</cp:revision>
  <dcterms:modified xsi:type="dcterms:W3CDTF">2024-02-23T11:32:14Z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