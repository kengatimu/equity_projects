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3" r:id="rId2"/>
    <p:sldMasterId id="2147483662" r:id="rId3"/>
  </p:sldMasterIdLst>
  <p:notesMasterIdLst>
    <p:notesMasterId r:id="rId8"/>
  </p:notesMasterIdLst>
  <p:sldIdLst>
    <p:sldId id="256" r:id="rId4"/>
    <p:sldId id="289" r:id="rId5"/>
    <p:sldId id="263" r:id="rId6"/>
    <p:sldId id="261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15"/>
    <p:restoredTop sz="94761"/>
  </p:normalViewPr>
  <p:slideViewPr>
    <p:cSldViewPr snapToGrid="0">
      <p:cViewPr varScale="1">
        <p:scale>
          <a:sx n="135" d="100"/>
          <a:sy n="135" d="100"/>
        </p:scale>
        <p:origin x="1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1" name="Shape 2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82F1-2C1E-48F1-94EB-31012217B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8CD2-9DF6-4572-9A3B-DC55A7C40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82AEA-FF91-4D43-91AE-D34CABE7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5/17/24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FFF5-5556-4D87-9942-D5FA2FF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3832-A66E-4CAF-A085-B8CB24D3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4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8BCE-75B7-4678-B745-3CDFDD75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0EDD7-493F-4062-9B37-40A24BA9A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74C1B-145D-4FFC-A51A-E8D80584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5/17/24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64DD-06D8-4AA1-9449-368CAE32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CA60-CF88-41AC-BFDB-B48C450F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0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3DFB-48DF-49A0-AC37-CEC37CB1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EDE67-30C6-4860-9A0E-85BC525D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383B0-F8EC-41B0-B39C-669DC240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5/17/24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9AD7-193E-471E-BE57-C7D8FE58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DEB61-43A6-406F-BA06-AB961960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605C-16C1-4F6D-8F07-6B149B2D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6538-930A-48DE-9307-E770ACF7E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8CCC1-D70E-4E68-A935-F07940AAE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E90CE-E9E1-42D2-B7A0-1784C8A2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5/17/24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16741-C0C2-4C86-A862-8BA8983B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89014-F286-4138-957A-E9C5F3B6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0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DB8E-B8B1-4729-BF4D-399095DE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2869E-6222-41FA-BF7E-E44B00326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2B384-7A6F-4BA3-842F-41BD2D5D4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3CF18-C050-4D08-BDAE-E3556A9B5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D21F6-6E78-4726-BCE5-6F0B946C7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509C6-5CDE-44BD-A15C-C79F3133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5/17/24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3A370-861B-4F5E-A57B-31F1E036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86F9F-676E-4179-81A8-F89E687F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4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10945-965F-4AEE-9734-844047B1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939F4-9F30-48FD-A9D9-DEFC024A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5/17/24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51F35-D034-440A-B379-ECC97D10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9C929-A8A0-43FA-85E7-48210FA8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E5D9D-EE49-4D64-B28E-1A45F43A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5/17/24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9283A-592B-4156-B063-A486F12B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753B2-AED0-4B9B-9610-7CFF65D2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68A9-3E5B-4D90-BB16-34E7E866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4D1A4-5DC3-406B-B31A-871BE63FE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4E963-94BD-4802-A50A-901F31AF3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5D3B2-8233-45C6-AD3A-729BF59D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5/17/24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90784-9441-4B5B-AB2E-FA97E847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85902-E463-47E2-A2A2-FE47F6E0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4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6814-6294-4071-9133-F9134384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AFF54-9487-4A67-AEC4-9BFA40915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3471B-6A61-4EA7-866D-45C114029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9EC0D-1639-4B5E-922D-D381E37A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5/17/24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75E3D-713C-46B4-949E-0EA2D3D1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5854D-1E90-49B9-9308-4A5A04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7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3BDD-659A-4586-9DD9-C659F481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C3BEE-6252-4591-9779-1D3505208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6C781-E07C-46BE-BE4E-C67A898F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5/17/24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4BB1-F4FC-4711-B387-CC6F2275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C6A4C-0804-4FEA-BEA9-1ACDCEC6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1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69F28-3B94-4998-B4DA-B2B2B69F2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EB551-BB58-4F5F-8FFD-81EDDBC09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5B33B-D6FB-4EF0-A2B3-46F5F02B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5/17/24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E9112-88BD-49AD-A45C-F49E71F0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32DD5-D506-4819-B7A6-DE5DC258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5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F62DAB-76D4-144E-BB06-273ED6D8484C}"/>
              </a:ext>
            </a:extLst>
          </p:cNvPr>
          <p:cNvSpPr txBox="1">
            <a:spLocks/>
          </p:cNvSpPr>
          <p:nvPr userDrawn="1"/>
        </p:nvSpPr>
        <p:spPr>
          <a:xfrm>
            <a:off x="1209662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z="1000" smtClean="0"/>
              <a:pPr/>
              <a:t>‹#›</a:t>
            </a:fld>
            <a:endParaRPr lang="en-US" sz="10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205EE4-F6E7-8740-9AD4-8A4A5D25D8D4}"/>
              </a:ext>
            </a:extLst>
          </p:cNvPr>
          <p:cNvCxnSpPr/>
          <p:nvPr userDrawn="1"/>
        </p:nvCxnSpPr>
        <p:spPr>
          <a:xfrm>
            <a:off x="1693193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89">
            <a:extLst>
              <a:ext uri="{FF2B5EF4-FFF2-40B4-BE49-F238E27FC236}">
                <a16:creationId xmlns:a16="http://schemas.microsoft.com/office/drawing/2014/main" id="{77720A7A-3000-4E4F-BD6C-B3F0E736F8AE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latin typeface="DIN-Medium"/>
              <a:cs typeface="DIN-Med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ECB0D-07ED-2B4F-B566-3C8E76EEA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64A41C5A-A62B-FF4B-BE7A-448F4E67916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2996" y="256900"/>
            <a:ext cx="8708293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YOUR HEADLINE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E576E46-B6A7-DD4E-AA04-9F04A0E66B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3478" y="702519"/>
            <a:ext cx="8707328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YOUR LONGER SUBHEAD GOES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494D70-468E-7E48-925C-54F2FDEB53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40000" y="1915200"/>
            <a:ext cx="9309046" cy="41796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TO PLACE YOUR IMAGE</a:t>
            </a:r>
          </a:p>
        </p:txBody>
      </p:sp>
    </p:spTree>
    <p:extLst>
      <p:ext uri="{BB962C8B-B14F-4D97-AF65-F5344CB8AC3E}">
        <p14:creationId xmlns:p14="http://schemas.microsoft.com/office/powerpoint/2010/main" val="2779693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2195126" y="2397911"/>
            <a:ext cx="7801752" cy="489740"/>
          </a:xfrm>
          <a:prstGeom prst="rect">
            <a:avLst/>
          </a:prstGeom>
        </p:spPr>
        <p:txBody>
          <a:bodyPr anchor="b"/>
          <a:lstStyle>
            <a:lvl1pPr marR="5080" indent="129539">
              <a:lnSpc>
                <a:spcPct val="100000"/>
              </a:lnSpc>
              <a:tabLst>
                <a:tab pos="1409700" algn="l"/>
                <a:tab pos="1485900" algn="l"/>
                <a:tab pos="2311400" algn="l"/>
              </a:tabLst>
              <a:defRPr sz="32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</a:lstStyle>
          <a:p>
            <a:r>
              <a:t>Title Text</a:t>
            </a:r>
          </a:p>
        </p:txBody>
      </p:sp>
      <p:sp>
        <p:nvSpPr>
          <p:cNvPr id="1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43491" y="2909878"/>
            <a:ext cx="3933495" cy="356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1pPr>
            <a:lvl2pPr marL="0" indent="4572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2pPr>
            <a:lvl3pPr marL="0" indent="9144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3pPr>
            <a:lvl4pPr marL="0" indent="13716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4pPr>
            <a:lvl5pPr marL="0" indent="18288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5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25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214650"/>
            <a:ext cx="10515600" cy="49623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traight Connector 3"/>
          <p:cNvSpPr/>
          <p:nvPr/>
        </p:nvSpPr>
        <p:spPr>
          <a:xfrm>
            <a:off x="507999" y="609600"/>
            <a:ext cx="9612002" cy="0"/>
          </a:xfrm>
          <a:prstGeom prst="line">
            <a:avLst/>
          </a:prstGeom>
          <a:ln w="19050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0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51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1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62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6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77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object 3"/>
          <p:cNvSpPr/>
          <p:nvPr/>
        </p:nvSpPr>
        <p:spPr>
          <a:xfrm>
            <a:off x="2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object 4"/>
          <p:cNvSpPr/>
          <p:nvPr/>
        </p:nvSpPr>
        <p:spPr>
          <a:xfrm>
            <a:off x="2" y="5663977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object 7"/>
          <p:cNvSpPr/>
          <p:nvPr/>
        </p:nvSpPr>
        <p:spPr>
          <a:xfrm>
            <a:off x="9129662" y="5065774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60"/>
            <a:ext cx="1788574" cy="94865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Box 1"/>
          <p:cNvSpPr txBox="1"/>
          <p:nvPr/>
        </p:nvSpPr>
        <p:spPr>
          <a:xfrm>
            <a:off x="4615189" y="2539838"/>
            <a:ext cx="296162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2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93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CFB6CA7C-6734-EE43-B554-8309CE393AB8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5126" y="2397912"/>
            <a:ext cx="7801751" cy="489739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200" b="1" i="0" spc="0">
                <a:solidFill>
                  <a:schemeClr val="bg1"/>
                </a:solidFill>
                <a:latin typeface="DIN" pitchFamily="2" charset="77"/>
              </a:defRPr>
            </a:lvl1pPr>
          </a:lstStyle>
          <a:p>
            <a:r>
              <a:rPr lang="en-US"/>
              <a:t>YOUR HEADLINE WILL SIT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43492" y="2909879"/>
            <a:ext cx="3933494" cy="356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5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SUBHEAD GOES HERE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1AF54BB-897E-B34A-92A6-D5F5758BBCA7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E381B8E-77FC-D047-84DA-A9212F9AD49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68A366-A561-B648-B070-1EE7C47AD6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356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214651"/>
            <a:ext cx="10515600" cy="49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93F7E-7527-4F41-B38C-791501DC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41468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08000" y="609600"/>
            <a:ext cx="9612000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DC7C993-77E7-49AE-96B7-56ECCEC0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474419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0416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771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2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2" y="5663978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3" y="5065775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7" y="5446860"/>
            <a:ext cx="1788572" cy="9486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3B060-FC77-7A4B-9A52-EB4225DA3D0C}"/>
              </a:ext>
            </a:extLst>
          </p:cNvPr>
          <p:cNvSpPr txBox="1"/>
          <p:nvPr userDrawn="1"/>
        </p:nvSpPr>
        <p:spPr>
          <a:xfrm>
            <a:off x="4615190" y="2539839"/>
            <a:ext cx="2961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prstClr val="white"/>
                </a:solidFill>
                <a:latin typeface="DIN-Regular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5019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F1797-67C6-4982-AE03-071DB435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51D45D-B824-41F6-A177-91459DD050E1}" type="datetimeFigureOut">
              <a:rPr lang="en-US">
                <a:solidFill>
                  <a:prstClr val="black"/>
                </a:solidFill>
              </a:rPr>
              <a:pPr/>
              <a:t>5/17/24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FE418-DA22-4367-861F-43D6ADD5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AFF6C-9833-4A92-B45B-7D40636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356179-D1BE-4368-869B-267F2EB5153C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8442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1890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76BF5-C052-4273-8E54-C377808F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3BF6B-2472-4104-82AB-B059BCBFB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046B6-C29F-4DAB-8BA7-14092CB2F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0662A-058E-4DBF-9FC1-4B99E3F95CDE}" type="datetimeFigureOut">
              <a:rPr lang="en-US" smtClean="0"/>
              <a:t>5/17/24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62D3-B848-4FDD-81FC-DDA99276A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57B2-2C92-4D25-B4C6-A6D26FD57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8F781-884B-90B9-AC4B-9C58BC2CD2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24170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61" r:id="rId13"/>
    <p:sldLayoutId id="2147483679" r:id="rId14"/>
    <p:sldLayoutId id="2147483680" r:id="rId15"/>
    <p:sldLayoutId id="2147483681" r:id="rId16"/>
    <p:sldLayoutId id="2147483682" r:id="rId1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456C5C3-FCB8-F540-BAF4-07EB2FA690A9}"/>
              </a:ext>
            </a:extLst>
          </p:cNvPr>
          <p:cNvSpPr txBox="1">
            <a:spLocks/>
          </p:cNvSpPr>
          <p:nvPr userDrawn="1"/>
        </p:nvSpPr>
        <p:spPr>
          <a:xfrm>
            <a:off x="3223460" y="1409386"/>
            <a:ext cx="5745422" cy="1079913"/>
          </a:xfrm>
          <a:prstGeom prst="rect">
            <a:avLst/>
          </a:prstGeom>
        </p:spPr>
        <p:txBody>
          <a:bodyPr anchor="b"/>
          <a:lstStyle>
            <a:lvl1pPr marL="129539" marR="5080" indent="0" algn="ctr" defTabSz="914400" rtl="0" eaLnBrk="1" fontAlgn="auto" latinLnBrk="0" hangingPunct="1">
              <a:lnSpc>
                <a:spcPct val="9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1418590" algn="l"/>
                <a:tab pos="1493520" algn="l"/>
                <a:tab pos="2312035" algn="l"/>
              </a:tabLst>
              <a:defRPr sz="6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YOUR		</a:t>
            </a:r>
            <a:r>
              <a:rPr lang="en-US" sz="3200" b="1" kern="0" spc="420">
                <a:solidFill>
                  <a:sysClr val="window" lastClr="FFFFFF"/>
                </a:solidFill>
                <a:latin typeface="DIN"/>
              </a:rPr>
              <a:t>HEADLINE </a:t>
            </a:r>
          </a:p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WILL </a:t>
            </a:r>
            <a:r>
              <a:rPr lang="en-US" sz="3200" b="1" kern="0" spc="320">
                <a:solidFill>
                  <a:sysClr val="window" lastClr="FFFFFF"/>
                </a:solidFill>
                <a:latin typeface="DIN"/>
              </a:rPr>
              <a:t>SIT </a:t>
            </a: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HERE</a:t>
            </a:r>
            <a:r>
              <a:rPr lang="en-US" sz="3200" b="1" kern="0" spc="-220">
                <a:solidFill>
                  <a:sysClr val="window" lastClr="FFFFFF"/>
                </a:solidFill>
                <a:latin typeface="DIN"/>
              </a:rPr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6FCEA-CB09-D24A-816E-9A5DE85C9CAF}"/>
              </a:ext>
            </a:extLst>
          </p:cNvPr>
          <p:cNvSpPr txBox="1">
            <a:spLocks/>
          </p:cNvSpPr>
          <p:nvPr userDrawn="1"/>
        </p:nvSpPr>
        <p:spPr>
          <a:xfrm>
            <a:off x="145134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bject 89">
            <a:extLst>
              <a:ext uri="{FF2B5EF4-FFF2-40B4-BE49-F238E27FC236}">
                <a16:creationId xmlns:a16="http://schemas.microsoft.com/office/drawing/2014/main" id="{F3D26A24-F5A2-A249-A327-1332C3D106F6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solidFill>
                <a:prstClr val="black"/>
              </a:solidFill>
              <a:latin typeface="DIN-Medium"/>
              <a:cs typeface="DIN-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F07B4B-D725-2F48-873A-A038DC9C22E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46B06E-D3CB-DB41-A3E0-0036A36A8518}"/>
              </a:ext>
            </a:extLst>
          </p:cNvPr>
          <p:cNvCxnSpPr/>
          <p:nvPr userDrawn="1"/>
        </p:nvCxnSpPr>
        <p:spPr>
          <a:xfrm>
            <a:off x="628665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EEC24E-505E-831C-D618-3B3383CEC6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905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87" r:id="rId8"/>
  </p:sldLayoutIdLst>
  <p:txStyles>
    <p:titleStyle>
      <a:lvl1pPr marL="129539" marR="5080" indent="0" algn="ctr" defTabSz="914400" rtl="0" eaLnBrk="1" fontAlgn="auto" latinLnBrk="0" hangingPunct="1">
        <a:lnSpc>
          <a:spcPct val="90000"/>
        </a:lnSpc>
        <a:spcBef>
          <a:spcPts val="95"/>
        </a:spcBef>
        <a:spcAft>
          <a:spcPts val="0"/>
        </a:spcAft>
        <a:buClrTx/>
        <a:buSzTx/>
        <a:buFontTx/>
        <a:buNone/>
        <a:tabLst>
          <a:tab pos="1418590" algn="l"/>
          <a:tab pos="1493520" algn="l"/>
          <a:tab pos="2312035" algn="l"/>
        </a:tabLst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 dirty="0"/>
              <a:t>SRE</a:t>
            </a:r>
            <a:r>
              <a:rPr sz="2750" dirty="0"/>
              <a:t> –</a:t>
            </a:r>
            <a:r>
              <a:rPr lang="en-US" sz="2750" dirty="0"/>
              <a:t> </a:t>
            </a:r>
            <a:r>
              <a:rPr sz="2750" dirty="0"/>
              <a:t>Weekly </a:t>
            </a:r>
            <a:r>
              <a:rPr lang="en-US" sz="2750" dirty="0"/>
              <a:t>Meeting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A2507E-C5A8-ACB2-9EE2-ECA0DB297DF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sz="2000"/>
              <a:t>PLANNED INITIATIVES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0020B0-4132-A2BA-7197-3448358DC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790417"/>
              </p:ext>
            </p:extLst>
          </p:nvPr>
        </p:nvGraphicFramePr>
        <p:xfrm>
          <a:off x="63500" y="1270000"/>
          <a:ext cx="10164582" cy="2159000"/>
        </p:xfrm>
        <a:graphic>
          <a:graphicData uri="http://schemas.openxmlformats.org/drawingml/2006/table">
            <a:tbl>
              <a:tblPr/>
              <a:tblGrid>
                <a:gridCol w="490332">
                  <a:extLst>
                    <a:ext uri="{9D8B030D-6E8A-4147-A177-3AD203B41FA5}">
                      <a16:colId xmlns:a16="http://schemas.microsoft.com/office/drawing/2014/main" val="668781156"/>
                    </a:ext>
                  </a:extLst>
                </a:gridCol>
                <a:gridCol w="2726246">
                  <a:extLst>
                    <a:ext uri="{9D8B030D-6E8A-4147-A177-3AD203B41FA5}">
                      <a16:colId xmlns:a16="http://schemas.microsoft.com/office/drawing/2014/main" val="3660832165"/>
                    </a:ext>
                  </a:extLst>
                </a:gridCol>
                <a:gridCol w="2809602">
                  <a:extLst>
                    <a:ext uri="{9D8B030D-6E8A-4147-A177-3AD203B41FA5}">
                      <a16:colId xmlns:a16="http://schemas.microsoft.com/office/drawing/2014/main" val="378308006"/>
                    </a:ext>
                  </a:extLst>
                </a:gridCol>
                <a:gridCol w="1353316">
                  <a:extLst>
                    <a:ext uri="{9D8B030D-6E8A-4147-A177-3AD203B41FA5}">
                      <a16:colId xmlns:a16="http://schemas.microsoft.com/office/drawing/2014/main" val="1868157077"/>
                    </a:ext>
                  </a:extLst>
                </a:gridCol>
                <a:gridCol w="843372">
                  <a:extLst>
                    <a:ext uri="{9D8B030D-6E8A-4147-A177-3AD203B41FA5}">
                      <a16:colId xmlns:a16="http://schemas.microsoft.com/office/drawing/2014/main" val="1120008966"/>
                    </a:ext>
                  </a:extLst>
                </a:gridCol>
                <a:gridCol w="1941714">
                  <a:extLst>
                    <a:ext uri="{9D8B030D-6E8A-4147-A177-3AD203B41FA5}">
                      <a16:colId xmlns:a16="http://schemas.microsoft.com/office/drawing/2014/main" val="77503838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00000"/>
                          </a:highlight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00000"/>
                          </a:highlight>
                          <a:latin typeface="Calibri" panose="020F0502020204030204" pitchFamily="34" charset="0"/>
                        </a:rPr>
                        <a:t>Initiative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00000"/>
                          </a:highlight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00000"/>
                          </a:highlight>
                          <a:latin typeface="Calibri" panose="020F0502020204030204" pitchFamily="34" charset="0"/>
                        </a:rPr>
                        <a:t>Responsible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00000"/>
                          </a:highlight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00000"/>
                          </a:highlight>
                          <a:latin typeface="Calibri" panose="020F0502020204030204" pitchFamily="34" charset="0"/>
                        </a:rPr>
                        <a:t> Expected Closure Date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864899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algn="r" fontAlgn="t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and DC CI/CD: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i. B2C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ii. Sub-B2C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iii. Paybill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iv. Pesalink Micro services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planned DR activity: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i. Key vault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ii. Appliction Deployment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iii. Testing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iv. Roolback plan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 and Millicent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30/06/2024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422009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r" fontAlgn="t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Dockerization of dev environment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Dockerize application and db to eliminate use of cloud based DBs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30/06/2024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33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42801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43B5EFB-089E-4861-8A94-9988E880611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76745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DIN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DIN"/>
                <a:ea typeface="+mj-ea"/>
                <a:cs typeface="+mj-cs"/>
              </a:rPr>
              <a:t>Support Required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FC3040-7DA1-4187-E656-176C5C961166}"/>
              </a:ext>
            </a:extLst>
          </p:cNvPr>
          <p:cNvSpPr txBox="1"/>
          <p:nvPr/>
        </p:nvSpPr>
        <p:spPr>
          <a:xfrm>
            <a:off x="2290354" y="2804160"/>
            <a:ext cx="2999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Cloud Infra and DevOps team 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457596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729249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f886ab1d-51ff-47ab-9e3e-b20b22f1c1b7}" enabled="1" method="Privileged" siteId="{2d65fea0-8478-44f2-ac0f-1a58b1382aa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20294</TotalTime>
  <Words>100</Words>
  <Application>Microsoft Macintosh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Arial</vt:lpstr>
      <vt:lpstr>Calibri</vt:lpstr>
      <vt:lpstr>Calibri Light</vt:lpstr>
      <vt:lpstr>Candara</vt:lpstr>
      <vt:lpstr>DIN</vt:lpstr>
      <vt:lpstr>DIN Medium</vt:lpstr>
      <vt:lpstr>DIN-Medium</vt:lpstr>
      <vt:lpstr>DIN-Regular</vt:lpstr>
      <vt:lpstr>Office Theme</vt:lpstr>
      <vt:lpstr>Office Theme</vt:lpstr>
      <vt:lpstr>2_Office Theme</vt:lpstr>
      <vt:lpstr>SRE – Weekly Meeting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– L1 Weekly Update</dc:title>
  <cp:lastModifiedBy>Kennedy Gatimu</cp:lastModifiedBy>
  <cp:revision>369</cp:revision>
  <dcterms:modified xsi:type="dcterms:W3CDTF">2024-05-17T11:17:49Z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For Internal Use Only</vt:lpwstr>
  </property>
</Properties>
</file>